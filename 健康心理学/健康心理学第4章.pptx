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469" r:id="rId2"/>
    <p:sldId id="470" r:id="rId3"/>
    <p:sldId id="356" r:id="rId4"/>
    <p:sldId id="357" r:id="rId5"/>
    <p:sldId id="358" r:id="rId6"/>
    <p:sldId id="359" r:id="rId7"/>
    <p:sldId id="360" r:id="rId8"/>
    <p:sldId id="361" r:id="rId9"/>
    <p:sldId id="362" r:id="rId10"/>
    <p:sldId id="363" r:id="rId11"/>
    <p:sldId id="364" r:id="rId12"/>
    <p:sldId id="365" r:id="rId13"/>
    <p:sldId id="366"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386" r:id="rId34"/>
    <p:sldId id="387" r:id="rId35"/>
    <p:sldId id="388" r:id="rId36"/>
    <p:sldId id="391" r:id="rId37"/>
    <p:sldId id="392" r:id="rId38"/>
    <p:sldId id="393" r:id="rId39"/>
    <p:sldId id="394"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774" y="66"/>
      </p:cViewPr>
      <p:guideLst>
        <p:guide orient="horz" pos="2160"/>
        <p:guide pos="2880"/>
      </p:guideLst>
    </p:cSldViewPr>
  </p:slideViewPr>
  <p:notesTextViewPr>
    <p:cViewPr>
      <p:scale>
        <a:sx n="1" d="1"/>
        <a:sy n="1" d="1"/>
      </p:scale>
      <p:origin x="0" y="0"/>
    </p:cViewPr>
  </p:notesTextViewPr>
  <p:sorterViewPr>
    <p:cViewPr>
      <p:scale>
        <a:sx n="100" d="100"/>
        <a:sy n="100" d="100"/>
      </p:scale>
      <p:origin x="0" y="-27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CN" altLang="en-US"/>
              <a:t>单击此处编辑母版标题样式</a:t>
            </a:r>
            <a:endParaRPr kumimoji="0" lang="en-US"/>
          </a:p>
        </p:txBody>
      </p:sp>
      <p:sp>
        <p:nvSpPr>
          <p:cNvPr id="25" name="副标题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31" name="日期占位符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B7069E51-F408-450C-B6F3-5472A5CF7A3D}" type="datetimeFigureOut">
              <a:rPr lang="zh-CN" altLang="en-US" smtClean="0"/>
              <a:pPr/>
              <a:t>2020/4/14</a:t>
            </a:fld>
            <a:endParaRPr lang="zh-CN" altLang="en-US"/>
          </a:p>
        </p:txBody>
      </p:sp>
      <p:sp>
        <p:nvSpPr>
          <p:cNvPr id="18" name="页脚占位符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zh-CN" altLang="en-US"/>
          </a:p>
        </p:txBody>
      </p:sp>
      <p:sp>
        <p:nvSpPr>
          <p:cNvPr id="29" name="灯片编号占位符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B7069E51-F408-450C-B6F3-5472A5CF7A3D}" type="datetimeFigureOut">
              <a:rPr lang="zh-CN" altLang="en-US" smtClean="0"/>
              <a:pPr/>
              <a:t>2020/4/14</a:t>
            </a:fld>
            <a:endParaRPr lang="zh-CN" altLang="en-US"/>
          </a:p>
        </p:txBody>
      </p:sp>
      <p:sp>
        <p:nvSpPr>
          <p:cNvPr id="5" name="页脚占位符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zh-CN" altLang="en-US"/>
          </a:p>
        </p:txBody>
      </p:sp>
      <p:sp>
        <p:nvSpPr>
          <p:cNvPr id="6" name="灯片编号占位符 5"/>
          <p:cNvSpPr>
            <a:spLocks noGrp="1"/>
          </p:cNvSpPr>
          <p:nvPr>
            <p:ph type="sldNum" sz="quarter" idx="12"/>
          </p:nvPr>
        </p:nvSpPr>
        <p:spPr>
          <a:xfrm>
            <a:off x="6733952" y="6555112"/>
            <a:ext cx="588336" cy="228600"/>
          </a:xfrm>
        </p:spPr>
        <p:txBody>
          <a:bodyPr/>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tx2"/>
                </a:solidFill>
              </a:defRPr>
            </a:lvl1pPr>
            <a:extLst/>
          </a:lstStyle>
          <a:p>
            <a:fld id="{B7069E51-F408-450C-B6F3-5472A5CF7A3D}" type="datetimeFigureOut">
              <a:rPr lang="zh-CN" altLang="en-US" smtClean="0"/>
              <a:pPr/>
              <a:t>2020/4/14</a:t>
            </a:fld>
            <a:endParaRPr lang="zh-CN" altLang="en-US"/>
          </a:p>
        </p:txBody>
      </p:sp>
      <p:sp>
        <p:nvSpPr>
          <p:cNvPr id="3" name="页脚占位符 2"/>
          <p:cNvSpPr>
            <a:spLocks noGrp="1"/>
          </p:cNvSpPr>
          <p:nvPr>
            <p:ph type="ftr" sz="quarter" idx="11"/>
          </p:nvPr>
        </p:nvSpPr>
        <p:spPr/>
        <p:txBody>
          <a:bodyPr/>
          <a:lstStyle>
            <a:lvl1pPr>
              <a:defRPr>
                <a:solidFill>
                  <a:schemeClr val="tx2"/>
                </a:solidFill>
              </a:defRPr>
            </a:lvl1pPr>
            <a:extLst/>
          </a:lstStyle>
          <a:p>
            <a:endParaRPr lang="zh-CN" altLang="en-US"/>
          </a:p>
        </p:txBody>
      </p:sp>
      <p:sp>
        <p:nvSpPr>
          <p:cNvPr id="4" name="灯片编号占位符 3"/>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CN" altLang="en-US"/>
              <a:t>单击此处编辑母版标题样式</a:t>
            </a:r>
            <a:endParaRPr kumimoji="0" lang="en-US" dirty="0"/>
          </a:p>
        </p:txBody>
      </p:sp>
      <p:sp>
        <p:nvSpPr>
          <p:cNvPr id="4" name="文本占位符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CN" altLang="en-US"/>
              <a:t>单击此处编辑母版文本样式</a:t>
            </a:r>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
        <p:nvSpPr>
          <p:cNvPr id="10" name="图片占位符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CN" altLang="en-US"/>
              <a:t>单击图标添加图片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74955"/>
            <a:ext cx="1524000" cy="5851525"/>
          </a:xfrm>
        </p:spPr>
        <p:txBody>
          <a:bodyPr vert="eaVert" ancho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2"/>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4242816" y="6557946"/>
            <a:ext cx="2002464" cy="226902"/>
          </a:xfrm>
        </p:spPr>
        <p:txBody>
          <a:bodyPr/>
          <a:lstStyle/>
          <a:p>
            <a:fld id="{B7069E51-F408-450C-B6F3-5472A5CF7A3D}" type="datetimeFigureOut">
              <a:rPr lang="zh-CN" altLang="en-US" smtClean="0"/>
              <a:pPr/>
              <a:t>2020/4/14</a:t>
            </a:fld>
            <a:endParaRPr lang="zh-CN" altLang="en-US"/>
          </a:p>
        </p:txBody>
      </p:sp>
      <p:sp>
        <p:nvSpPr>
          <p:cNvPr id="5" name="页脚占位符 4"/>
          <p:cNvSpPr>
            <a:spLocks noGrp="1"/>
          </p:cNvSpPr>
          <p:nvPr>
            <p:ph type="ftr" sz="quarter" idx="11"/>
          </p:nvPr>
        </p:nvSpPr>
        <p:spPr>
          <a:xfrm>
            <a:off x="457200" y="6556248"/>
            <a:ext cx="3657600" cy="228600"/>
          </a:xfrm>
        </p:spPr>
        <p:txBody>
          <a:bodyPr/>
          <a:lstStyle/>
          <a:p>
            <a:endParaRPr lang="zh-CN" altLang="en-US"/>
          </a:p>
        </p:txBody>
      </p:sp>
      <p:sp>
        <p:nvSpPr>
          <p:cNvPr id="6" name="灯片编号占位符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FF56B523-B71F-448E-8ABC-23F7A2FEB16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标题占位符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zh-CN" altLang="en-US"/>
              <a:t>单击此处编辑母版标题样式</a:t>
            </a:r>
            <a:endParaRPr kumimoji="0" lang="en-US"/>
          </a:p>
        </p:txBody>
      </p:sp>
      <p:sp>
        <p:nvSpPr>
          <p:cNvPr id="31" name="文本占位符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7" name="日期占位符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B7069E51-F408-450C-B6F3-5472A5CF7A3D}" type="datetimeFigureOut">
              <a:rPr lang="zh-CN" altLang="en-US" smtClean="0"/>
              <a:pPr/>
              <a:t>2020/4/14</a:t>
            </a:fld>
            <a:endParaRPr lang="zh-CN" altLang="en-US"/>
          </a:p>
        </p:txBody>
      </p:sp>
      <p:sp>
        <p:nvSpPr>
          <p:cNvPr id="4" name="页脚占位符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zh-CN" altLang="en-US"/>
          </a:p>
        </p:txBody>
      </p:sp>
      <p:sp>
        <p:nvSpPr>
          <p:cNvPr id="16" name="灯片编号占位符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F56B523-B71F-448E-8ABC-23F7A2FEB16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F8C0B-E0B9-4587-B0A1-BDAB76DC8F86}"/>
              </a:ext>
            </a:extLst>
          </p:cNvPr>
          <p:cNvSpPr>
            <a:spLocks noGrp="1"/>
          </p:cNvSpPr>
          <p:nvPr>
            <p:ph type="ctrTitle"/>
          </p:nvPr>
        </p:nvSpPr>
        <p:spPr/>
        <p:txBody>
          <a:bodyPr/>
          <a:lstStyle/>
          <a:p>
            <a:r>
              <a:rPr lang="zh-CN" altLang="en-US" dirty="0"/>
              <a:t>第</a:t>
            </a:r>
            <a:r>
              <a:rPr lang="en-US" altLang="zh-CN" dirty="0"/>
              <a:t>4</a:t>
            </a:r>
            <a:r>
              <a:rPr lang="zh-CN" altLang="en-US" dirty="0"/>
              <a:t>章  你自卑吗</a:t>
            </a:r>
          </a:p>
        </p:txBody>
      </p:sp>
      <p:sp>
        <p:nvSpPr>
          <p:cNvPr id="3" name="副标题 2">
            <a:extLst>
              <a:ext uri="{FF2B5EF4-FFF2-40B4-BE49-F238E27FC236}">
                <a16:creationId xmlns:a16="http://schemas.microsoft.com/office/drawing/2014/main" id="{9C1BC05D-1235-4FD0-9A82-AE5CC1507F98}"/>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2375010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24F7-7FF1-4B36-B4BA-959D97786AE0}"/>
              </a:ext>
            </a:extLst>
          </p:cNvPr>
          <p:cNvSpPr>
            <a:spLocks noGrp="1"/>
          </p:cNvSpPr>
          <p:nvPr>
            <p:ph type="title"/>
          </p:nvPr>
        </p:nvSpPr>
        <p:spPr/>
        <p:txBody>
          <a:bodyPr/>
          <a:lstStyle/>
          <a:p>
            <a:r>
              <a:rPr lang="zh-CN" altLang="en-US" dirty="0"/>
              <a:t>第</a:t>
            </a:r>
            <a:r>
              <a:rPr lang="en-US" altLang="zh-CN" dirty="0"/>
              <a:t>4</a:t>
            </a:r>
            <a:r>
              <a:rPr lang="zh-CN" altLang="en-US" dirty="0"/>
              <a:t>章  你自卑吗</a:t>
            </a:r>
          </a:p>
        </p:txBody>
      </p:sp>
      <p:sp>
        <p:nvSpPr>
          <p:cNvPr id="3" name="内容占位符 2">
            <a:extLst>
              <a:ext uri="{FF2B5EF4-FFF2-40B4-BE49-F238E27FC236}">
                <a16:creationId xmlns:a16="http://schemas.microsoft.com/office/drawing/2014/main" id="{63801CE1-013F-418F-BA2A-688EC58CB278}"/>
              </a:ext>
            </a:extLst>
          </p:cNvPr>
          <p:cNvSpPr>
            <a:spLocks noGrp="1"/>
          </p:cNvSpPr>
          <p:nvPr>
            <p:ph idx="1"/>
          </p:nvPr>
        </p:nvSpPr>
        <p:spPr/>
        <p:txBody>
          <a:bodyPr>
            <a:normAutofit/>
          </a:bodyPr>
          <a:lstStyle/>
          <a:p>
            <a:endParaRPr lang="en-US" altLang="zh-CN" sz="3200" dirty="0"/>
          </a:p>
          <a:p>
            <a:r>
              <a:rPr lang="en-US" altLang="zh-CN" sz="3200" dirty="0"/>
              <a:t>01 </a:t>
            </a:r>
            <a:r>
              <a:rPr lang="zh-CN" altLang="en-US" sz="3200" dirty="0"/>
              <a:t>自卑测试</a:t>
            </a:r>
            <a:endParaRPr lang="en-US" altLang="zh-CN" sz="3200" dirty="0"/>
          </a:p>
          <a:p>
            <a:r>
              <a:rPr lang="en-US" altLang="zh-CN" sz="3200" dirty="0"/>
              <a:t>02 </a:t>
            </a:r>
            <a:r>
              <a:rPr lang="zh-CN" altLang="en-US" sz="3200" dirty="0"/>
              <a:t>自卑的本质与内涵</a:t>
            </a:r>
            <a:endParaRPr lang="en-US" altLang="zh-CN" sz="3200" dirty="0"/>
          </a:p>
          <a:p>
            <a:r>
              <a:rPr lang="en-US" altLang="zh-CN" sz="3200" dirty="0"/>
              <a:t>03 </a:t>
            </a:r>
            <a:r>
              <a:rPr lang="zh-CN" altLang="en-US" sz="3200" dirty="0"/>
              <a:t>自卑产生的原因</a:t>
            </a:r>
            <a:endParaRPr lang="en-US" altLang="zh-CN" sz="3200" dirty="0"/>
          </a:p>
          <a:p>
            <a:r>
              <a:rPr lang="en-US" altLang="zh-CN" sz="3200" dirty="0"/>
              <a:t>04 </a:t>
            </a:r>
            <a:r>
              <a:rPr lang="zh-CN" altLang="en-US" sz="3200" dirty="0"/>
              <a:t>自卑的心理特征与行为表现</a:t>
            </a:r>
            <a:endParaRPr lang="en-US" altLang="zh-CN" sz="3200" dirty="0"/>
          </a:p>
          <a:p>
            <a:r>
              <a:rPr lang="en-US" altLang="zh-CN" sz="3200" dirty="0"/>
              <a:t>05 </a:t>
            </a:r>
            <a:r>
              <a:rPr lang="zh-CN" altLang="en-US" sz="3200" dirty="0"/>
              <a:t>战胜自卑的方法</a:t>
            </a:r>
          </a:p>
        </p:txBody>
      </p:sp>
    </p:spTree>
    <p:extLst>
      <p:ext uri="{BB962C8B-B14F-4D97-AF65-F5344CB8AC3E}">
        <p14:creationId xmlns:p14="http://schemas.microsoft.com/office/powerpoint/2010/main" val="2819960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ea typeface="华文隶书" pitchFamily="2" charset="-122"/>
              </a:rPr>
              <a:t>01</a:t>
            </a:r>
            <a:r>
              <a:rPr lang="zh-CN" altLang="en-US" dirty="0">
                <a:ea typeface="华文隶书" pitchFamily="2" charset="-122"/>
              </a:rPr>
              <a:t>自卑测试</a:t>
            </a:r>
            <a:endParaRPr lang="zh-CN" altLang="en-US" dirty="0"/>
          </a:p>
        </p:txBody>
      </p:sp>
      <p:sp>
        <p:nvSpPr>
          <p:cNvPr id="2" name="内容占位符 1"/>
          <p:cNvSpPr>
            <a:spLocks noGrp="1"/>
          </p:cNvSpPr>
          <p:nvPr>
            <p:ph idx="1"/>
          </p:nvPr>
        </p:nvSpPr>
        <p:spPr/>
        <p:txBody>
          <a:bodyPr/>
          <a:lstStyle/>
          <a:p>
            <a:r>
              <a:rPr lang="en-US" altLang="zh-CN" dirty="0"/>
              <a:t>1. </a:t>
            </a:r>
            <a:r>
              <a:rPr lang="zh-CN" altLang="en-US" dirty="0"/>
              <a:t>遇到难事</a:t>
            </a:r>
            <a:r>
              <a:rPr lang="en-US" altLang="zh-CN" dirty="0"/>
              <a:t>,</a:t>
            </a:r>
            <a:r>
              <a:rPr lang="zh-CN" altLang="en-US" dirty="0"/>
              <a:t>你想寻求帮助</a:t>
            </a:r>
            <a:r>
              <a:rPr lang="en-US" altLang="zh-CN" dirty="0"/>
              <a:t>,</a:t>
            </a:r>
            <a:r>
              <a:rPr lang="zh-CN" altLang="en-US" dirty="0"/>
              <a:t>但又不愿开口求人</a:t>
            </a:r>
            <a:r>
              <a:rPr lang="en-US" altLang="zh-CN" dirty="0"/>
              <a:t>,</a:t>
            </a:r>
            <a:r>
              <a:rPr lang="zh-CN" altLang="en-US" dirty="0"/>
              <a:t>怕被别人取笑或轻视</a:t>
            </a:r>
            <a:r>
              <a:rPr lang="en-US" altLang="zh-CN" dirty="0"/>
              <a:t>.   </a:t>
            </a:r>
            <a:r>
              <a:rPr lang="zh-CN" altLang="en-US" dirty="0"/>
              <a:t>是</a:t>
            </a:r>
            <a:r>
              <a:rPr lang="en-US" altLang="zh-CN" dirty="0"/>
              <a:t>( )</a:t>
            </a:r>
            <a:r>
              <a:rPr lang="zh-CN" altLang="en-US" dirty="0"/>
              <a:t>否</a:t>
            </a:r>
            <a:r>
              <a:rPr lang="en-US" altLang="zh-CN" dirty="0"/>
              <a:t>( )</a:t>
            </a:r>
            <a:br>
              <a:rPr lang="en-US" altLang="zh-CN" dirty="0"/>
            </a:br>
            <a:r>
              <a:rPr lang="en-US" altLang="zh-CN" dirty="0"/>
              <a:t>2. </a:t>
            </a:r>
            <a:r>
              <a:rPr lang="zh-CN" altLang="en-US" dirty="0"/>
              <a:t>当别人遇到麻烦时</a:t>
            </a:r>
            <a:r>
              <a:rPr lang="en-US" altLang="zh-CN" dirty="0"/>
              <a:t>,</a:t>
            </a:r>
            <a:r>
              <a:rPr lang="zh-CN" altLang="en-US" dirty="0"/>
              <a:t>你常会有幸灾乐祸的感觉</a:t>
            </a:r>
            <a:r>
              <a:rPr lang="en-US" altLang="zh-CN" dirty="0"/>
              <a:t>. </a:t>
            </a:r>
            <a:r>
              <a:rPr lang="zh-CN" altLang="en-US" dirty="0"/>
              <a:t>是</a:t>
            </a:r>
            <a:r>
              <a:rPr lang="en-US" altLang="zh-CN" dirty="0"/>
              <a:t>( )</a:t>
            </a:r>
            <a:r>
              <a:rPr lang="zh-CN" altLang="en-US" dirty="0"/>
              <a:t>否</a:t>
            </a:r>
            <a:r>
              <a:rPr lang="en-US" altLang="zh-CN" dirty="0"/>
              <a:t>( )</a:t>
            </a:r>
            <a:br>
              <a:rPr lang="en-US" altLang="zh-CN" dirty="0"/>
            </a:br>
            <a:r>
              <a:rPr lang="en-US" altLang="zh-CN" dirty="0"/>
              <a:t>3. </a:t>
            </a:r>
            <a:r>
              <a:rPr lang="zh-CN" altLang="en-US" dirty="0"/>
              <a:t>你爱向人自夸自己的能力和</a:t>
            </a:r>
            <a:r>
              <a:rPr lang="en-US" altLang="zh-CN" dirty="0"/>
              <a:t>"</a:t>
            </a:r>
            <a:r>
              <a:rPr lang="zh-CN" altLang="en-US" dirty="0"/>
              <a:t>光荣历史</a:t>
            </a:r>
            <a:r>
              <a:rPr lang="en-US" altLang="zh-CN" dirty="0"/>
              <a:t>". </a:t>
            </a:r>
            <a:r>
              <a:rPr lang="zh-CN" altLang="en-US" dirty="0"/>
              <a:t>是</a:t>
            </a:r>
            <a:r>
              <a:rPr lang="en-US" altLang="zh-CN" dirty="0"/>
              <a:t>( )</a:t>
            </a:r>
            <a:r>
              <a:rPr lang="zh-CN" altLang="en-US" dirty="0"/>
              <a:t>否</a:t>
            </a:r>
            <a:r>
              <a:rPr lang="en-US" altLang="zh-CN" dirty="0"/>
              <a:t>( )</a:t>
            </a:r>
            <a:br>
              <a:rPr lang="en-US" altLang="zh-CN" dirty="0"/>
            </a:br>
            <a:r>
              <a:rPr lang="en-US" altLang="zh-CN" dirty="0"/>
              <a:t>4. </a:t>
            </a:r>
            <a:r>
              <a:rPr lang="zh-CN" altLang="en-US" dirty="0"/>
              <a:t>你认为学习成绩</a:t>
            </a:r>
            <a:r>
              <a:rPr lang="en-US" altLang="zh-CN" dirty="0"/>
              <a:t>,</a:t>
            </a:r>
            <a:r>
              <a:rPr lang="zh-CN" altLang="en-US" dirty="0"/>
              <a:t>工作成绩是很重要的</a:t>
            </a:r>
            <a:r>
              <a:rPr lang="en-US" altLang="zh-CN" dirty="0"/>
              <a:t>. </a:t>
            </a:r>
            <a:r>
              <a:rPr lang="zh-CN" altLang="en-US" dirty="0"/>
              <a:t>是</a:t>
            </a:r>
            <a:r>
              <a:rPr lang="en-US" altLang="zh-CN" dirty="0"/>
              <a:t>( )</a:t>
            </a:r>
            <a:r>
              <a:rPr lang="zh-CN" altLang="en-US" dirty="0"/>
              <a:t>否</a:t>
            </a:r>
            <a:r>
              <a:rPr lang="en-US" altLang="zh-CN" dirty="0"/>
              <a:t>( )</a:t>
            </a:r>
            <a:br>
              <a:rPr lang="en-US" altLang="zh-CN" dirty="0"/>
            </a:br>
            <a:r>
              <a:rPr lang="en-US" altLang="zh-CN" dirty="0"/>
              <a:t>5. </a:t>
            </a:r>
            <a:r>
              <a:rPr lang="zh-CN" altLang="en-US" dirty="0"/>
              <a:t>你觉得入乡随俗是件困难的事</a:t>
            </a:r>
            <a:r>
              <a:rPr lang="en-US" altLang="zh-CN" dirty="0"/>
              <a:t>. </a:t>
            </a:r>
            <a:r>
              <a:rPr lang="zh-CN" altLang="en-US" dirty="0"/>
              <a:t>是</a:t>
            </a:r>
            <a:r>
              <a:rPr lang="en-US" altLang="zh-CN" dirty="0"/>
              <a:t>( )</a:t>
            </a:r>
            <a:r>
              <a:rPr lang="zh-CN" altLang="en-US" dirty="0"/>
              <a:t>否</a:t>
            </a:r>
            <a:r>
              <a:rPr lang="en-US" altLang="zh-CN" dirty="0"/>
              <a:t>( )</a:t>
            </a:r>
            <a:br>
              <a:rPr lang="en-US" altLang="zh-CN" dirty="0"/>
            </a:br>
            <a:br>
              <a:rPr lang="en-US" altLang="zh-CN" dirty="0"/>
            </a:br>
            <a:endParaRPr lang="en-US" altLang="zh-CN" dirty="0"/>
          </a:p>
          <a:p>
            <a:endParaRPr lang="zh-CN" altLang="en-US" dirty="0"/>
          </a:p>
        </p:txBody>
      </p:sp>
    </p:spTree>
    <p:extLst>
      <p:ext uri="{BB962C8B-B14F-4D97-AF65-F5344CB8AC3E}">
        <p14:creationId xmlns:p14="http://schemas.microsoft.com/office/powerpoint/2010/main" val="1752428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en-US" altLang="zh-CN" dirty="0">
                <a:latin typeface="华文隶书" pitchFamily="2" charset="-122"/>
                <a:ea typeface="华文隶书" pitchFamily="2" charset="-122"/>
              </a:rPr>
              <a:t>6. </a:t>
            </a:r>
            <a:r>
              <a:rPr lang="zh-CN" altLang="en-US" dirty="0">
                <a:latin typeface="华文隶书" pitchFamily="2" charset="-122"/>
                <a:ea typeface="华文隶书" pitchFamily="2" charset="-122"/>
              </a:rPr>
              <a:t>你觉得人的面子最重要</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轻易认错是很失面子的行为</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是</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否</a:t>
            </a:r>
            <a:r>
              <a:rPr lang="en-US" altLang="zh-CN" dirty="0">
                <a:latin typeface="华文隶书" pitchFamily="2" charset="-122"/>
                <a:ea typeface="华文隶书" pitchFamily="2" charset="-122"/>
              </a:rPr>
              <a:t>( ) </a:t>
            </a:r>
            <a:br>
              <a:rPr lang="en-US" altLang="zh-CN" dirty="0">
                <a:latin typeface="华文隶书" pitchFamily="2" charset="-122"/>
                <a:ea typeface="华文隶书" pitchFamily="2" charset="-122"/>
              </a:rPr>
            </a:br>
            <a:r>
              <a:rPr lang="en-US" altLang="zh-CN" dirty="0">
                <a:latin typeface="华文隶书" pitchFamily="2" charset="-122"/>
                <a:ea typeface="华文隶书" pitchFamily="2" charset="-122"/>
              </a:rPr>
              <a:t>7. </a:t>
            </a:r>
            <a:r>
              <a:rPr lang="zh-CN" altLang="en-US" dirty="0">
                <a:latin typeface="华文隶书" pitchFamily="2" charset="-122"/>
                <a:ea typeface="华文隶书" pitchFamily="2" charset="-122"/>
              </a:rPr>
              <a:t>你害怕生人或陌生的地方</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是</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否</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r>
              <a:rPr lang="en-US" altLang="zh-CN" dirty="0">
                <a:latin typeface="华文隶书" pitchFamily="2" charset="-122"/>
                <a:ea typeface="华文隶书" pitchFamily="2" charset="-122"/>
              </a:rPr>
              <a:t>8. </a:t>
            </a:r>
            <a:r>
              <a:rPr lang="zh-CN" altLang="en-US" dirty="0">
                <a:latin typeface="华文隶书" pitchFamily="2" charset="-122"/>
                <a:ea typeface="华文隶书" pitchFamily="2" charset="-122"/>
              </a:rPr>
              <a:t>常常自问</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我是很行的吗 </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这类问题</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是</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否</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r>
              <a:rPr lang="en-US" altLang="zh-CN" dirty="0">
                <a:latin typeface="华文隶书" pitchFamily="2" charset="-122"/>
                <a:ea typeface="华文隶书" pitchFamily="2" charset="-122"/>
              </a:rPr>
              <a:t>9. </a:t>
            </a:r>
            <a:r>
              <a:rPr lang="zh-CN" altLang="en-US" dirty="0">
                <a:latin typeface="华文隶书" pitchFamily="2" charset="-122"/>
                <a:ea typeface="华文隶书" pitchFamily="2" charset="-122"/>
              </a:rPr>
              <a:t>你常觉得自己是不利处境下的牺牲品</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是</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否</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r>
              <a:rPr lang="en-US" altLang="zh-CN" dirty="0">
                <a:latin typeface="华文隶书" pitchFamily="2" charset="-122"/>
                <a:ea typeface="华文隶书" pitchFamily="2" charset="-122"/>
              </a:rPr>
              <a:t>10. </a:t>
            </a:r>
            <a:r>
              <a:rPr lang="zh-CN" altLang="en-US" dirty="0">
                <a:latin typeface="华文隶书" pitchFamily="2" charset="-122"/>
                <a:ea typeface="华文隶书" pitchFamily="2" charset="-122"/>
              </a:rPr>
              <a:t>你是个爱虚荣的人</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是</a:t>
            </a:r>
            <a:r>
              <a:rPr lang="en-US" altLang="zh-CN" dirty="0">
                <a:latin typeface="华文隶书" pitchFamily="2" charset="-122"/>
                <a:ea typeface="华文隶书" pitchFamily="2" charset="-122"/>
              </a:rPr>
              <a:t>( )</a:t>
            </a:r>
            <a:r>
              <a:rPr lang="zh-CN" altLang="en-US" dirty="0">
                <a:latin typeface="华文隶书" pitchFamily="2" charset="-122"/>
                <a:ea typeface="华文隶书" pitchFamily="2" charset="-122"/>
              </a:rPr>
              <a:t>否</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endParaRPr lang="zh-CN" altLang="en-US" dirty="0"/>
          </a:p>
        </p:txBody>
      </p:sp>
    </p:spTree>
    <p:extLst>
      <p:ext uri="{BB962C8B-B14F-4D97-AF65-F5344CB8AC3E}">
        <p14:creationId xmlns:p14="http://schemas.microsoft.com/office/powerpoint/2010/main" val="2620302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en-US" dirty="0">
                <a:latin typeface="华文隶书" pitchFamily="2" charset="-122"/>
                <a:ea typeface="华文隶书" pitchFamily="2" charset="-122"/>
              </a:rPr>
              <a:t>答</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是</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得</a:t>
            </a:r>
            <a:r>
              <a:rPr lang="en-US" altLang="zh-CN" dirty="0">
                <a:latin typeface="华文隶书" pitchFamily="2" charset="-122"/>
                <a:ea typeface="华文隶书" pitchFamily="2" charset="-122"/>
              </a:rPr>
              <a:t>1</a:t>
            </a:r>
            <a:r>
              <a:rPr lang="zh-CN" altLang="en-US" dirty="0">
                <a:latin typeface="华文隶书" pitchFamily="2" charset="-122"/>
                <a:ea typeface="华文隶书" pitchFamily="2" charset="-122"/>
              </a:rPr>
              <a:t>分</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否</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得</a:t>
            </a:r>
            <a:r>
              <a:rPr lang="en-US" altLang="zh-CN" dirty="0">
                <a:latin typeface="华文隶书" pitchFamily="2" charset="-122"/>
                <a:ea typeface="华文隶书" pitchFamily="2" charset="-122"/>
              </a:rPr>
              <a:t>0</a:t>
            </a:r>
            <a:r>
              <a:rPr lang="zh-CN" altLang="en-US" dirty="0">
                <a:latin typeface="华文隶书" pitchFamily="2" charset="-122"/>
                <a:ea typeface="华文隶书" pitchFamily="2" charset="-122"/>
              </a:rPr>
              <a:t>分</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统计一下你的总得分</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r>
              <a:rPr lang="en-US" altLang="zh-CN" dirty="0">
                <a:latin typeface="华文隶书" pitchFamily="2" charset="-122"/>
                <a:ea typeface="华文隶书" pitchFamily="2" charset="-122"/>
              </a:rPr>
              <a:t>0-2</a:t>
            </a:r>
            <a:r>
              <a:rPr lang="zh-CN" altLang="en-US" dirty="0">
                <a:latin typeface="华文隶书" pitchFamily="2" charset="-122"/>
                <a:ea typeface="华文隶书" pitchFamily="2" charset="-122"/>
              </a:rPr>
              <a:t>分者</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很有自信心</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能与人和睦相处</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r>
              <a:rPr lang="en-US" altLang="zh-CN" dirty="0">
                <a:latin typeface="华文隶书" pitchFamily="2" charset="-122"/>
                <a:ea typeface="华文隶书" pitchFamily="2" charset="-122"/>
              </a:rPr>
              <a:t>3-6</a:t>
            </a:r>
            <a:r>
              <a:rPr lang="zh-CN" altLang="en-US" dirty="0">
                <a:latin typeface="华文隶书" pitchFamily="2" charset="-122"/>
                <a:ea typeface="华文隶书" pitchFamily="2" charset="-122"/>
              </a:rPr>
              <a:t>分者</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很可能缺乏自信心</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你行事可能保守而缺少魄力</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但这也许能使你安于现状</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生活在一种平静无事的环境中</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如果你认真反思一下</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把你认为你能做的事和你想做的事列成表格</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你会发现</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事实上</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能做的事要比你想做的事多一些</a:t>
            </a:r>
            <a:r>
              <a:rPr lang="en-US" altLang="zh-CN" dirty="0">
                <a:latin typeface="华文隶书" pitchFamily="2" charset="-122"/>
                <a:ea typeface="华文隶书" pitchFamily="2" charset="-122"/>
              </a:rPr>
              <a:t>. </a:t>
            </a:r>
            <a:br>
              <a:rPr lang="en-US" altLang="zh-CN" dirty="0">
                <a:latin typeface="华文隶书" pitchFamily="2" charset="-122"/>
                <a:ea typeface="华文隶书" pitchFamily="2" charset="-122"/>
              </a:rPr>
            </a:br>
            <a:br>
              <a:rPr lang="en-US" altLang="zh-CN" dirty="0">
                <a:latin typeface="华文隶书" pitchFamily="2" charset="-122"/>
                <a:ea typeface="华文隶书" pitchFamily="2" charset="-122"/>
              </a:rPr>
            </a:br>
            <a:endParaRPr lang="zh-CN" altLang="en-US" dirty="0"/>
          </a:p>
        </p:txBody>
      </p:sp>
    </p:spTree>
    <p:extLst>
      <p:ext uri="{BB962C8B-B14F-4D97-AF65-F5344CB8AC3E}">
        <p14:creationId xmlns:p14="http://schemas.microsoft.com/office/powerpoint/2010/main" val="66548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en-US" altLang="zh-CN" dirty="0">
                <a:latin typeface="华文隶书" pitchFamily="2" charset="-122"/>
                <a:ea typeface="华文隶书" pitchFamily="2" charset="-122"/>
              </a:rPr>
              <a:t>7-10</a:t>
            </a:r>
            <a:r>
              <a:rPr lang="zh-CN" altLang="en-US" dirty="0">
                <a:latin typeface="华文隶书" pitchFamily="2" charset="-122"/>
                <a:ea typeface="华文隶书" pitchFamily="2" charset="-122"/>
              </a:rPr>
              <a:t>分者</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你有一种强烈的自卑感</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即使在表面上你自信</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自负或自傲</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但你很可能在自和自卑的两 极来回徘徊 </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有时这种性格上的矛盾令你感到痛苦或害怕</a:t>
            </a:r>
            <a:r>
              <a:rPr lang="en-US" altLang="zh-CN" dirty="0">
                <a:latin typeface="华文隶书" pitchFamily="2" charset="-122"/>
                <a:ea typeface="华文隶书" pitchFamily="2" charset="-122"/>
              </a:rPr>
              <a:t>.</a:t>
            </a:r>
            <a:r>
              <a:rPr lang="zh-CN" altLang="en-US" dirty="0">
                <a:latin typeface="华文隶书" pitchFamily="2" charset="-122"/>
                <a:ea typeface="华文隶书" pitchFamily="2" charset="-122"/>
              </a:rPr>
              <a:t>你得想法采取行动消除自己</a:t>
            </a:r>
            <a:br>
              <a:rPr lang="zh-CN" altLang="en-US" dirty="0">
                <a:latin typeface="华文隶书" pitchFamily="2" charset="-122"/>
                <a:ea typeface="华文隶书" pitchFamily="2" charset="-122"/>
              </a:rPr>
            </a:br>
            <a:r>
              <a:rPr lang="zh-CN" altLang="en-US" dirty="0">
                <a:latin typeface="华文隶书" pitchFamily="2" charset="-122"/>
                <a:ea typeface="华文隶书" pitchFamily="2" charset="-122"/>
              </a:rPr>
              <a:t>的自卑感了</a:t>
            </a:r>
            <a:r>
              <a:rPr lang="en-US" altLang="zh-CN" dirty="0">
                <a:latin typeface="华文隶书" pitchFamily="2" charset="-122"/>
                <a:ea typeface="华文隶书" pitchFamily="2" charset="-122"/>
              </a:rPr>
              <a:t>. </a:t>
            </a:r>
          </a:p>
          <a:p>
            <a:endParaRPr lang="zh-CN" altLang="en-US" dirty="0"/>
          </a:p>
        </p:txBody>
      </p:sp>
    </p:spTree>
    <p:extLst>
      <p:ext uri="{BB962C8B-B14F-4D97-AF65-F5344CB8AC3E}">
        <p14:creationId xmlns:p14="http://schemas.microsoft.com/office/powerpoint/2010/main" val="3876872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02</a:t>
            </a:r>
            <a:r>
              <a:rPr lang="zh-CN" altLang="en-US" dirty="0"/>
              <a:t>自卑的本质与内涵</a:t>
            </a:r>
          </a:p>
        </p:txBody>
      </p:sp>
      <p:sp>
        <p:nvSpPr>
          <p:cNvPr id="2" name="内容占位符 1"/>
          <p:cNvSpPr>
            <a:spLocks noGrp="1"/>
          </p:cNvSpPr>
          <p:nvPr>
            <p:ph idx="1"/>
          </p:nvPr>
        </p:nvSpPr>
        <p:spPr/>
        <p:txBody>
          <a:bodyPr/>
          <a:lstStyle/>
          <a:p>
            <a:r>
              <a:rPr lang="zh-CN" altLang="en-US" dirty="0"/>
              <a:t>自卑是一种不能自助和软弱的复杂情感。有自卑感的人轻视自己，认为无法赶上别人。</a:t>
            </a:r>
            <a:r>
              <a:rPr lang="en-US" altLang="zh-CN" dirty="0"/>
              <a:t>A.</a:t>
            </a:r>
            <a:r>
              <a:rPr lang="zh-CN" altLang="en-US" dirty="0"/>
              <a:t>阿德勒对自卑感有特殊的解释，称其为自卑情结。他对于这个词主要有两种相联系的用法：首先，自卑情结指以一个人认为自己或自己的环境不如别人的自卑观念为核心的潜意识欲望、情感所组成的一种复杂心理。 </a:t>
            </a:r>
          </a:p>
          <a:p>
            <a:endParaRPr lang="zh-CN" altLang="en-US" dirty="0"/>
          </a:p>
        </p:txBody>
      </p:sp>
    </p:spTree>
    <p:extLst>
      <p:ext uri="{BB962C8B-B14F-4D97-AF65-F5344CB8AC3E}">
        <p14:creationId xmlns:p14="http://schemas.microsoft.com/office/powerpoint/2010/main" val="1433511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en-US" dirty="0"/>
              <a:t>自卑情结是由婴幼儿时期的无能状态和对别人的依赖而引起的，所以对人有普遍意义。是驱使人成为优越的力量，又是反复失败的结果。自卑情感，可通过调整认识，增强信心和给予支持而消除。 </a:t>
            </a:r>
          </a:p>
          <a:p>
            <a:endParaRPr lang="zh-CN" altLang="en-US" dirty="0"/>
          </a:p>
        </p:txBody>
      </p:sp>
    </p:spTree>
    <p:extLst>
      <p:ext uri="{BB962C8B-B14F-4D97-AF65-F5344CB8AC3E}">
        <p14:creationId xmlns:p14="http://schemas.microsoft.com/office/powerpoint/2010/main" val="564874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en-US" dirty="0"/>
              <a:t>自卑是低估自己的能力，觉得自己各方面不如人。自卑，可以说是一种性格上的缺陷。表现为对自己的能力、品质评价过低，同时可伴有 一些特殊的情绪体现，诸如害羞、不安、内疚、忧郁、失望等 </a:t>
            </a:r>
          </a:p>
          <a:p>
            <a:endParaRPr lang="zh-CN" altLang="en-US" dirty="0"/>
          </a:p>
        </p:txBody>
      </p:sp>
    </p:spTree>
    <p:extLst>
      <p:ext uri="{BB962C8B-B14F-4D97-AF65-F5344CB8AC3E}">
        <p14:creationId xmlns:p14="http://schemas.microsoft.com/office/powerpoint/2010/main" val="3128814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en-US" dirty="0"/>
              <a:t>自卑的前提是自尊，当人的自尊需要得不到满足，又不能恰如其分、实事求是地分析自己时，就容易产生自卑心理。一个人形成自卑心理后，往往从怀疑自己的能力到不能表现自己的能力，从怯于与人交往到孤独地自我封闭。本来经过努力可以达到的目标，也会认为“我不行”而放弃追求。</a:t>
            </a:r>
          </a:p>
        </p:txBody>
      </p:sp>
    </p:spTree>
    <p:extLst>
      <p:ext uri="{BB962C8B-B14F-4D97-AF65-F5344CB8AC3E}">
        <p14:creationId xmlns:p14="http://schemas.microsoft.com/office/powerpoint/2010/main" val="984540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03</a:t>
            </a:r>
            <a:r>
              <a:rPr lang="zh-CN" altLang="en-US" dirty="0"/>
              <a:t>自卑的表现特征：</a:t>
            </a:r>
          </a:p>
        </p:txBody>
      </p:sp>
      <p:sp>
        <p:nvSpPr>
          <p:cNvPr id="2" name="内容占位符 1"/>
          <p:cNvSpPr>
            <a:spLocks noGrp="1"/>
          </p:cNvSpPr>
          <p:nvPr>
            <p:ph idx="1"/>
          </p:nvPr>
        </p:nvSpPr>
        <p:spPr/>
        <p:txBody>
          <a:bodyPr/>
          <a:lstStyle/>
          <a:p>
            <a:pPr>
              <a:lnSpc>
                <a:spcPct val="90000"/>
              </a:lnSpc>
            </a:pPr>
            <a:r>
              <a:rPr lang="zh-CN" altLang="en-US" dirty="0"/>
              <a:t>消极的看待问题 凡事总往坏处想：</a:t>
            </a:r>
          </a:p>
          <a:p>
            <a:pPr>
              <a:lnSpc>
                <a:spcPct val="90000"/>
              </a:lnSpc>
            </a:pPr>
            <a:r>
              <a:rPr lang="zh-CN" altLang="en-US" dirty="0"/>
              <a:t>总是自怨自艾与自责 意志消沉：</a:t>
            </a:r>
          </a:p>
          <a:p>
            <a:pPr>
              <a:lnSpc>
                <a:spcPct val="90000"/>
              </a:lnSpc>
            </a:pPr>
            <a:r>
              <a:rPr lang="zh-CN" altLang="en-US" dirty="0"/>
              <a:t>多疑 敏感：</a:t>
            </a:r>
          </a:p>
          <a:p>
            <a:pPr>
              <a:lnSpc>
                <a:spcPct val="90000"/>
              </a:lnSpc>
            </a:pPr>
            <a:r>
              <a:rPr lang="zh-CN" altLang="en-US" dirty="0"/>
              <a:t>有时候特别讨厌自己 有时候又希望被喜欢：</a:t>
            </a:r>
          </a:p>
          <a:p>
            <a:pPr>
              <a:lnSpc>
                <a:spcPct val="90000"/>
              </a:lnSpc>
            </a:pPr>
            <a:r>
              <a:rPr lang="zh-CN" altLang="en-US" dirty="0"/>
              <a:t>看到比自己丑的人不会觉得不可思议： </a:t>
            </a:r>
          </a:p>
          <a:p>
            <a:pPr>
              <a:lnSpc>
                <a:spcPct val="90000"/>
              </a:lnSpc>
            </a:pPr>
            <a:r>
              <a:rPr lang="zh-CN" altLang="en-US" dirty="0"/>
              <a:t>不愿意改变 不愿意尝试新鲜事物：</a:t>
            </a:r>
          </a:p>
          <a:p>
            <a:pPr>
              <a:lnSpc>
                <a:spcPct val="90000"/>
              </a:lnSpc>
            </a:pPr>
            <a:r>
              <a:rPr lang="zh-CN" altLang="en-US" dirty="0"/>
              <a:t>拒绝劝阻并觉得他们是自以为是</a:t>
            </a:r>
          </a:p>
          <a:p>
            <a:endParaRPr lang="zh-CN" altLang="en-US" dirty="0"/>
          </a:p>
        </p:txBody>
      </p:sp>
    </p:spTree>
    <p:extLst>
      <p:ext uri="{BB962C8B-B14F-4D97-AF65-F5344CB8AC3E}">
        <p14:creationId xmlns:p14="http://schemas.microsoft.com/office/powerpoint/2010/main" val="201889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Rot="1" noChangeArrowheads="1"/>
          </p:cNvSpPr>
          <p:nvPr>
            <p:ph type="title"/>
          </p:nvPr>
        </p:nvSpPr>
        <p:spPr/>
        <p:txBody>
          <a:bodyPr>
            <a:normAutofit fontScale="90000"/>
          </a:bodyPr>
          <a:lstStyle/>
          <a:p>
            <a:pPr eaLnBrk="1" fontAlgn="ctr" hangingPunct="1">
              <a:spcAft>
                <a:spcPts val="0"/>
              </a:spcAft>
              <a:defRPr/>
            </a:pPr>
            <a:br>
              <a:rPr lang="en-US" altLang="zh-CN" sz="4000" dirty="0"/>
            </a:br>
            <a:r>
              <a:rPr lang="zh-CN" altLang="en-US" sz="4000" dirty="0">
                <a:latin typeface="黑体" pitchFamily="2" charset="-122"/>
              </a:rPr>
              <a:t>自卑的行为表现</a:t>
            </a:r>
            <a:r>
              <a:rPr lang="en-US" altLang="zh-CN" sz="4000" dirty="0">
                <a:latin typeface="黑体" pitchFamily="2" charset="-122"/>
              </a:rPr>
              <a:t>:</a:t>
            </a:r>
            <a:br>
              <a:rPr lang="en-US" altLang="zh-CN" sz="4000" dirty="0"/>
            </a:br>
            <a:endParaRPr lang="en-US" altLang="zh-CN" sz="4000" dirty="0"/>
          </a:p>
        </p:txBody>
      </p:sp>
      <p:sp>
        <p:nvSpPr>
          <p:cNvPr id="2" name="内容占位符 1"/>
          <p:cNvSpPr>
            <a:spLocks noGrp="1"/>
          </p:cNvSpPr>
          <p:nvPr>
            <p:ph idx="1"/>
          </p:nvPr>
        </p:nvSpPr>
        <p:spPr>
          <a:xfrm>
            <a:off x="872067" y="1628800"/>
            <a:ext cx="7408333" cy="4497363"/>
          </a:xfrm>
        </p:spPr>
        <p:txBody>
          <a:bodyPr>
            <a:normAutofit fontScale="92500" lnSpcReduction="20000"/>
          </a:bodyPr>
          <a:lstStyle/>
          <a:p>
            <a:pPr>
              <a:lnSpc>
                <a:spcPct val="80000"/>
              </a:lnSpc>
            </a:pPr>
            <a:r>
              <a:rPr lang="zh-CN" altLang="en-US" dirty="0"/>
              <a:t>自卑的人在公共场合</a:t>
            </a:r>
            <a:r>
              <a:rPr lang="en-US" altLang="zh-CN" dirty="0"/>
              <a:t>,</a:t>
            </a:r>
            <a:r>
              <a:rPr lang="zh-CN" altLang="en-US" dirty="0"/>
              <a:t>聚会</a:t>
            </a:r>
            <a:r>
              <a:rPr lang="en-US" altLang="zh-CN" dirty="0"/>
              <a:t>,</a:t>
            </a:r>
            <a:r>
              <a:rPr lang="zh-CN" altLang="en-US" dirty="0"/>
              <a:t>表现得格外安静或特别喧哗</a:t>
            </a:r>
          </a:p>
          <a:p>
            <a:pPr>
              <a:lnSpc>
                <a:spcPct val="80000"/>
              </a:lnSpc>
            </a:pPr>
            <a:r>
              <a:rPr lang="zh-CN" altLang="en-US" dirty="0"/>
              <a:t>自卑的人经常弯腰驼背或趾高气扬</a:t>
            </a:r>
          </a:p>
          <a:p>
            <a:pPr>
              <a:lnSpc>
                <a:spcPct val="80000"/>
              </a:lnSpc>
            </a:pPr>
            <a:r>
              <a:rPr lang="zh-CN" altLang="en-US" dirty="0"/>
              <a:t>自卑的人说话语速太快或太慢</a:t>
            </a:r>
          </a:p>
          <a:p>
            <a:pPr>
              <a:lnSpc>
                <a:spcPct val="80000"/>
              </a:lnSpc>
            </a:pPr>
            <a:r>
              <a:rPr lang="zh-CN" altLang="en-US" dirty="0"/>
              <a:t>自卑的人服饰十分夸张或不修边幅</a:t>
            </a:r>
          </a:p>
          <a:p>
            <a:pPr>
              <a:lnSpc>
                <a:spcPct val="80000"/>
              </a:lnSpc>
            </a:pPr>
            <a:r>
              <a:rPr lang="zh-CN" altLang="en-US" dirty="0"/>
              <a:t>自卑的人看人时</a:t>
            </a:r>
            <a:r>
              <a:rPr lang="en-US" altLang="zh-CN" dirty="0"/>
              <a:t>,</a:t>
            </a:r>
            <a:r>
              <a:rPr lang="zh-CN" altLang="en-US" dirty="0"/>
              <a:t>眼光不愿意和别人正面接触</a:t>
            </a:r>
          </a:p>
          <a:p>
            <a:pPr>
              <a:lnSpc>
                <a:spcPct val="80000"/>
              </a:lnSpc>
            </a:pPr>
            <a:r>
              <a:rPr lang="zh-CN" altLang="en-US" dirty="0"/>
              <a:t>自卑的人多半看起来焦虑不安或是麻木不仁</a:t>
            </a:r>
          </a:p>
          <a:p>
            <a:pPr>
              <a:lnSpc>
                <a:spcPct val="80000"/>
              </a:lnSpc>
            </a:pPr>
            <a:r>
              <a:rPr lang="zh-CN" altLang="en-US" dirty="0"/>
              <a:t>自卑的人多半很少发表意见或者爱轻意承诺</a:t>
            </a:r>
          </a:p>
          <a:p>
            <a:pPr>
              <a:lnSpc>
                <a:spcPct val="80000"/>
              </a:lnSpc>
            </a:pPr>
            <a:r>
              <a:rPr lang="zh-CN" altLang="en-US" dirty="0"/>
              <a:t>自卑的人会夸大自己的成绩</a:t>
            </a:r>
            <a:r>
              <a:rPr lang="en-US" altLang="zh-CN" dirty="0"/>
              <a:t>,</a:t>
            </a:r>
            <a:r>
              <a:rPr lang="zh-CN" altLang="en-US" dirty="0"/>
              <a:t>贬低别人的作用</a:t>
            </a:r>
          </a:p>
          <a:p>
            <a:pPr>
              <a:lnSpc>
                <a:spcPct val="80000"/>
              </a:lnSpc>
            </a:pPr>
            <a:r>
              <a:rPr lang="zh-CN" altLang="en-US" dirty="0"/>
              <a:t>自卑的人容易走向极端</a:t>
            </a:r>
            <a:r>
              <a:rPr lang="en-US" altLang="zh-CN" dirty="0"/>
              <a:t>,</a:t>
            </a:r>
            <a:r>
              <a:rPr lang="zh-CN" altLang="en-US" dirty="0"/>
              <a:t>成为一个严苛的完美主义者</a:t>
            </a:r>
          </a:p>
          <a:p>
            <a:pPr>
              <a:lnSpc>
                <a:spcPct val="80000"/>
              </a:lnSpc>
            </a:pPr>
            <a:r>
              <a:rPr lang="zh-CN" altLang="en-US" dirty="0"/>
              <a:t>自卑的人还很可能避免参加比赛</a:t>
            </a:r>
          </a:p>
          <a:p>
            <a:pPr>
              <a:lnSpc>
                <a:spcPct val="80000"/>
              </a:lnSpc>
            </a:pPr>
            <a:r>
              <a:rPr lang="zh-CN" altLang="en-US" dirty="0"/>
              <a:t>自卑的人的多半不会很好的照料自己</a:t>
            </a:r>
          </a:p>
          <a:p>
            <a:pPr>
              <a:lnSpc>
                <a:spcPct val="80000"/>
              </a:lnSpc>
            </a:pPr>
            <a:r>
              <a:rPr lang="zh-CN" altLang="en-US" dirty="0"/>
              <a:t>自卑的人常常过量饮酒</a:t>
            </a:r>
            <a:r>
              <a:rPr lang="en-US" altLang="zh-CN" dirty="0"/>
              <a:t>,</a:t>
            </a:r>
            <a:r>
              <a:rPr lang="zh-CN" altLang="en-US" dirty="0"/>
              <a:t>来排解压力</a:t>
            </a:r>
            <a:r>
              <a:rPr lang="en-US" altLang="zh-CN" dirty="0"/>
              <a:t>,</a:t>
            </a:r>
            <a:r>
              <a:rPr lang="zh-CN" altLang="en-US" dirty="0"/>
              <a:t>沉迷网络</a:t>
            </a:r>
            <a:r>
              <a:rPr lang="en-US" altLang="zh-CN" dirty="0"/>
              <a:t>,</a:t>
            </a:r>
            <a:r>
              <a:rPr lang="zh-CN" altLang="en-US" dirty="0"/>
              <a:t>吸毒都是如此</a:t>
            </a:r>
            <a:r>
              <a:rPr lang="en-US" altLang="zh-CN" dirty="0"/>
              <a:t>.</a:t>
            </a:r>
          </a:p>
          <a:p>
            <a:endParaRPr lang="zh-CN" altLang="en-US" dirty="0"/>
          </a:p>
        </p:txBody>
      </p:sp>
    </p:spTree>
    <p:extLst>
      <p:ext uri="{BB962C8B-B14F-4D97-AF65-F5344CB8AC3E}">
        <p14:creationId xmlns:p14="http://schemas.microsoft.com/office/powerpoint/2010/main" val="3525263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自卑的具体心理表现</a:t>
            </a:r>
          </a:p>
        </p:txBody>
      </p:sp>
      <p:sp>
        <p:nvSpPr>
          <p:cNvPr id="2" name="内容占位符 1"/>
          <p:cNvSpPr>
            <a:spLocks noGrp="1"/>
          </p:cNvSpPr>
          <p:nvPr>
            <p:ph idx="1"/>
          </p:nvPr>
        </p:nvSpPr>
        <p:spPr/>
        <p:txBody>
          <a:bodyPr/>
          <a:lstStyle/>
          <a:p>
            <a:pPr>
              <a:lnSpc>
                <a:spcPct val="90000"/>
              </a:lnSpc>
            </a:pPr>
            <a:r>
              <a:rPr lang="en-US" altLang="zh-CN" dirty="0">
                <a:latin typeface="黑体" pitchFamily="2" charset="-122"/>
                <a:ea typeface="黑体" pitchFamily="2" charset="-122"/>
              </a:rPr>
              <a:t>1.</a:t>
            </a:r>
            <a:r>
              <a:rPr lang="zh-CN" altLang="en-US" dirty="0">
                <a:latin typeface="黑体" pitchFamily="2" charset="-122"/>
                <a:ea typeface="黑体" pitchFamily="2" charset="-122"/>
              </a:rPr>
              <a:t>敏感</a:t>
            </a:r>
          </a:p>
          <a:p>
            <a:pPr>
              <a:lnSpc>
                <a:spcPct val="90000"/>
              </a:lnSpc>
            </a:pPr>
            <a:r>
              <a:rPr lang="zh-CN" altLang="en-US" dirty="0"/>
              <a:t>过分敏感，自尊心强。弱体群体非常希望得到别人的重视，唯恐被人忽略，过分看重别人对自己的评价，任何负面的评价都会导致内心激烈的冲突，甚至扭曲别人的评价，比如，别人真诚地夸他，他会认为是挖苦。他们非常敏感，跟他们交往时，必须谨小慎微，别人不经意的一句话，都会在其内心引起波澜，胡乱猜疑</a:t>
            </a:r>
          </a:p>
        </p:txBody>
      </p:sp>
    </p:spTree>
    <p:extLst>
      <p:ext uri="{BB962C8B-B14F-4D97-AF65-F5344CB8AC3E}">
        <p14:creationId xmlns:p14="http://schemas.microsoft.com/office/powerpoint/2010/main" val="360338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en-US" altLang="zh-CN" dirty="0">
                <a:latin typeface="黑体" pitchFamily="2" charset="-122"/>
                <a:ea typeface="黑体" pitchFamily="2" charset="-122"/>
              </a:rPr>
              <a:t>2.</a:t>
            </a:r>
            <a:r>
              <a:rPr lang="zh-CN" altLang="en-US" dirty="0">
                <a:latin typeface="黑体" pitchFamily="2" charset="-122"/>
                <a:ea typeface="黑体" pitchFamily="2" charset="-122"/>
              </a:rPr>
              <a:t>失衡</a:t>
            </a:r>
          </a:p>
          <a:p>
            <a:r>
              <a:rPr lang="zh-CN" altLang="en-US" dirty="0"/>
              <a:t>由于种种原因造成的弱势地位，使他们在社会的方方面面都体验不到自身价值，甚至还会遭到强势群体的厌弃。自我价值感是一个人安身立命的根本，丧失自我价值体验，使他们心态失衡，陷入恶性的心理体验之中，走不出这个心理的阴影，就很难摆脱现实的困境。别人欺负他，即使内心不负气，也自认为是正常的，非常认同自己的弱势身份。这种强烈的自卑心理极易导致自杀行为。 </a:t>
            </a:r>
          </a:p>
          <a:p>
            <a:endParaRPr lang="zh-CN" altLang="en-US" dirty="0"/>
          </a:p>
        </p:txBody>
      </p:sp>
    </p:spTree>
    <p:extLst>
      <p:ext uri="{BB962C8B-B14F-4D97-AF65-F5344CB8AC3E}">
        <p14:creationId xmlns:p14="http://schemas.microsoft.com/office/powerpoint/2010/main" val="154557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en-US" altLang="zh-CN" dirty="0">
                <a:latin typeface="黑体" pitchFamily="2" charset="-122"/>
                <a:ea typeface="黑体" pitchFamily="2" charset="-122"/>
              </a:rPr>
              <a:t>3.</a:t>
            </a:r>
            <a:r>
              <a:rPr lang="zh-CN" altLang="en-US" dirty="0">
                <a:latin typeface="黑体" pitchFamily="2" charset="-122"/>
                <a:ea typeface="黑体" pitchFamily="2" charset="-122"/>
              </a:rPr>
              <a:t>情绪化</a:t>
            </a:r>
          </a:p>
          <a:p>
            <a:r>
              <a:rPr lang="zh-CN" altLang="en-US" dirty="0"/>
              <a:t>他们表面上好象逆来顺受，然而过分压抑恰恰积聚了随时爆发的能量。由于他们缺少应对能力，失业、离异、患病等生活事件很容易导致心理压力。当受到不公正的待遇时，认为别人睢不起自己，难以忍受，往往产生过激言行。比如有些民工受老板欺负，会因此自杀。他们经常为了一点小事大动干戈，拳脚相向。有时有时当他们无力应对危机时，还会自残，用这种极端的方式表达自己的情绪。 </a:t>
            </a:r>
          </a:p>
          <a:p>
            <a:endParaRPr lang="zh-CN" altLang="en-US" dirty="0"/>
          </a:p>
        </p:txBody>
      </p:sp>
    </p:spTree>
    <p:extLst>
      <p:ext uri="{BB962C8B-B14F-4D97-AF65-F5344CB8AC3E}">
        <p14:creationId xmlns:p14="http://schemas.microsoft.com/office/powerpoint/2010/main" val="1916737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latin typeface="黑体" pitchFamily="2" charset="-122"/>
              </a:rPr>
              <a:t>找到新的模式</a:t>
            </a:r>
            <a:r>
              <a:rPr lang="en-US" altLang="zh-CN" dirty="0">
                <a:latin typeface="黑体" pitchFamily="2" charset="-122"/>
              </a:rPr>
              <a:t>,</a:t>
            </a:r>
            <a:r>
              <a:rPr lang="zh-CN" altLang="en-US" dirty="0">
                <a:latin typeface="黑体" pitchFamily="2" charset="-122"/>
              </a:rPr>
              <a:t>覆盖内心深处的自卑</a:t>
            </a:r>
            <a:endParaRPr lang="zh-CN" altLang="en-US" dirty="0"/>
          </a:p>
        </p:txBody>
      </p:sp>
      <p:sp>
        <p:nvSpPr>
          <p:cNvPr id="2" name="内容占位符 1"/>
          <p:cNvSpPr>
            <a:spLocks noGrp="1"/>
          </p:cNvSpPr>
          <p:nvPr>
            <p:ph idx="1"/>
          </p:nvPr>
        </p:nvSpPr>
        <p:spPr/>
        <p:txBody>
          <a:bodyPr/>
          <a:lstStyle/>
          <a:p>
            <a:r>
              <a:rPr lang="zh-CN" altLang="en-US" dirty="0"/>
              <a:t>学会与自卑友好相处</a:t>
            </a:r>
            <a:r>
              <a:rPr lang="en-US" altLang="zh-CN" dirty="0"/>
              <a:t>,</a:t>
            </a:r>
            <a:r>
              <a:rPr lang="zh-CN" altLang="en-US" dirty="0"/>
              <a:t>对自己将有一个良好而恰当的评价</a:t>
            </a:r>
            <a:r>
              <a:rPr lang="en-US" altLang="zh-CN" dirty="0"/>
              <a:t>,</a:t>
            </a:r>
            <a:r>
              <a:rPr lang="zh-CN" altLang="en-US" dirty="0"/>
              <a:t>对于自己的期望恰如其分</a:t>
            </a:r>
            <a:r>
              <a:rPr lang="en-US" altLang="zh-CN" dirty="0"/>
              <a:t>,</a:t>
            </a:r>
            <a:r>
              <a:rPr lang="zh-CN" altLang="en-US" dirty="0"/>
              <a:t>清醒地认识自己的优缺点</a:t>
            </a:r>
            <a:r>
              <a:rPr lang="en-US" altLang="zh-CN" dirty="0"/>
              <a:t>,</a:t>
            </a:r>
            <a:r>
              <a:rPr lang="zh-CN" altLang="en-US" dirty="0"/>
              <a:t>有条不紊地工作、学习、生活。</a:t>
            </a:r>
          </a:p>
          <a:p>
            <a:endParaRPr lang="zh-CN" altLang="en-US" dirty="0"/>
          </a:p>
        </p:txBody>
      </p:sp>
    </p:spTree>
    <p:extLst>
      <p:ext uri="{BB962C8B-B14F-4D97-AF65-F5344CB8AC3E}">
        <p14:creationId xmlns:p14="http://schemas.microsoft.com/office/powerpoint/2010/main" val="3810975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03</a:t>
            </a:r>
            <a:r>
              <a:rPr lang="zh-CN" altLang="en-US" dirty="0"/>
              <a:t>自卑产生的心理原因</a:t>
            </a:r>
          </a:p>
        </p:txBody>
      </p:sp>
      <p:sp>
        <p:nvSpPr>
          <p:cNvPr id="2" name="内容占位符 1"/>
          <p:cNvSpPr>
            <a:spLocks noGrp="1"/>
          </p:cNvSpPr>
          <p:nvPr>
            <p:ph idx="1"/>
          </p:nvPr>
        </p:nvSpPr>
        <p:spPr/>
        <p:txBody>
          <a:bodyPr>
            <a:normAutofit/>
          </a:bodyPr>
          <a:lstStyle/>
          <a:p>
            <a:r>
              <a:rPr lang="zh-CN" altLang="en-US" b="1" dirty="0"/>
              <a:t>自我认识不足</a:t>
            </a:r>
            <a:endParaRPr lang="zh-CN" altLang="en-US" dirty="0"/>
          </a:p>
          <a:p>
            <a:r>
              <a:rPr lang="zh-CN" altLang="en-US" dirty="0"/>
              <a:t>每个人总是以他人为镜来认识自己，如果他人对自己的评价过低，特别是较有权威的人的评价，就会影响对自己的认识，从而过低评价自己，产生自卑心理。对自我形象不认同，觉得自己长的不好。或者是对自己能力的怀疑，进入大学后的优越感降低甚至没有了，自己没有赢得别人尊重的本钱，于是产生了极强的失落感，原有的优越感一下子就成自卑感。每个人都会在某个方面产生自卑感的。</a:t>
            </a:r>
          </a:p>
          <a:p>
            <a:endParaRPr lang="zh-CN" altLang="en-US" dirty="0"/>
          </a:p>
        </p:txBody>
      </p:sp>
    </p:spTree>
    <p:extLst>
      <p:ext uri="{BB962C8B-B14F-4D97-AF65-F5344CB8AC3E}">
        <p14:creationId xmlns:p14="http://schemas.microsoft.com/office/powerpoint/2010/main" val="4232639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家庭经济因素</a:t>
            </a:r>
            <a:br>
              <a:rPr lang="zh-CN" altLang="en-US" dirty="0"/>
            </a:br>
            <a:endParaRPr lang="zh-CN" altLang="en-US" dirty="0"/>
          </a:p>
        </p:txBody>
      </p:sp>
      <p:sp>
        <p:nvSpPr>
          <p:cNvPr id="2" name="内容占位符 1"/>
          <p:cNvSpPr>
            <a:spLocks noGrp="1"/>
          </p:cNvSpPr>
          <p:nvPr>
            <p:ph idx="1"/>
          </p:nvPr>
        </p:nvSpPr>
        <p:spPr/>
        <p:txBody>
          <a:bodyPr/>
          <a:lstStyle/>
          <a:p>
            <a:r>
              <a:rPr lang="zh-CN" altLang="en-US" dirty="0"/>
              <a:t>部分学生由于出身贫寒，生活困难，与别的同学相比，觉得自己家庭经济条件实在太差而感到自卑。这几年，由于这方面引起自卑的大学生人数有增加的趋势。</a:t>
            </a:r>
          </a:p>
          <a:p>
            <a:endParaRPr lang="zh-CN" altLang="en-US" dirty="0"/>
          </a:p>
        </p:txBody>
      </p:sp>
    </p:spTree>
    <p:extLst>
      <p:ext uri="{BB962C8B-B14F-4D97-AF65-F5344CB8AC3E}">
        <p14:creationId xmlns:p14="http://schemas.microsoft.com/office/powerpoint/2010/main" val="362490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社会文化因素</a:t>
            </a:r>
            <a:br>
              <a:rPr lang="zh-CN" altLang="en-US" dirty="0"/>
            </a:br>
            <a:endParaRPr lang="zh-CN" altLang="en-US" dirty="0"/>
          </a:p>
        </p:txBody>
      </p:sp>
      <p:sp>
        <p:nvSpPr>
          <p:cNvPr id="2" name="内容占位符 1"/>
          <p:cNvSpPr>
            <a:spLocks noGrp="1"/>
          </p:cNvSpPr>
          <p:nvPr>
            <p:ph idx="1"/>
          </p:nvPr>
        </p:nvSpPr>
        <p:spPr/>
        <p:txBody>
          <a:bodyPr/>
          <a:lstStyle/>
          <a:p>
            <a:pPr>
              <a:lnSpc>
                <a:spcPct val="90000"/>
              </a:lnSpc>
            </a:pPr>
            <a:r>
              <a:rPr lang="zh-CN" altLang="en-US" dirty="0"/>
              <a:t>每个人都处在特定的社会文化环境中，文化对自卑心理影响很重要。根据米德等人的研新几内亚的三个民族的人格特征，居住在湖泊地带的张布里族，男女角色差异明显，女性是社会的主体，她们每天劳动，掌握经济实权。男性处于从属地位，主要从事艺术 工艺与祭祀活动并承担孩子的养育责任。这种分工使该地区的男人有明显的自卑。</a:t>
            </a:r>
          </a:p>
          <a:p>
            <a:endParaRPr lang="zh-CN" altLang="en-US" dirty="0"/>
          </a:p>
        </p:txBody>
      </p:sp>
    </p:spTree>
    <p:extLst>
      <p:ext uri="{BB962C8B-B14F-4D97-AF65-F5344CB8AC3E}">
        <p14:creationId xmlns:p14="http://schemas.microsoft.com/office/powerpoint/2010/main" val="111833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成长经历有关</a:t>
            </a:r>
            <a:br>
              <a:rPr lang="zh-CN" altLang="en-US" dirty="0"/>
            </a:br>
            <a:endParaRPr lang="zh-CN" altLang="en-US" dirty="0"/>
          </a:p>
        </p:txBody>
      </p:sp>
      <p:sp>
        <p:nvSpPr>
          <p:cNvPr id="2" name="内容占位符 1"/>
          <p:cNvSpPr>
            <a:spLocks noGrp="1"/>
          </p:cNvSpPr>
          <p:nvPr>
            <p:ph idx="1"/>
          </p:nvPr>
        </p:nvSpPr>
        <p:spPr/>
        <p:txBody>
          <a:bodyPr/>
          <a:lstStyle/>
          <a:p>
            <a:r>
              <a:rPr lang="zh-CN" altLang="en-US" dirty="0"/>
              <a:t>人的一生不能说漫长也不能说太短，但真正对人产生深刻影响的关键时期就那么几个，其中童年经历的影响尤深。心理科学的研究已证实，不少心理问题都可在早期生活中找到症结， 自卑作为一种消极的心态也不例外。</a:t>
            </a:r>
          </a:p>
          <a:p>
            <a:endParaRPr lang="zh-CN" altLang="en-US" dirty="0"/>
          </a:p>
        </p:txBody>
      </p:sp>
    </p:spTree>
    <p:extLst>
      <p:ext uri="{BB962C8B-B14F-4D97-AF65-F5344CB8AC3E}">
        <p14:creationId xmlns:p14="http://schemas.microsoft.com/office/powerpoint/2010/main" val="307623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个人性格特点</a:t>
            </a:r>
            <a:br>
              <a:rPr lang="zh-CN" altLang="en-US" dirty="0"/>
            </a:br>
            <a:endParaRPr lang="zh-CN" altLang="en-US" dirty="0"/>
          </a:p>
        </p:txBody>
      </p:sp>
      <p:sp>
        <p:nvSpPr>
          <p:cNvPr id="2" name="内容占位符 1"/>
          <p:cNvSpPr>
            <a:spLocks noGrp="1"/>
          </p:cNvSpPr>
          <p:nvPr>
            <p:ph idx="1"/>
          </p:nvPr>
        </p:nvSpPr>
        <p:spPr/>
        <p:txBody>
          <a:bodyPr>
            <a:normAutofit lnSpcReduction="10000"/>
          </a:bodyPr>
          <a:lstStyle/>
          <a:p>
            <a:pPr>
              <a:lnSpc>
                <a:spcPct val="90000"/>
              </a:lnSpc>
            </a:pPr>
            <a:r>
              <a:rPr lang="zh-CN" altLang="en-US" dirty="0"/>
              <a:t>气质抑郁、性格内向者大都对事物的感受性强，对事物带来的消极后果有放大趋向，而且不容易将其消极体验及时宣泄和排解。因而外界因素对他们心理的影响往往要比对其他气质、性格类型者的影响大，产生自卑的可能性也相应增大。</a:t>
            </a:r>
          </a:p>
          <a:p>
            <a:pPr>
              <a:lnSpc>
                <a:spcPct val="90000"/>
              </a:lnSpc>
            </a:pPr>
            <a:r>
              <a:rPr lang="zh-CN" altLang="en-US" dirty="0"/>
              <a:t>而意志品质表现为自觉性、果断性和自制力的学生在其上进心、自尊心受到压抑时，不是变得自卑，而是激起更强烈的自尊，及时调整自己的行动，以更大的干劲冲破压抑，努力拼出一条成功之路来。但有自卑心理的学生则正好相反，在经过一番努力后尚无效果，便会泄气，认为自己不行，于是变得自卑起来。 会对社会 产生恐惧感。无法正常的接触社会上的人。 </a:t>
            </a:r>
          </a:p>
          <a:p>
            <a:endParaRPr lang="zh-CN" altLang="en-US" dirty="0"/>
          </a:p>
        </p:txBody>
      </p:sp>
    </p:spTree>
    <p:extLst>
      <p:ext uri="{BB962C8B-B14F-4D97-AF65-F5344CB8AC3E}">
        <p14:creationId xmlns:p14="http://schemas.microsoft.com/office/powerpoint/2010/main" val="1731104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itchFamily="2" charset="-122"/>
              </a:rPr>
              <a:t>自卑测试题</a:t>
            </a:r>
            <a:r>
              <a:rPr lang="en-US" altLang="zh-CN" dirty="0">
                <a:latin typeface="黑体" pitchFamily="2" charset="-122"/>
              </a:rPr>
              <a:t>:</a:t>
            </a:r>
            <a:r>
              <a:rPr lang="zh-CN" altLang="en-US" dirty="0">
                <a:latin typeface="黑体" pitchFamily="2" charset="-122"/>
              </a:rPr>
              <a:t>何种原因产生的自卑</a:t>
            </a:r>
            <a:endParaRPr lang="zh-CN" altLang="en-US" dirty="0"/>
          </a:p>
        </p:txBody>
      </p:sp>
      <p:sp>
        <p:nvSpPr>
          <p:cNvPr id="2" name="内容占位符 1"/>
          <p:cNvSpPr>
            <a:spLocks noGrp="1"/>
          </p:cNvSpPr>
          <p:nvPr>
            <p:ph idx="1"/>
          </p:nvPr>
        </p:nvSpPr>
        <p:spPr/>
        <p:txBody>
          <a:bodyPr/>
          <a:lstStyle/>
          <a:p>
            <a:r>
              <a:rPr lang="zh-CN" altLang="en-US" dirty="0"/>
              <a:t>请你认真完成下列选择题</a:t>
            </a:r>
            <a:r>
              <a:rPr lang="en-US" altLang="zh-CN" dirty="0"/>
              <a:t>,</a:t>
            </a:r>
            <a:r>
              <a:rPr lang="zh-CN" altLang="en-US" dirty="0"/>
              <a:t>并将总分与结果对照</a:t>
            </a:r>
            <a:r>
              <a:rPr lang="en-US" altLang="zh-CN" dirty="0"/>
              <a:t>,</a:t>
            </a:r>
            <a:r>
              <a:rPr lang="zh-CN" altLang="en-US" dirty="0"/>
              <a:t>可以从中发生你是不是自卑的人</a:t>
            </a:r>
            <a:r>
              <a:rPr lang="en-US" altLang="zh-CN" dirty="0"/>
              <a:t>,</a:t>
            </a:r>
            <a:r>
              <a:rPr lang="zh-CN" altLang="en-US" dirty="0"/>
              <a:t>并找到自卑的原因</a:t>
            </a:r>
            <a:r>
              <a:rPr lang="en-US" altLang="zh-CN" dirty="0"/>
              <a:t>.</a:t>
            </a:r>
            <a:r>
              <a:rPr lang="zh-CN" altLang="en-US" dirty="0"/>
              <a:t>此测验有助于你走出自卑</a:t>
            </a:r>
            <a:r>
              <a:rPr lang="en-US" altLang="zh-CN" dirty="0"/>
              <a:t>,</a:t>
            </a:r>
            <a:r>
              <a:rPr lang="zh-CN" altLang="en-US" dirty="0"/>
              <a:t>树立自信</a:t>
            </a:r>
            <a:r>
              <a:rPr lang="en-US" altLang="zh-CN" dirty="0"/>
              <a:t>. </a:t>
            </a:r>
          </a:p>
          <a:p>
            <a:endParaRPr lang="zh-CN" altLang="en-US" dirty="0"/>
          </a:p>
        </p:txBody>
      </p:sp>
    </p:spTree>
    <p:extLst>
      <p:ext uri="{BB962C8B-B14F-4D97-AF65-F5344CB8AC3E}">
        <p14:creationId xmlns:p14="http://schemas.microsoft.com/office/powerpoint/2010/main" val="2682144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en-US" altLang="zh-CN" dirty="0"/>
              <a:t>1, </a:t>
            </a:r>
            <a:r>
              <a:rPr lang="zh-CN" altLang="en-US" dirty="0"/>
              <a:t>与周围人相比</a:t>
            </a:r>
            <a:r>
              <a:rPr lang="en-US" altLang="zh-CN" dirty="0"/>
              <a:t>,</a:t>
            </a:r>
            <a:r>
              <a:rPr lang="zh-CN" altLang="en-US" dirty="0"/>
              <a:t>你的身高如何 </a:t>
            </a:r>
            <a:r>
              <a:rPr lang="en-US" altLang="zh-CN" dirty="0"/>
              <a:t>A .</a:t>
            </a:r>
            <a:r>
              <a:rPr lang="zh-CN" altLang="en-US" dirty="0"/>
              <a:t>相当矮</a:t>
            </a:r>
            <a:r>
              <a:rPr lang="en-US" altLang="zh-CN" dirty="0"/>
              <a:t>. B .</a:t>
            </a:r>
            <a:r>
              <a:rPr lang="zh-CN" altLang="en-US" dirty="0"/>
              <a:t>差不多</a:t>
            </a:r>
            <a:r>
              <a:rPr lang="en-US" altLang="zh-CN" dirty="0"/>
              <a:t>. C .</a:t>
            </a:r>
            <a:r>
              <a:rPr lang="zh-CN" altLang="en-US" dirty="0"/>
              <a:t>高</a:t>
            </a:r>
            <a:r>
              <a:rPr lang="en-US" altLang="zh-CN" dirty="0"/>
              <a:t>.</a:t>
            </a:r>
            <a:br>
              <a:rPr lang="en-US" altLang="zh-CN" dirty="0"/>
            </a:br>
            <a:r>
              <a:rPr lang="en-US" altLang="zh-CN" dirty="0"/>
              <a:t>2 ,</a:t>
            </a:r>
            <a:r>
              <a:rPr lang="zh-CN" altLang="en-US" dirty="0"/>
              <a:t>早晨照镜子时</a:t>
            </a:r>
            <a:r>
              <a:rPr lang="en-US" altLang="zh-CN" dirty="0"/>
              <a:t>,</a:t>
            </a:r>
            <a:r>
              <a:rPr lang="zh-CN" altLang="en-US" dirty="0"/>
              <a:t>第一个念头是什么 </a:t>
            </a:r>
            <a:br>
              <a:rPr lang="zh-CN" altLang="en-US" dirty="0"/>
            </a:br>
            <a:r>
              <a:rPr lang="en-US" altLang="zh-CN" dirty="0"/>
              <a:t>A .</a:t>
            </a:r>
            <a:r>
              <a:rPr lang="zh-CN" altLang="en-US" dirty="0"/>
              <a:t>再漂亮点就好了</a:t>
            </a:r>
            <a:r>
              <a:rPr lang="en-US" altLang="zh-CN" dirty="0"/>
              <a:t>. B .</a:t>
            </a:r>
            <a:r>
              <a:rPr lang="zh-CN" altLang="en-US" dirty="0"/>
              <a:t>想精心打扮一下</a:t>
            </a:r>
            <a:r>
              <a:rPr lang="en-US" altLang="zh-CN" dirty="0"/>
              <a:t>. C .</a:t>
            </a:r>
            <a:r>
              <a:rPr lang="zh-CN" altLang="en-US" dirty="0"/>
              <a:t>别无它想</a:t>
            </a:r>
            <a:r>
              <a:rPr lang="en-US" altLang="zh-CN" dirty="0"/>
              <a:t>,</a:t>
            </a:r>
            <a:r>
              <a:rPr lang="zh-CN" altLang="en-US" dirty="0"/>
              <a:t>无所介意</a:t>
            </a:r>
            <a:r>
              <a:rPr lang="en-US" altLang="zh-CN" dirty="0"/>
              <a:t>.</a:t>
            </a:r>
            <a:br>
              <a:rPr lang="en-US" altLang="zh-CN" dirty="0"/>
            </a:br>
            <a:r>
              <a:rPr lang="en-US" altLang="zh-CN" dirty="0"/>
              <a:t>3, </a:t>
            </a:r>
            <a:r>
              <a:rPr lang="zh-CN" altLang="en-US" dirty="0"/>
              <a:t>当你心爱的异性被比你更漂亮的同性追求时</a:t>
            </a:r>
            <a:r>
              <a:rPr lang="en-US" altLang="zh-CN" dirty="0"/>
              <a:t>,</a:t>
            </a:r>
            <a:r>
              <a:rPr lang="zh-CN" altLang="en-US" dirty="0"/>
              <a:t>你会怎样 </a:t>
            </a:r>
            <a:br>
              <a:rPr lang="zh-CN" altLang="en-US" dirty="0"/>
            </a:br>
            <a:r>
              <a:rPr lang="en-US" altLang="zh-CN" dirty="0"/>
              <a:t>A .</a:t>
            </a:r>
            <a:r>
              <a:rPr lang="zh-CN" altLang="en-US" dirty="0"/>
              <a:t>灰心丧气</a:t>
            </a:r>
            <a:r>
              <a:rPr lang="en-US" altLang="zh-CN" dirty="0"/>
              <a:t>. B .</a:t>
            </a:r>
            <a:r>
              <a:rPr lang="zh-CN" altLang="en-US" dirty="0"/>
              <a:t>向那异性挑战</a:t>
            </a:r>
            <a:r>
              <a:rPr lang="en-US" altLang="zh-CN" dirty="0"/>
              <a:t>. C .</a:t>
            </a:r>
            <a:r>
              <a:rPr lang="zh-CN" altLang="en-US" dirty="0"/>
              <a:t>毫不在乎</a:t>
            </a:r>
            <a:r>
              <a:rPr lang="en-US" altLang="zh-CN" dirty="0"/>
              <a:t>.</a:t>
            </a:r>
            <a:br>
              <a:rPr lang="en-US" altLang="zh-CN" dirty="0"/>
            </a:br>
            <a:r>
              <a:rPr lang="en-US" altLang="zh-CN" dirty="0"/>
              <a:t>4 ,</a:t>
            </a:r>
            <a:r>
              <a:rPr lang="zh-CN" altLang="en-US" dirty="0"/>
              <a:t>老师批过的考卷发下来</a:t>
            </a:r>
            <a:r>
              <a:rPr lang="en-US" altLang="zh-CN" dirty="0"/>
              <a:t>,</a:t>
            </a:r>
            <a:r>
              <a:rPr lang="zh-CN" altLang="en-US" dirty="0"/>
              <a:t>朋友要看怎么办 </a:t>
            </a:r>
            <a:br>
              <a:rPr lang="zh-CN" altLang="en-US" dirty="0"/>
            </a:br>
            <a:r>
              <a:rPr lang="en-US" altLang="zh-CN" dirty="0"/>
              <a:t>A .</a:t>
            </a:r>
            <a:r>
              <a:rPr lang="zh-CN" altLang="en-US" dirty="0"/>
              <a:t>将考卷藏起来</a:t>
            </a:r>
            <a:r>
              <a:rPr lang="en-US" altLang="zh-CN" dirty="0"/>
              <a:t>,</a:t>
            </a:r>
            <a:r>
              <a:rPr lang="zh-CN" altLang="en-US" dirty="0"/>
              <a:t>不给看</a:t>
            </a:r>
            <a:r>
              <a:rPr lang="en-US" altLang="zh-CN" dirty="0"/>
              <a:t>. B .</a:t>
            </a:r>
            <a:r>
              <a:rPr lang="zh-CN" altLang="en-US" dirty="0"/>
              <a:t>把打分的题目折起来</a:t>
            </a:r>
            <a:r>
              <a:rPr lang="en-US" altLang="zh-CN" dirty="0"/>
              <a:t>,</a:t>
            </a:r>
            <a:r>
              <a:rPr lang="zh-CN" altLang="en-US" dirty="0"/>
              <a:t>其余让朋友看</a:t>
            </a:r>
            <a:r>
              <a:rPr lang="en-US" altLang="zh-CN" dirty="0"/>
              <a:t>. C .</a:t>
            </a:r>
            <a:r>
              <a:rPr lang="zh-CN" altLang="en-US" dirty="0"/>
              <a:t>任他们看</a:t>
            </a:r>
            <a:r>
              <a:rPr lang="en-US" altLang="zh-CN" dirty="0"/>
              <a:t>.</a:t>
            </a:r>
            <a:endParaRPr lang="zh-CN" altLang="en-US" dirty="0"/>
          </a:p>
        </p:txBody>
      </p:sp>
    </p:spTree>
    <p:extLst>
      <p:ext uri="{BB962C8B-B14F-4D97-AF65-F5344CB8AC3E}">
        <p14:creationId xmlns:p14="http://schemas.microsoft.com/office/powerpoint/2010/main" val="1686594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pPr>
              <a:lnSpc>
                <a:spcPct val="90000"/>
              </a:lnSpc>
            </a:pPr>
            <a:r>
              <a:rPr lang="en-US" altLang="zh-CN" dirty="0"/>
              <a:t>5, </a:t>
            </a:r>
            <a:r>
              <a:rPr lang="zh-CN" altLang="en-US" dirty="0"/>
              <a:t>如果你在某些方面不管如何努力</a:t>
            </a:r>
            <a:r>
              <a:rPr lang="en-US" altLang="zh-CN" dirty="0"/>
              <a:t>,</a:t>
            </a:r>
            <a:r>
              <a:rPr lang="zh-CN" altLang="en-US" dirty="0"/>
              <a:t>总是输给竞争对手</a:t>
            </a:r>
            <a:r>
              <a:rPr lang="en-US" altLang="zh-CN" dirty="0"/>
              <a:t>,</a:t>
            </a:r>
            <a:r>
              <a:rPr lang="zh-CN" altLang="en-US" dirty="0"/>
              <a:t>会怎样 </a:t>
            </a:r>
          </a:p>
          <a:p>
            <a:pPr>
              <a:lnSpc>
                <a:spcPct val="90000"/>
              </a:lnSpc>
            </a:pPr>
            <a:r>
              <a:rPr lang="en-US" altLang="zh-CN" dirty="0"/>
              <a:t>A .</a:t>
            </a:r>
            <a:r>
              <a:rPr lang="zh-CN" altLang="en-US" dirty="0"/>
              <a:t>甘愿认输</a:t>
            </a:r>
            <a:r>
              <a:rPr lang="en-US" altLang="zh-CN" dirty="0"/>
              <a:t>. B .</a:t>
            </a:r>
            <a:r>
              <a:rPr lang="zh-CN" altLang="en-US" dirty="0"/>
              <a:t>继续挑战</a:t>
            </a:r>
            <a:r>
              <a:rPr lang="en-US" altLang="zh-CN" dirty="0"/>
              <a:t>,</a:t>
            </a:r>
            <a:r>
              <a:rPr lang="zh-CN" altLang="en-US" dirty="0"/>
              <a:t>并更加努力</a:t>
            </a:r>
            <a:r>
              <a:rPr lang="en-US" altLang="zh-CN" dirty="0"/>
              <a:t>. C .</a:t>
            </a:r>
            <a:r>
              <a:rPr lang="zh-CN" altLang="en-US" dirty="0"/>
              <a:t>在其他方面竞争</a:t>
            </a:r>
            <a:r>
              <a:rPr lang="en-US" altLang="zh-CN" dirty="0"/>
              <a:t>.</a:t>
            </a:r>
            <a:br>
              <a:rPr lang="en-US" altLang="zh-CN" dirty="0"/>
            </a:br>
            <a:r>
              <a:rPr lang="en-US" altLang="zh-CN" dirty="0"/>
              <a:t>6,</a:t>
            </a:r>
            <a:r>
              <a:rPr lang="zh-CN" altLang="en-US" dirty="0"/>
              <a:t>看到你的近照</a:t>
            </a:r>
            <a:r>
              <a:rPr lang="en-US" altLang="zh-CN" dirty="0"/>
              <a:t>,</a:t>
            </a:r>
            <a:r>
              <a:rPr lang="zh-CN" altLang="en-US" dirty="0"/>
              <a:t>有何想法 </a:t>
            </a:r>
            <a:br>
              <a:rPr lang="zh-CN" altLang="en-US" dirty="0"/>
            </a:br>
            <a:r>
              <a:rPr lang="en-US" altLang="zh-CN" dirty="0"/>
              <a:t>A .</a:t>
            </a:r>
            <a:r>
              <a:rPr lang="zh-CN" altLang="en-US" dirty="0"/>
              <a:t>不称心</a:t>
            </a:r>
            <a:r>
              <a:rPr lang="en-US" altLang="zh-CN" dirty="0"/>
              <a:t>. B .</a:t>
            </a:r>
            <a:r>
              <a:rPr lang="zh-CN" altLang="en-US" dirty="0"/>
              <a:t>拍得很好</a:t>
            </a:r>
            <a:r>
              <a:rPr lang="en-US" altLang="zh-CN" dirty="0"/>
              <a:t>. C .</a:t>
            </a:r>
            <a:r>
              <a:rPr lang="zh-CN" altLang="en-US" dirty="0"/>
              <a:t>还算可以</a:t>
            </a:r>
            <a:r>
              <a:rPr lang="en-US" altLang="zh-CN" dirty="0"/>
              <a:t>. </a:t>
            </a:r>
            <a:br>
              <a:rPr lang="en-US" altLang="zh-CN" dirty="0"/>
            </a:br>
            <a:r>
              <a:rPr lang="en-US" altLang="zh-CN" dirty="0"/>
              <a:t>7 ,</a:t>
            </a:r>
            <a:r>
              <a:rPr lang="zh-CN" altLang="en-US" dirty="0"/>
              <a:t>如果能够再次出生</a:t>
            </a:r>
            <a:r>
              <a:rPr lang="en-US" altLang="zh-CN" dirty="0"/>
              <a:t>,</a:t>
            </a:r>
            <a:r>
              <a:rPr lang="zh-CN" altLang="en-US" dirty="0"/>
              <a:t>你想做</a:t>
            </a:r>
            <a:r>
              <a:rPr lang="en-US" altLang="zh-CN" dirty="0"/>
              <a:t>: </a:t>
            </a:r>
            <a:br>
              <a:rPr lang="en-US" altLang="zh-CN" dirty="0"/>
            </a:br>
            <a:r>
              <a:rPr lang="en-US" altLang="zh-CN" dirty="0"/>
              <a:t>A .</a:t>
            </a:r>
            <a:r>
              <a:rPr lang="zh-CN" altLang="en-US" dirty="0"/>
              <a:t>异性</a:t>
            </a:r>
            <a:r>
              <a:rPr lang="en-US" altLang="zh-CN" dirty="0"/>
              <a:t>. B .</a:t>
            </a:r>
            <a:r>
              <a:rPr lang="zh-CN" altLang="en-US" dirty="0"/>
              <a:t>同性</a:t>
            </a:r>
            <a:r>
              <a:rPr lang="en-US" altLang="zh-CN" dirty="0"/>
              <a:t>. C .</a:t>
            </a:r>
            <a:r>
              <a:rPr lang="zh-CN" altLang="en-US" dirty="0"/>
              <a:t>同性</a:t>
            </a:r>
            <a:r>
              <a:rPr lang="en-US" altLang="zh-CN" dirty="0"/>
              <a:t>,</a:t>
            </a:r>
            <a:r>
              <a:rPr lang="zh-CN" altLang="en-US" dirty="0"/>
              <a:t>异性均无所谓</a:t>
            </a:r>
            <a:r>
              <a:rPr lang="en-US" altLang="zh-CN" dirty="0"/>
              <a:t>.</a:t>
            </a:r>
            <a:br>
              <a:rPr lang="en-US" altLang="zh-CN" dirty="0"/>
            </a:br>
            <a:r>
              <a:rPr lang="en-US" altLang="zh-CN" dirty="0"/>
              <a:t>8, </a:t>
            </a:r>
            <a:r>
              <a:rPr lang="zh-CN" altLang="en-US" dirty="0"/>
              <a:t>是否想过几年后会有使你不安的事 </a:t>
            </a:r>
            <a:br>
              <a:rPr lang="zh-CN" altLang="en-US" dirty="0"/>
            </a:br>
            <a:r>
              <a:rPr lang="en-US" altLang="zh-CN" dirty="0"/>
              <a:t>A .</a:t>
            </a:r>
            <a:r>
              <a:rPr lang="zh-CN" altLang="en-US" dirty="0"/>
              <a:t>常想</a:t>
            </a:r>
            <a:r>
              <a:rPr lang="en-US" altLang="zh-CN" dirty="0"/>
              <a:t>. B .</a:t>
            </a:r>
            <a:r>
              <a:rPr lang="zh-CN" altLang="en-US" dirty="0"/>
              <a:t>没想过</a:t>
            </a:r>
            <a:r>
              <a:rPr lang="en-US" altLang="zh-CN" dirty="0"/>
              <a:t>. C .</a:t>
            </a:r>
            <a:r>
              <a:rPr lang="zh-CN" altLang="en-US" dirty="0"/>
              <a:t>偶尔想</a:t>
            </a:r>
            <a:r>
              <a:rPr lang="en-US" altLang="zh-CN" dirty="0"/>
              <a:t>.</a:t>
            </a:r>
            <a:br>
              <a:rPr lang="en-US" altLang="zh-CN" dirty="0"/>
            </a:br>
            <a:endParaRPr lang="zh-CN" altLang="en-US" dirty="0"/>
          </a:p>
        </p:txBody>
      </p:sp>
    </p:spTree>
    <p:extLst>
      <p:ext uri="{BB962C8B-B14F-4D97-AF65-F5344CB8AC3E}">
        <p14:creationId xmlns:p14="http://schemas.microsoft.com/office/powerpoint/2010/main" val="3716313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en-US" altLang="zh-CN" dirty="0"/>
              <a:t>9,</a:t>
            </a:r>
            <a:r>
              <a:rPr lang="zh-CN" altLang="en-US" dirty="0"/>
              <a:t>被朋友起过绰号</a:t>
            </a:r>
            <a:r>
              <a:rPr lang="en-US" altLang="zh-CN" dirty="0"/>
              <a:t>,</a:t>
            </a:r>
            <a:r>
              <a:rPr lang="zh-CN" altLang="en-US" dirty="0"/>
              <a:t>挖苦过吗 </a:t>
            </a:r>
            <a:br>
              <a:rPr lang="zh-CN" altLang="en-US" dirty="0"/>
            </a:br>
            <a:r>
              <a:rPr lang="en-US" altLang="zh-CN" dirty="0"/>
              <a:t>A .</a:t>
            </a:r>
            <a:r>
              <a:rPr lang="zh-CN" altLang="en-US" dirty="0"/>
              <a:t>常被</a:t>
            </a:r>
            <a:r>
              <a:rPr lang="en-US" altLang="zh-CN" dirty="0"/>
              <a:t>. B .</a:t>
            </a:r>
            <a:r>
              <a:rPr lang="zh-CN" altLang="en-US" dirty="0"/>
              <a:t>没有过</a:t>
            </a:r>
            <a:r>
              <a:rPr lang="en-US" altLang="zh-CN" dirty="0"/>
              <a:t>. C .</a:t>
            </a:r>
            <a:r>
              <a:rPr lang="zh-CN" altLang="en-US" dirty="0"/>
              <a:t>偶尔有</a:t>
            </a:r>
            <a:r>
              <a:rPr lang="en-US" altLang="zh-CN" dirty="0"/>
              <a:t>.</a:t>
            </a:r>
            <a:br>
              <a:rPr lang="en-US" altLang="zh-CN" dirty="0"/>
            </a:br>
            <a:r>
              <a:rPr lang="en-US" altLang="zh-CN" dirty="0"/>
              <a:t>10,</a:t>
            </a:r>
            <a:r>
              <a:rPr lang="zh-CN" altLang="en-US" dirty="0"/>
              <a:t>对体育运动</a:t>
            </a:r>
            <a:r>
              <a:rPr lang="en-US" altLang="zh-CN" dirty="0"/>
              <a:t>,</a:t>
            </a:r>
            <a:r>
              <a:rPr lang="zh-CN" altLang="en-US" dirty="0"/>
              <a:t>有过</a:t>
            </a:r>
            <a:r>
              <a:rPr lang="en-US" altLang="zh-CN" dirty="0"/>
              <a:t>"</a:t>
            </a:r>
            <a:r>
              <a:rPr lang="zh-CN" altLang="en-US" dirty="0"/>
              <a:t>自己不行</a:t>
            </a:r>
            <a:r>
              <a:rPr lang="en-US" altLang="zh-CN" dirty="0"/>
              <a:t>"</a:t>
            </a:r>
            <a:r>
              <a:rPr lang="zh-CN" altLang="en-US" dirty="0"/>
              <a:t>的感觉吗 </a:t>
            </a:r>
            <a:br>
              <a:rPr lang="zh-CN" altLang="en-US" dirty="0"/>
            </a:br>
            <a:r>
              <a:rPr lang="en-US" altLang="zh-CN" dirty="0"/>
              <a:t>A .</a:t>
            </a:r>
            <a:r>
              <a:rPr lang="zh-CN" altLang="en-US" dirty="0"/>
              <a:t>常有</a:t>
            </a:r>
            <a:r>
              <a:rPr lang="en-US" altLang="zh-CN" dirty="0"/>
              <a:t>. B .</a:t>
            </a:r>
            <a:r>
              <a:rPr lang="zh-CN" altLang="en-US" dirty="0"/>
              <a:t>没有</a:t>
            </a:r>
            <a:r>
              <a:rPr lang="en-US" altLang="zh-CN" dirty="0"/>
              <a:t>. C .</a:t>
            </a:r>
            <a:r>
              <a:rPr lang="zh-CN" altLang="en-US" dirty="0"/>
              <a:t>偶尔有</a:t>
            </a:r>
            <a:r>
              <a:rPr lang="en-US" altLang="zh-CN" dirty="0"/>
              <a:t>.</a:t>
            </a:r>
            <a:br>
              <a:rPr lang="en-US" altLang="zh-CN" dirty="0"/>
            </a:br>
            <a:r>
              <a:rPr lang="en-US" altLang="zh-CN" dirty="0"/>
              <a:t>11, </a:t>
            </a:r>
            <a:r>
              <a:rPr lang="zh-CN" altLang="en-US" dirty="0"/>
              <a:t>碰到寂寞和讨厌之事时</a:t>
            </a:r>
            <a:r>
              <a:rPr lang="en-US" altLang="zh-CN" dirty="0"/>
              <a:t>,</a:t>
            </a:r>
            <a:r>
              <a:rPr lang="zh-CN" altLang="en-US" dirty="0"/>
              <a:t>会怎样 </a:t>
            </a:r>
            <a:br>
              <a:rPr lang="zh-CN" altLang="en-US" dirty="0"/>
            </a:br>
            <a:r>
              <a:rPr lang="en-US" altLang="zh-CN" dirty="0"/>
              <a:t>A .</a:t>
            </a:r>
            <a:r>
              <a:rPr lang="zh-CN" altLang="en-US" dirty="0"/>
              <a:t>在吃喝玩乐时忘却</a:t>
            </a:r>
            <a:r>
              <a:rPr lang="en-US" altLang="zh-CN" dirty="0"/>
              <a:t>. B .</a:t>
            </a:r>
            <a:r>
              <a:rPr lang="zh-CN" altLang="en-US" dirty="0"/>
              <a:t>陷入深深的烦恼之中</a:t>
            </a:r>
            <a:r>
              <a:rPr lang="en-US" altLang="zh-CN" dirty="0"/>
              <a:t>. C .</a:t>
            </a:r>
            <a:r>
              <a:rPr lang="zh-CN" altLang="en-US" dirty="0"/>
              <a:t>向朋友和父母诉说</a:t>
            </a:r>
            <a:r>
              <a:rPr lang="en-US" altLang="zh-CN" dirty="0"/>
              <a:t>.</a:t>
            </a:r>
            <a:br>
              <a:rPr lang="en-US" altLang="zh-CN" dirty="0"/>
            </a:br>
            <a:r>
              <a:rPr lang="en-US" altLang="zh-CN" dirty="0"/>
              <a:t>12,</a:t>
            </a:r>
            <a:r>
              <a:rPr lang="zh-CN" altLang="en-US" dirty="0"/>
              <a:t>你受周围人们的欢迎和爱戴吗 </a:t>
            </a:r>
            <a:br>
              <a:rPr lang="zh-CN" altLang="en-US" dirty="0"/>
            </a:br>
            <a:r>
              <a:rPr lang="en-US" altLang="zh-CN" dirty="0"/>
              <a:t>A .</a:t>
            </a:r>
            <a:r>
              <a:rPr lang="zh-CN" altLang="en-US" dirty="0"/>
              <a:t>受</a:t>
            </a:r>
            <a:r>
              <a:rPr lang="en-US" altLang="zh-CN" dirty="0"/>
              <a:t>. B .</a:t>
            </a:r>
            <a:r>
              <a:rPr lang="zh-CN" altLang="en-US" dirty="0"/>
              <a:t>不受</a:t>
            </a:r>
            <a:r>
              <a:rPr lang="en-US" altLang="zh-CN" dirty="0"/>
              <a:t>. C .</a:t>
            </a:r>
            <a:r>
              <a:rPr lang="zh-CN" altLang="en-US" dirty="0"/>
              <a:t>不知道是否受</a:t>
            </a:r>
            <a:r>
              <a:rPr lang="en-US" altLang="zh-CN" dirty="0"/>
              <a:t>.</a:t>
            </a:r>
            <a:br>
              <a:rPr lang="en-US" altLang="zh-CN" dirty="0"/>
            </a:br>
            <a:endParaRPr lang="zh-CN" altLang="en-US" dirty="0"/>
          </a:p>
        </p:txBody>
      </p:sp>
    </p:spTree>
    <p:extLst>
      <p:ext uri="{BB962C8B-B14F-4D97-AF65-F5344CB8AC3E}">
        <p14:creationId xmlns:p14="http://schemas.microsoft.com/office/powerpoint/2010/main" val="2528249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en-US" altLang="zh-CN" dirty="0"/>
              <a:t>13,</a:t>
            </a:r>
            <a:r>
              <a:rPr lang="zh-CN" altLang="en-US" dirty="0"/>
              <a:t>有过在某件事上绝不亚于他人的自信吗 </a:t>
            </a:r>
            <a:br>
              <a:rPr lang="zh-CN" altLang="en-US" dirty="0"/>
            </a:br>
            <a:r>
              <a:rPr lang="en-US" altLang="zh-CN" dirty="0"/>
              <a:t>A .</a:t>
            </a:r>
            <a:r>
              <a:rPr lang="zh-CN" altLang="en-US" dirty="0"/>
              <a:t>有过几次</a:t>
            </a:r>
            <a:r>
              <a:rPr lang="en-US" altLang="zh-CN" dirty="0"/>
              <a:t>. B .</a:t>
            </a:r>
            <a:r>
              <a:rPr lang="zh-CN" altLang="en-US" dirty="0"/>
              <a:t>没有过</a:t>
            </a:r>
            <a:r>
              <a:rPr lang="en-US" altLang="zh-CN" dirty="0"/>
              <a:t>. C .</a:t>
            </a:r>
            <a:r>
              <a:rPr lang="zh-CN" altLang="en-US" dirty="0"/>
              <a:t>没考虑过</a:t>
            </a:r>
            <a:r>
              <a:rPr lang="en-US" altLang="zh-CN" dirty="0"/>
              <a:t>.</a:t>
            </a:r>
            <a:br>
              <a:rPr lang="en-US" altLang="zh-CN" dirty="0"/>
            </a:br>
            <a:r>
              <a:rPr lang="en-US" altLang="zh-CN" dirty="0"/>
              <a:t>4,</a:t>
            </a:r>
            <a:r>
              <a:rPr lang="zh-CN" altLang="en-US" dirty="0"/>
              <a:t>被异性称做</a:t>
            </a:r>
            <a:r>
              <a:rPr lang="en-US" altLang="zh-CN" dirty="0"/>
              <a:t>"</a:t>
            </a:r>
            <a:r>
              <a:rPr lang="zh-CN" altLang="en-US" dirty="0"/>
              <a:t>不知趣的蠢东西</a:t>
            </a:r>
            <a:r>
              <a:rPr lang="en-US" altLang="zh-CN" dirty="0"/>
              <a:t>"</a:t>
            </a:r>
            <a:r>
              <a:rPr lang="zh-CN" altLang="en-US" dirty="0"/>
              <a:t>时</a:t>
            </a:r>
            <a:r>
              <a:rPr lang="en-US" altLang="zh-CN" dirty="0"/>
              <a:t>,</a:t>
            </a:r>
            <a:r>
              <a:rPr lang="zh-CN" altLang="en-US" dirty="0"/>
              <a:t>你会怎样 </a:t>
            </a:r>
            <a:br>
              <a:rPr lang="zh-CN" altLang="en-US" dirty="0"/>
            </a:br>
            <a:r>
              <a:rPr lang="en-US" altLang="zh-CN" dirty="0"/>
              <a:t>A .</a:t>
            </a:r>
            <a:r>
              <a:rPr lang="zh-CN" altLang="en-US" dirty="0"/>
              <a:t>不在乎</a:t>
            </a:r>
            <a:r>
              <a:rPr lang="en-US" altLang="zh-CN" dirty="0"/>
              <a:t>. B . </a:t>
            </a:r>
            <a:r>
              <a:rPr lang="zh-CN" altLang="en-US" dirty="0"/>
              <a:t>因难过而流泪</a:t>
            </a:r>
            <a:r>
              <a:rPr lang="en-US" altLang="zh-CN" dirty="0"/>
              <a:t>. C .</a:t>
            </a:r>
            <a:r>
              <a:rPr lang="zh-CN" altLang="en-US" dirty="0"/>
              <a:t>回敬</a:t>
            </a:r>
            <a:r>
              <a:rPr lang="en-US" altLang="zh-CN" dirty="0"/>
              <a:t>:"</a:t>
            </a:r>
            <a:r>
              <a:rPr lang="zh-CN" altLang="en-US" dirty="0"/>
              <a:t>笨蛋</a:t>
            </a:r>
            <a:r>
              <a:rPr lang="en-US" altLang="zh-CN" dirty="0"/>
              <a:t>!</a:t>
            </a:r>
            <a:r>
              <a:rPr lang="zh-CN" altLang="en-US" dirty="0"/>
              <a:t>没教养</a:t>
            </a:r>
            <a:r>
              <a:rPr lang="en-US" altLang="zh-CN" dirty="0"/>
              <a:t>!"</a:t>
            </a:r>
            <a:br>
              <a:rPr lang="en-US" altLang="zh-CN" dirty="0"/>
            </a:br>
            <a:r>
              <a:rPr lang="en-US" altLang="zh-CN" dirty="0"/>
              <a:t>15, </a:t>
            </a:r>
            <a:r>
              <a:rPr lang="zh-CN" altLang="en-US" dirty="0"/>
              <a:t>如听到朋友在说你喜欢的人的坏话</a:t>
            </a:r>
            <a:r>
              <a:rPr lang="en-US" altLang="zh-CN" dirty="0"/>
              <a:t>,</a:t>
            </a:r>
            <a:r>
              <a:rPr lang="zh-CN" altLang="en-US" dirty="0"/>
              <a:t>会怎样 </a:t>
            </a:r>
            <a:br>
              <a:rPr lang="zh-CN" altLang="en-US" dirty="0"/>
            </a:br>
            <a:r>
              <a:rPr lang="en-US" altLang="zh-CN" dirty="0"/>
              <a:t>A .</a:t>
            </a:r>
            <a:r>
              <a:rPr lang="zh-CN" altLang="en-US" dirty="0"/>
              <a:t>断然反驳</a:t>
            </a:r>
            <a:r>
              <a:rPr lang="en-US" altLang="zh-CN" dirty="0"/>
              <a:t>. B .</a:t>
            </a:r>
            <a:r>
              <a:rPr lang="zh-CN" altLang="en-US" dirty="0"/>
              <a:t>有所担心</a:t>
            </a:r>
            <a:r>
              <a:rPr lang="en-US" altLang="zh-CN" dirty="0"/>
              <a:t>. C .</a:t>
            </a:r>
            <a:r>
              <a:rPr lang="zh-CN" altLang="en-US" dirty="0"/>
              <a:t>让别人说去</a:t>
            </a:r>
            <a:r>
              <a:rPr lang="en-US" altLang="zh-CN" dirty="0"/>
              <a:t>. </a:t>
            </a:r>
            <a:br>
              <a:rPr lang="en-US" altLang="zh-CN" dirty="0"/>
            </a:br>
            <a:endParaRPr lang="zh-CN" altLang="en-US" dirty="0"/>
          </a:p>
        </p:txBody>
      </p:sp>
    </p:spTree>
    <p:extLst>
      <p:ext uri="{BB962C8B-B14F-4D97-AF65-F5344CB8AC3E}">
        <p14:creationId xmlns:p14="http://schemas.microsoft.com/office/powerpoint/2010/main" val="2918205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itchFamily="2" charset="-122"/>
              </a:rPr>
              <a:t>自卑测试</a:t>
            </a:r>
            <a:endParaRPr lang="zh-CN" altLang="en-US" dirty="0"/>
          </a:p>
        </p:txBody>
      </p:sp>
      <p:sp>
        <p:nvSpPr>
          <p:cNvPr id="2" name="内容占位符 1"/>
          <p:cNvSpPr>
            <a:spLocks noGrp="1"/>
          </p:cNvSpPr>
          <p:nvPr>
            <p:ph idx="1"/>
          </p:nvPr>
        </p:nvSpPr>
        <p:spPr/>
        <p:txBody>
          <a:bodyPr/>
          <a:lstStyle/>
          <a:p>
            <a:r>
              <a:rPr lang="zh-CN" altLang="en-US" dirty="0"/>
              <a:t>说明</a:t>
            </a:r>
            <a:r>
              <a:rPr lang="en-US" altLang="zh-CN" dirty="0"/>
              <a:t>:</a:t>
            </a:r>
            <a:br>
              <a:rPr lang="en-US" altLang="zh-CN" dirty="0"/>
            </a:br>
            <a:r>
              <a:rPr lang="en-US" altLang="zh-CN" dirty="0"/>
              <a:t>1-5</a:t>
            </a:r>
            <a:r>
              <a:rPr lang="zh-CN" altLang="en-US" dirty="0"/>
              <a:t>题的得分说明</a:t>
            </a:r>
            <a:r>
              <a:rPr lang="en-US" altLang="zh-CN" dirty="0"/>
              <a:t>,</a:t>
            </a:r>
            <a:r>
              <a:rPr lang="zh-CN" altLang="en-US" dirty="0"/>
              <a:t>选</a:t>
            </a:r>
            <a:r>
              <a:rPr lang="en-US" altLang="zh-CN" dirty="0"/>
              <a:t>A</a:t>
            </a:r>
            <a:r>
              <a:rPr lang="zh-CN" altLang="en-US" dirty="0"/>
              <a:t>得</a:t>
            </a:r>
            <a:r>
              <a:rPr lang="en-US" altLang="zh-CN" dirty="0"/>
              <a:t>5</a:t>
            </a:r>
            <a:r>
              <a:rPr lang="zh-CN" altLang="en-US" dirty="0"/>
              <a:t>分</a:t>
            </a:r>
            <a:r>
              <a:rPr lang="en-US" altLang="zh-CN" dirty="0"/>
              <a:t>,</a:t>
            </a:r>
            <a:r>
              <a:rPr lang="zh-CN" altLang="en-US" dirty="0"/>
              <a:t>选</a:t>
            </a:r>
            <a:r>
              <a:rPr lang="en-US" altLang="zh-CN" dirty="0"/>
              <a:t>B</a:t>
            </a:r>
            <a:r>
              <a:rPr lang="zh-CN" altLang="en-US" dirty="0"/>
              <a:t>得</a:t>
            </a:r>
            <a:r>
              <a:rPr lang="en-US" altLang="zh-CN" dirty="0"/>
              <a:t>3</a:t>
            </a:r>
            <a:r>
              <a:rPr lang="zh-CN" altLang="en-US" dirty="0"/>
              <a:t>分</a:t>
            </a:r>
            <a:r>
              <a:rPr lang="en-US" altLang="zh-CN" dirty="0"/>
              <a:t>,</a:t>
            </a:r>
            <a:r>
              <a:rPr lang="zh-CN" altLang="en-US" dirty="0"/>
              <a:t>选</a:t>
            </a:r>
            <a:r>
              <a:rPr lang="en-US" altLang="zh-CN" dirty="0"/>
              <a:t>C</a:t>
            </a:r>
            <a:r>
              <a:rPr lang="zh-CN" altLang="en-US" dirty="0"/>
              <a:t>得</a:t>
            </a:r>
            <a:r>
              <a:rPr lang="en-US" altLang="zh-CN" dirty="0"/>
              <a:t>1</a:t>
            </a:r>
            <a:r>
              <a:rPr lang="zh-CN" altLang="en-US" dirty="0"/>
              <a:t>分</a:t>
            </a:r>
            <a:r>
              <a:rPr lang="en-US" altLang="zh-CN" dirty="0"/>
              <a:t>.</a:t>
            </a:r>
            <a:br>
              <a:rPr lang="en-US" altLang="zh-CN" dirty="0"/>
            </a:br>
            <a:r>
              <a:rPr lang="en-US" altLang="zh-CN" dirty="0"/>
              <a:t>6-10</a:t>
            </a:r>
            <a:r>
              <a:rPr lang="zh-CN" altLang="en-US" dirty="0"/>
              <a:t>题的得分说明</a:t>
            </a:r>
            <a:r>
              <a:rPr lang="en-US" altLang="zh-CN" dirty="0"/>
              <a:t>,</a:t>
            </a:r>
            <a:r>
              <a:rPr lang="zh-CN" altLang="en-US" dirty="0"/>
              <a:t>选</a:t>
            </a:r>
            <a:r>
              <a:rPr lang="en-US" altLang="zh-CN" dirty="0"/>
              <a:t>A</a:t>
            </a:r>
            <a:r>
              <a:rPr lang="zh-CN" altLang="en-US" dirty="0"/>
              <a:t>得</a:t>
            </a:r>
            <a:r>
              <a:rPr lang="en-US" altLang="zh-CN" dirty="0"/>
              <a:t>5</a:t>
            </a:r>
            <a:r>
              <a:rPr lang="zh-CN" altLang="en-US" dirty="0"/>
              <a:t>分</a:t>
            </a:r>
            <a:r>
              <a:rPr lang="en-US" altLang="zh-CN" dirty="0"/>
              <a:t>,</a:t>
            </a:r>
            <a:r>
              <a:rPr lang="zh-CN" altLang="en-US" dirty="0"/>
              <a:t>选</a:t>
            </a:r>
            <a:r>
              <a:rPr lang="en-US" altLang="zh-CN" dirty="0"/>
              <a:t>B</a:t>
            </a:r>
            <a:r>
              <a:rPr lang="zh-CN" altLang="en-US" dirty="0"/>
              <a:t>得</a:t>
            </a:r>
            <a:r>
              <a:rPr lang="en-US" altLang="zh-CN" dirty="0"/>
              <a:t>1</a:t>
            </a:r>
            <a:r>
              <a:rPr lang="zh-CN" altLang="en-US" dirty="0"/>
              <a:t>分</a:t>
            </a:r>
            <a:r>
              <a:rPr lang="en-US" altLang="zh-CN" dirty="0"/>
              <a:t>,</a:t>
            </a:r>
            <a:r>
              <a:rPr lang="zh-CN" altLang="en-US" dirty="0"/>
              <a:t>选</a:t>
            </a:r>
            <a:r>
              <a:rPr lang="en-US" altLang="zh-CN" dirty="0"/>
              <a:t>C</a:t>
            </a:r>
            <a:r>
              <a:rPr lang="zh-CN" altLang="en-US" dirty="0"/>
              <a:t>得</a:t>
            </a:r>
            <a:r>
              <a:rPr lang="en-US" altLang="zh-CN" dirty="0"/>
              <a:t>3</a:t>
            </a:r>
            <a:r>
              <a:rPr lang="zh-CN" altLang="en-US" dirty="0"/>
              <a:t>分</a:t>
            </a:r>
            <a:r>
              <a:rPr lang="en-US" altLang="zh-CN" dirty="0"/>
              <a:t>.</a:t>
            </a:r>
            <a:br>
              <a:rPr lang="en-US" altLang="zh-CN" dirty="0"/>
            </a:br>
            <a:r>
              <a:rPr lang="en-US" altLang="zh-CN" dirty="0"/>
              <a:t>11-15</a:t>
            </a:r>
            <a:r>
              <a:rPr lang="zh-CN" altLang="en-US" dirty="0"/>
              <a:t>题的得分说明</a:t>
            </a:r>
            <a:r>
              <a:rPr lang="en-US" altLang="zh-CN" dirty="0"/>
              <a:t>,</a:t>
            </a:r>
            <a:r>
              <a:rPr lang="zh-CN" altLang="en-US" dirty="0"/>
              <a:t>选</a:t>
            </a:r>
            <a:r>
              <a:rPr lang="en-US" altLang="zh-CN" dirty="0"/>
              <a:t>A</a:t>
            </a:r>
            <a:r>
              <a:rPr lang="zh-CN" altLang="en-US" dirty="0"/>
              <a:t>得</a:t>
            </a:r>
            <a:r>
              <a:rPr lang="en-US" altLang="zh-CN" dirty="0"/>
              <a:t>1</a:t>
            </a:r>
            <a:r>
              <a:rPr lang="zh-CN" altLang="en-US" dirty="0"/>
              <a:t>分</a:t>
            </a:r>
            <a:r>
              <a:rPr lang="en-US" altLang="zh-CN" dirty="0"/>
              <a:t>,</a:t>
            </a:r>
            <a:r>
              <a:rPr lang="zh-CN" altLang="en-US" dirty="0"/>
              <a:t>选</a:t>
            </a:r>
            <a:r>
              <a:rPr lang="en-US" altLang="zh-CN" dirty="0"/>
              <a:t>B</a:t>
            </a:r>
            <a:r>
              <a:rPr lang="zh-CN" altLang="en-US" dirty="0"/>
              <a:t>得</a:t>
            </a:r>
            <a:r>
              <a:rPr lang="en-US" altLang="zh-CN" dirty="0"/>
              <a:t>5</a:t>
            </a:r>
            <a:r>
              <a:rPr lang="zh-CN" altLang="en-US" dirty="0"/>
              <a:t>分</a:t>
            </a:r>
            <a:r>
              <a:rPr lang="en-US" altLang="zh-CN" dirty="0"/>
              <a:t>,</a:t>
            </a:r>
            <a:r>
              <a:rPr lang="zh-CN" altLang="en-US" dirty="0"/>
              <a:t>选</a:t>
            </a:r>
            <a:r>
              <a:rPr lang="en-US" altLang="zh-CN" dirty="0"/>
              <a:t>C</a:t>
            </a:r>
            <a:r>
              <a:rPr lang="zh-CN" altLang="en-US" dirty="0"/>
              <a:t>得</a:t>
            </a:r>
            <a:r>
              <a:rPr lang="en-US" altLang="zh-CN" dirty="0"/>
              <a:t>3</a:t>
            </a:r>
            <a:r>
              <a:rPr lang="zh-CN" altLang="en-US" dirty="0"/>
              <a:t>分</a:t>
            </a:r>
            <a:r>
              <a:rPr lang="en-US" altLang="zh-CN" dirty="0"/>
              <a:t>.</a:t>
            </a:r>
            <a:br>
              <a:rPr lang="en-US" altLang="zh-CN" dirty="0"/>
            </a:br>
            <a:br>
              <a:rPr lang="en-US" altLang="zh-CN" dirty="0"/>
            </a:br>
            <a:endParaRPr lang="en-US" altLang="zh-CN" dirty="0"/>
          </a:p>
          <a:p>
            <a:endParaRPr lang="zh-CN" altLang="en-US" dirty="0"/>
          </a:p>
        </p:txBody>
      </p:sp>
    </p:spTree>
    <p:extLst>
      <p:ext uri="{BB962C8B-B14F-4D97-AF65-F5344CB8AC3E}">
        <p14:creationId xmlns:p14="http://schemas.microsoft.com/office/powerpoint/2010/main" val="4028560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itchFamily="2" charset="-122"/>
              </a:rPr>
              <a:t>自卑测试选择结果倾向</a:t>
            </a:r>
            <a:r>
              <a:rPr lang="en-US" altLang="zh-CN" dirty="0">
                <a:latin typeface="黑体" pitchFamily="2" charset="-122"/>
              </a:rPr>
              <a:t>:</a:t>
            </a:r>
            <a:endParaRPr lang="zh-CN" altLang="en-US" dirty="0"/>
          </a:p>
        </p:txBody>
      </p:sp>
      <p:sp>
        <p:nvSpPr>
          <p:cNvPr id="2" name="内容占位符 1"/>
          <p:cNvSpPr>
            <a:spLocks noGrp="1"/>
          </p:cNvSpPr>
          <p:nvPr>
            <p:ph idx="1"/>
          </p:nvPr>
        </p:nvSpPr>
        <p:spPr/>
        <p:txBody>
          <a:bodyPr/>
          <a:lstStyle/>
          <a:p>
            <a:r>
              <a:rPr lang="en-US" altLang="zh-CN" dirty="0"/>
              <a:t>15 — 29 </a:t>
            </a:r>
            <a:r>
              <a:rPr lang="zh-CN" altLang="en-US" dirty="0"/>
              <a:t>分</a:t>
            </a:r>
            <a:r>
              <a:rPr lang="en-US" altLang="zh-CN" dirty="0"/>
              <a:t>:</a:t>
            </a:r>
            <a:r>
              <a:rPr lang="zh-CN" altLang="en-US" dirty="0"/>
              <a:t>自卑的原因在于环境的变化</a:t>
            </a:r>
            <a:r>
              <a:rPr lang="en-US" altLang="zh-CN" dirty="0"/>
              <a:t>.</a:t>
            </a:r>
            <a:r>
              <a:rPr lang="zh-CN" altLang="en-US" dirty="0"/>
              <a:t>平时没有自卑感</a:t>
            </a:r>
            <a:r>
              <a:rPr lang="en-US" altLang="zh-CN" dirty="0"/>
              <a:t>,</a:t>
            </a:r>
            <a:r>
              <a:rPr lang="zh-CN" altLang="en-US" dirty="0"/>
              <a:t>是个自信者</a:t>
            </a:r>
            <a:r>
              <a:rPr lang="en-US" altLang="zh-CN" dirty="0"/>
              <a:t>,</a:t>
            </a:r>
            <a:r>
              <a:rPr lang="zh-CN" altLang="en-US" dirty="0"/>
              <a:t>只有进入人才济济的环境时</a:t>
            </a:r>
            <a:r>
              <a:rPr lang="en-US" altLang="zh-CN" dirty="0"/>
              <a:t>,</a:t>
            </a:r>
            <a:r>
              <a:rPr lang="zh-CN" altLang="en-US" dirty="0"/>
              <a:t>才有所感觉</a:t>
            </a:r>
            <a:r>
              <a:rPr lang="en-US" altLang="zh-CN" dirty="0"/>
              <a:t>. </a:t>
            </a:r>
            <a:br>
              <a:rPr lang="en-US" altLang="zh-CN" dirty="0"/>
            </a:br>
            <a:r>
              <a:rPr lang="en-US" altLang="zh-CN" dirty="0"/>
              <a:t>30 — 44 </a:t>
            </a:r>
            <a:r>
              <a:rPr lang="zh-CN" altLang="en-US" dirty="0"/>
              <a:t>分</a:t>
            </a:r>
            <a:r>
              <a:rPr lang="en-US" altLang="zh-CN" dirty="0"/>
              <a:t>:</a:t>
            </a:r>
            <a:r>
              <a:rPr lang="zh-CN" altLang="en-US" dirty="0"/>
              <a:t>自卑的原因在于理想过高</a:t>
            </a:r>
            <a:r>
              <a:rPr lang="en-US" altLang="zh-CN" dirty="0"/>
              <a:t>.</a:t>
            </a:r>
            <a:r>
              <a:rPr lang="zh-CN" altLang="en-US" dirty="0"/>
              <a:t>不满现状</a:t>
            </a:r>
            <a:r>
              <a:rPr lang="en-US" altLang="zh-CN" dirty="0"/>
              <a:t>,</a:t>
            </a:r>
            <a:r>
              <a:rPr lang="zh-CN" altLang="en-US" dirty="0"/>
              <a:t>一心出人头地</a:t>
            </a:r>
            <a:r>
              <a:rPr lang="en-US" altLang="zh-CN" dirty="0"/>
              <a:t>,</a:t>
            </a:r>
            <a:r>
              <a:rPr lang="zh-CN" altLang="en-US" dirty="0"/>
              <a:t>与周围人计较长短胜负</a:t>
            </a:r>
            <a:r>
              <a:rPr lang="en-US" altLang="zh-CN" dirty="0"/>
              <a:t>,</a:t>
            </a:r>
            <a:r>
              <a:rPr lang="zh-CN" altLang="en-US" dirty="0"/>
              <a:t>过于追求虚荣</a:t>
            </a:r>
            <a:r>
              <a:rPr lang="en-US" altLang="zh-CN" dirty="0"/>
              <a:t>.</a:t>
            </a:r>
            <a:endParaRPr lang="zh-CN" altLang="en-US" dirty="0"/>
          </a:p>
        </p:txBody>
      </p:sp>
    </p:spTree>
    <p:extLst>
      <p:ext uri="{BB962C8B-B14F-4D97-AF65-F5344CB8AC3E}">
        <p14:creationId xmlns:p14="http://schemas.microsoft.com/office/powerpoint/2010/main" val="1539500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pPr>
              <a:lnSpc>
                <a:spcPct val="90000"/>
              </a:lnSpc>
            </a:pPr>
            <a:r>
              <a:rPr lang="en-US" altLang="zh-CN" dirty="0"/>
              <a:t>45 — 60 </a:t>
            </a:r>
            <a:r>
              <a:rPr lang="zh-CN" altLang="en-US" dirty="0"/>
              <a:t>分</a:t>
            </a:r>
            <a:r>
              <a:rPr lang="en-US" altLang="zh-CN" dirty="0"/>
              <a:t>:</a:t>
            </a:r>
            <a:r>
              <a:rPr lang="zh-CN" altLang="en-US" dirty="0"/>
              <a:t>自卑的原因在于信心不足</a:t>
            </a:r>
            <a:r>
              <a:rPr lang="en-US" altLang="zh-CN" dirty="0"/>
              <a:t>.</a:t>
            </a:r>
            <a:r>
              <a:rPr lang="zh-CN" altLang="en-US" dirty="0"/>
              <a:t>做事情之前</a:t>
            </a:r>
            <a:r>
              <a:rPr lang="en-US" altLang="zh-CN" dirty="0"/>
              <a:t>,</a:t>
            </a:r>
            <a:r>
              <a:rPr lang="zh-CN" altLang="en-US" dirty="0"/>
              <a:t>往往先下自己不行的结论</a:t>
            </a:r>
            <a:r>
              <a:rPr lang="en-US" altLang="zh-CN" dirty="0"/>
              <a:t>,</a:t>
            </a:r>
            <a:r>
              <a:rPr lang="zh-CN" altLang="en-US" dirty="0"/>
              <a:t>事实上并非如 </a:t>
            </a:r>
          </a:p>
          <a:p>
            <a:pPr>
              <a:lnSpc>
                <a:spcPct val="90000"/>
              </a:lnSpc>
            </a:pPr>
            <a:r>
              <a:rPr lang="zh-CN" altLang="en-US" dirty="0"/>
              <a:t>此</a:t>
            </a:r>
            <a:r>
              <a:rPr lang="en-US" altLang="zh-CN" dirty="0"/>
              <a:t>.</a:t>
            </a:r>
            <a:r>
              <a:rPr lang="zh-CN" altLang="en-US" dirty="0"/>
              <a:t>因此</a:t>
            </a:r>
            <a:r>
              <a:rPr lang="en-US" altLang="zh-CN" dirty="0"/>
              <a:t>,</a:t>
            </a:r>
            <a:r>
              <a:rPr lang="zh-CN" altLang="en-US" dirty="0"/>
              <a:t>要注意了解周围人们的真实情况</a:t>
            </a:r>
            <a:endParaRPr lang="en-US" altLang="zh-CN" dirty="0"/>
          </a:p>
          <a:p>
            <a:pPr>
              <a:lnSpc>
                <a:spcPct val="90000"/>
              </a:lnSpc>
            </a:pPr>
            <a:r>
              <a:rPr lang="en-US" altLang="zh-CN" dirty="0"/>
              <a:t>61 — 75 </a:t>
            </a:r>
            <a:r>
              <a:rPr lang="zh-CN" altLang="en-US" dirty="0"/>
              <a:t>分</a:t>
            </a:r>
            <a:r>
              <a:rPr lang="en-US" altLang="zh-CN" dirty="0"/>
              <a:t>:</a:t>
            </a:r>
            <a:r>
              <a:rPr lang="zh-CN" altLang="en-US" dirty="0"/>
              <a:t>自卑的原因在于性格懦弱</a:t>
            </a:r>
            <a:r>
              <a:rPr lang="en-US" altLang="zh-CN" dirty="0"/>
              <a:t>.</a:t>
            </a:r>
            <a:r>
              <a:rPr lang="zh-CN" altLang="en-US" dirty="0"/>
              <a:t>易用消极悲观的眼光看待事物</a:t>
            </a:r>
            <a:r>
              <a:rPr lang="en-US" altLang="zh-CN" dirty="0"/>
              <a:t>,</a:t>
            </a:r>
            <a:r>
              <a:rPr lang="zh-CN" altLang="en-US" dirty="0"/>
              <a:t>对自己的体魄和外貌缺乏自信</a:t>
            </a:r>
            <a:r>
              <a:rPr lang="en-US" altLang="zh-CN" dirty="0"/>
              <a:t>,</a:t>
            </a:r>
            <a:r>
              <a:rPr lang="zh-CN" altLang="en-US" dirty="0"/>
              <a:t>看不起自己的长处</a:t>
            </a:r>
            <a:r>
              <a:rPr lang="en-US" altLang="zh-CN" dirty="0"/>
              <a:t>.</a:t>
            </a:r>
            <a:r>
              <a:rPr lang="zh-CN" altLang="en-US" dirty="0"/>
              <a:t>因此</a:t>
            </a:r>
            <a:r>
              <a:rPr lang="en-US" altLang="zh-CN" dirty="0"/>
              <a:t>,</a:t>
            </a:r>
            <a:r>
              <a:rPr lang="zh-CN" altLang="en-US" dirty="0"/>
              <a:t>要更积极主动地看待工作和学习</a:t>
            </a:r>
            <a:r>
              <a:rPr lang="en-US" altLang="zh-CN" dirty="0"/>
              <a:t>,</a:t>
            </a:r>
            <a:r>
              <a:rPr lang="zh-CN" altLang="en-US" dirty="0"/>
              <a:t>使自己经风历雨</a:t>
            </a:r>
            <a:r>
              <a:rPr lang="en-US" altLang="zh-CN" dirty="0"/>
              <a:t>,</a:t>
            </a:r>
            <a:r>
              <a:rPr lang="zh-CN" altLang="en-US" dirty="0"/>
              <a:t>坚强起来</a:t>
            </a:r>
            <a:r>
              <a:rPr lang="en-US" altLang="zh-CN" dirty="0"/>
              <a:t>.</a:t>
            </a:r>
            <a:endParaRPr lang="zh-CN" altLang="en-US" dirty="0"/>
          </a:p>
        </p:txBody>
      </p:sp>
    </p:spTree>
    <p:extLst>
      <p:ext uri="{BB962C8B-B14F-4D97-AF65-F5344CB8AC3E}">
        <p14:creationId xmlns:p14="http://schemas.microsoft.com/office/powerpoint/2010/main" val="1447855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为何每个人都会有自卑</a:t>
            </a:r>
            <a:r>
              <a:rPr lang="en-US" altLang="zh-CN" dirty="0"/>
              <a:t>.</a:t>
            </a:r>
            <a:br>
              <a:rPr lang="en-US" altLang="zh-CN" dirty="0"/>
            </a:br>
            <a:endParaRPr lang="zh-CN" altLang="en-US" dirty="0"/>
          </a:p>
        </p:txBody>
      </p:sp>
      <p:sp>
        <p:nvSpPr>
          <p:cNvPr id="2" name="内容占位符 1"/>
          <p:cNvSpPr>
            <a:spLocks noGrp="1"/>
          </p:cNvSpPr>
          <p:nvPr>
            <p:ph idx="1"/>
          </p:nvPr>
        </p:nvSpPr>
        <p:spPr/>
        <p:txBody>
          <a:bodyPr>
            <a:normAutofit/>
          </a:bodyPr>
          <a:lstStyle/>
          <a:p>
            <a:pPr>
              <a:buNone/>
            </a:pPr>
            <a:r>
              <a:rPr lang="zh-CN" altLang="en-US" sz="3600" dirty="0"/>
              <a:t>原因</a:t>
            </a:r>
            <a:r>
              <a:rPr lang="en-US" altLang="zh-CN" sz="3600" dirty="0"/>
              <a:t>:</a:t>
            </a:r>
          </a:p>
          <a:p>
            <a:pPr>
              <a:buNone/>
            </a:pPr>
            <a:r>
              <a:rPr lang="en-US" altLang="zh-CN" sz="3600" dirty="0"/>
              <a:t>        </a:t>
            </a:r>
            <a:r>
              <a:rPr lang="zh-CN" altLang="en-US" sz="3600" dirty="0"/>
              <a:t>人类对宇宙和自然界的渺小</a:t>
            </a:r>
          </a:p>
          <a:p>
            <a:pPr>
              <a:buNone/>
            </a:pPr>
            <a:r>
              <a:rPr lang="zh-CN" altLang="en-US" sz="3600" dirty="0"/>
              <a:t>        个人童年时期的幼小和无助</a:t>
            </a:r>
          </a:p>
          <a:p>
            <a:pPr>
              <a:buNone/>
            </a:pPr>
            <a:r>
              <a:rPr lang="zh-CN" altLang="en-US" sz="3600" dirty="0"/>
              <a:t>        个人成长经验中的创伤性记忆和理念</a:t>
            </a:r>
          </a:p>
        </p:txBody>
      </p:sp>
    </p:spTree>
    <p:extLst>
      <p:ext uri="{BB962C8B-B14F-4D97-AF65-F5344CB8AC3E}">
        <p14:creationId xmlns:p14="http://schemas.microsoft.com/office/powerpoint/2010/main" val="768654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latin typeface="黑体" pitchFamily="2" charset="-122"/>
              </a:rPr>
              <a:t>04 </a:t>
            </a:r>
            <a:r>
              <a:rPr lang="zh-CN" altLang="en-US" dirty="0">
                <a:latin typeface="黑体" pitchFamily="2" charset="-122"/>
              </a:rPr>
              <a:t>战胜</a:t>
            </a:r>
            <a:r>
              <a:rPr lang="zh-CN" altLang="en-US" sz="4800" dirty="0">
                <a:latin typeface="黑体" pitchFamily="2" charset="-122"/>
              </a:rPr>
              <a:t>自卑的</a:t>
            </a:r>
            <a:r>
              <a:rPr lang="zh-CN" altLang="en-US" dirty="0">
                <a:latin typeface="黑体" pitchFamily="2" charset="-122"/>
              </a:rPr>
              <a:t>方法 </a:t>
            </a:r>
            <a:br>
              <a:rPr lang="zh-CN" altLang="en-US" dirty="0">
                <a:latin typeface="黑体" pitchFamily="2" charset="-122"/>
              </a:rPr>
            </a:br>
            <a:endParaRPr lang="zh-CN" altLang="en-US" dirty="0"/>
          </a:p>
        </p:txBody>
      </p:sp>
      <p:sp>
        <p:nvSpPr>
          <p:cNvPr id="2" name="内容占位符 1"/>
          <p:cNvSpPr>
            <a:spLocks noGrp="1"/>
          </p:cNvSpPr>
          <p:nvPr>
            <p:ph idx="1"/>
          </p:nvPr>
        </p:nvSpPr>
        <p:spPr/>
        <p:txBody>
          <a:bodyPr/>
          <a:lstStyle/>
          <a:p>
            <a:r>
              <a:rPr lang="zh-CN" altLang="en-US" dirty="0">
                <a:ea typeface="黑体" pitchFamily="2" charset="-122"/>
              </a:rPr>
              <a:t>认知法</a:t>
            </a:r>
          </a:p>
          <a:p>
            <a:r>
              <a:rPr lang="zh-CN" altLang="en-US" dirty="0"/>
              <a:t>就是通过全面、客观的认识，辩证地看待别人和自己。自卑者往往有很强的自尊心和抱负，自我评价协定高，当在学习生活中，由于自己方法不当，或缺乏处世能力而陷入困境时，自尊心受到损害、优越感严重失落，于是从一自尊自信者走向另一个极端，变成一个完全失去自信的人 </a:t>
            </a:r>
          </a:p>
          <a:p>
            <a:endParaRPr lang="zh-CN" altLang="en-US" dirty="0"/>
          </a:p>
        </p:txBody>
      </p:sp>
    </p:spTree>
    <p:extLst>
      <p:ext uri="{BB962C8B-B14F-4D97-AF65-F5344CB8AC3E}">
        <p14:creationId xmlns:p14="http://schemas.microsoft.com/office/powerpoint/2010/main" val="3228489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作业法</a:t>
            </a:r>
            <a:br>
              <a:rPr lang="zh-CN" altLang="en-US" dirty="0"/>
            </a:br>
            <a:endParaRPr lang="zh-CN" altLang="en-US" dirty="0"/>
          </a:p>
        </p:txBody>
      </p:sp>
      <p:sp>
        <p:nvSpPr>
          <p:cNvPr id="2" name="内容占位符 1"/>
          <p:cNvSpPr>
            <a:spLocks noGrp="1"/>
          </p:cNvSpPr>
          <p:nvPr>
            <p:ph idx="1"/>
          </p:nvPr>
        </p:nvSpPr>
        <p:spPr/>
        <p:txBody>
          <a:bodyPr>
            <a:normAutofit/>
          </a:bodyPr>
          <a:lstStyle/>
          <a:p>
            <a:pPr>
              <a:lnSpc>
                <a:spcPct val="90000"/>
              </a:lnSpc>
            </a:pPr>
            <a:r>
              <a:rPr lang="zh-CN" altLang="en-US" dirty="0"/>
              <a:t>自卑感往往是在表现自己的过程中，由于受到挫折，对自己的能力发生怀疑而造成的。有此心理学同学，不妨多做一些力所能及、把握较大的事情，一举成功后便会有一份喜悦，每一次成功都是对自信心的强化。而自信心的恢复需要有一个过程，切不可着急。应从一连串小小的成功开始，通过为断的成功来表现自己和确立自信，来消除对自己能力的怀疑。表现自己时，期望值不要过高，不要操之过急，要循序渐进地锻炼自己的能力，逐步用自信心取代自卑感。 </a:t>
            </a:r>
          </a:p>
          <a:p>
            <a:endParaRPr lang="zh-CN" altLang="en-US" dirty="0"/>
          </a:p>
        </p:txBody>
      </p:sp>
    </p:spTree>
    <p:extLst>
      <p:ext uri="{BB962C8B-B14F-4D97-AF65-F5344CB8AC3E}">
        <p14:creationId xmlns:p14="http://schemas.microsoft.com/office/powerpoint/2010/main" val="264732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补偿法</a:t>
            </a:r>
            <a:br>
              <a:rPr lang="zh-CN" altLang="en-US" dirty="0"/>
            </a:br>
            <a:endParaRPr lang="zh-CN" altLang="en-US" dirty="0"/>
          </a:p>
        </p:txBody>
      </p:sp>
      <p:sp>
        <p:nvSpPr>
          <p:cNvPr id="2" name="内容占位符 1"/>
          <p:cNvSpPr>
            <a:spLocks noGrp="1"/>
          </p:cNvSpPr>
          <p:nvPr>
            <p:ph idx="1"/>
          </p:nvPr>
        </p:nvSpPr>
        <p:spPr/>
        <p:txBody>
          <a:bodyPr/>
          <a:lstStyle/>
          <a:p>
            <a:r>
              <a:rPr lang="zh-CN" altLang="en-US" dirty="0"/>
              <a:t>补偿法即通过努力奋斗 ，以某方面的成就来补偿自己自身的缺陷。生理上的补偿现象，如盲人尤明、聋者尤聪，这是大家常见的。其实，人还有心理上、才能上的补偿能力。勤能补拙、扬长补短，可以说是心理上、才能上的补偿作用。 </a:t>
            </a:r>
          </a:p>
          <a:p>
            <a:endParaRPr lang="zh-CN" altLang="en-US" dirty="0"/>
          </a:p>
        </p:txBody>
      </p:sp>
    </p:spTree>
    <p:extLst>
      <p:ext uri="{BB962C8B-B14F-4D97-AF65-F5344CB8AC3E}">
        <p14:creationId xmlns:p14="http://schemas.microsoft.com/office/powerpoint/2010/main" val="2139057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领悟法</a:t>
            </a:r>
            <a:br>
              <a:rPr lang="zh-CN" altLang="en-US" dirty="0"/>
            </a:br>
            <a:endParaRPr lang="zh-CN" altLang="en-US" dirty="0"/>
          </a:p>
        </p:txBody>
      </p:sp>
      <p:sp>
        <p:nvSpPr>
          <p:cNvPr id="2" name="内容占位符 1"/>
          <p:cNvSpPr>
            <a:spLocks noGrp="1"/>
          </p:cNvSpPr>
          <p:nvPr>
            <p:ph idx="1"/>
          </p:nvPr>
        </p:nvSpPr>
        <p:spPr/>
        <p:txBody>
          <a:bodyPr>
            <a:normAutofit/>
          </a:bodyPr>
          <a:lstStyle/>
          <a:p>
            <a:pPr>
              <a:lnSpc>
                <a:spcPct val="90000"/>
              </a:lnSpc>
            </a:pPr>
            <a:r>
              <a:rPr lang="zh-CN" altLang="en-US" dirty="0"/>
              <a:t>领悟法即有自卑感受的大学生，主动求助于心理咨询老师，进行心理咨询和心理分析治疗。其要点是在心理老师的帮助下，通过自由联想和对早期经历的回忆，经分析找出导致自卑的深层原因。经过心理分析，主求助者领悟到，一个人之所以有自卑感，并不是自己的实际情况很糟，而是潜藏于意识深处的症结使然。</a:t>
            </a:r>
          </a:p>
          <a:p>
            <a:pPr>
              <a:lnSpc>
                <a:spcPct val="90000"/>
              </a:lnSpc>
            </a:pPr>
            <a:r>
              <a:rPr lang="zh-CN" altLang="en-US" dirty="0"/>
              <a:t>显然，自卑者会发现被过去生活中的阴影影响今天的心理状态是没有道理的，从而使他们有豁然开朗之感最终从自卑的阴影中解脱出来。 </a:t>
            </a:r>
          </a:p>
          <a:p>
            <a:endParaRPr lang="zh-CN" altLang="en-US" dirty="0"/>
          </a:p>
        </p:txBody>
      </p:sp>
    </p:spTree>
    <p:extLst>
      <p:ext uri="{BB962C8B-B14F-4D97-AF65-F5344CB8AC3E}">
        <p14:creationId xmlns:p14="http://schemas.microsoft.com/office/powerpoint/2010/main" val="3903259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暗示法</a:t>
            </a:r>
            <a:br>
              <a:rPr lang="zh-CN" altLang="en-US" dirty="0"/>
            </a:br>
            <a:endParaRPr lang="zh-CN" altLang="en-US" dirty="0"/>
          </a:p>
        </p:txBody>
      </p:sp>
      <p:sp>
        <p:nvSpPr>
          <p:cNvPr id="2" name="内容占位符 1"/>
          <p:cNvSpPr>
            <a:spLocks noGrp="1"/>
          </p:cNvSpPr>
          <p:nvPr>
            <p:ph idx="1"/>
          </p:nvPr>
        </p:nvSpPr>
        <p:spPr/>
        <p:txBody>
          <a:bodyPr>
            <a:normAutofit/>
          </a:bodyPr>
          <a:lstStyle/>
          <a:p>
            <a:pPr>
              <a:lnSpc>
                <a:spcPct val="80000"/>
              </a:lnSpc>
            </a:pPr>
            <a:r>
              <a:rPr lang="zh-CN" altLang="en-US" dirty="0"/>
              <a:t>暗示法就是个人通过积极的自我暗示、自我鼓励，进行自助的方法。人的自我评价实际上就是人对自我的一种暗示作用。 它与人的行为之间有很大的关系。消极的自我暗示导致消极的行为，而积极的暗示则带来积极的行动。每个人的智力相差都不是太大，我们在做事的时候，就应不断地暗示自己，别人能做的我也一定能做好。</a:t>
            </a:r>
          </a:p>
          <a:p>
            <a:pPr>
              <a:lnSpc>
                <a:spcPct val="80000"/>
              </a:lnSpc>
            </a:pPr>
            <a:r>
              <a:rPr lang="zh-CN" altLang="en-US" dirty="0"/>
              <a:t>始终坚信“我能行”、“我也能够做好”。成功了，自信心得到加强；失败了，我们也不应气馁，不妨告诉自己“胜败乃兵家常事，慢慢来我会想出办法的。 </a:t>
            </a:r>
          </a:p>
          <a:p>
            <a:endParaRPr lang="zh-CN" altLang="en-US" dirty="0"/>
          </a:p>
        </p:txBody>
      </p:sp>
    </p:spTree>
    <p:extLst>
      <p:ext uri="{BB962C8B-B14F-4D97-AF65-F5344CB8AC3E}">
        <p14:creationId xmlns:p14="http://schemas.microsoft.com/office/powerpoint/2010/main" val="4095300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训练法</a:t>
            </a:r>
            <a:br>
              <a:rPr lang="zh-CN" altLang="en-US" dirty="0"/>
            </a:br>
            <a:endParaRPr lang="zh-CN" altLang="en-US" dirty="0"/>
          </a:p>
        </p:txBody>
      </p:sp>
      <p:sp>
        <p:nvSpPr>
          <p:cNvPr id="2" name="内容占位符 1"/>
          <p:cNvSpPr>
            <a:spLocks noGrp="1"/>
          </p:cNvSpPr>
          <p:nvPr>
            <p:ph idx="1"/>
          </p:nvPr>
        </p:nvSpPr>
        <p:spPr/>
        <p:txBody>
          <a:bodyPr/>
          <a:lstStyle/>
          <a:p>
            <a:endParaRPr lang="zh-CN" altLang="en-US" dirty="0"/>
          </a:p>
          <a:p>
            <a:r>
              <a:rPr lang="zh-CN" altLang="en-US" dirty="0"/>
              <a:t>有自卑心理的人常常在性格上表现出不当之处，如内向，不与人交往，敏感多疑等，为此我们不妨进行一下成功性格的训练。 </a:t>
            </a:r>
          </a:p>
          <a:p>
            <a:endParaRPr lang="zh-CN" altLang="en-US" dirty="0"/>
          </a:p>
        </p:txBody>
      </p:sp>
    </p:spTree>
    <p:extLst>
      <p:ext uri="{BB962C8B-B14F-4D97-AF65-F5344CB8AC3E}">
        <p14:creationId xmlns:p14="http://schemas.microsoft.com/office/powerpoint/2010/main" val="1286434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其具体做法如下：</a:t>
            </a:r>
            <a:br>
              <a:rPr lang="zh-CN" altLang="en-US" dirty="0"/>
            </a:br>
            <a:endParaRPr lang="zh-CN" altLang="en-US" dirty="0"/>
          </a:p>
        </p:txBody>
      </p:sp>
      <p:sp>
        <p:nvSpPr>
          <p:cNvPr id="2" name="内容占位符 1"/>
          <p:cNvSpPr>
            <a:spLocks noGrp="1"/>
          </p:cNvSpPr>
          <p:nvPr>
            <p:ph idx="1"/>
          </p:nvPr>
        </p:nvSpPr>
        <p:spPr/>
        <p:txBody>
          <a:bodyPr/>
          <a:lstStyle/>
          <a:p>
            <a:r>
              <a:rPr lang="zh-CN" altLang="en-US" dirty="0"/>
              <a:t>第一，随意找到四个你的熟人，问他们对你的印象如何，确定你是否喜欢他们的回答，判断你为什么喜欢或不喜欢留给别人的那种印象。</a:t>
            </a:r>
          </a:p>
          <a:p>
            <a:r>
              <a:rPr lang="zh-CN" altLang="en-US" dirty="0"/>
              <a:t>第二、确定一下，如果你是一名演员的话，愿意扮演什么角色，以及你为什么喜欢这个角色。</a:t>
            </a:r>
          </a:p>
          <a:p>
            <a:r>
              <a:rPr lang="zh-CN" altLang="en-US" dirty="0"/>
              <a:t>第三、选择任何一个你所崇拜的人，列出他身上那些使你崇拜的特征和品质。</a:t>
            </a:r>
          </a:p>
          <a:p>
            <a:endParaRPr lang="zh-CN" altLang="en-US" dirty="0"/>
          </a:p>
        </p:txBody>
      </p:sp>
    </p:spTree>
    <p:extLst>
      <p:ext uri="{BB962C8B-B14F-4D97-AF65-F5344CB8AC3E}">
        <p14:creationId xmlns:p14="http://schemas.microsoft.com/office/powerpoint/2010/main" val="1384558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en-US" dirty="0"/>
              <a:t>第四、把第二和第三综合为你自己所选择的性格。</a:t>
            </a:r>
          </a:p>
          <a:p>
            <a:r>
              <a:rPr lang="zh-CN" altLang="en-US" dirty="0"/>
              <a:t>第五、改变你的形象、行为、个性中你所不喜欢的东西，强化你所喜欢的东西。</a:t>
            </a:r>
          </a:p>
          <a:p>
            <a:r>
              <a:rPr lang="zh-CN" altLang="en-US" dirty="0"/>
              <a:t>第六、去表现你的新个性。</a:t>
            </a:r>
          </a:p>
          <a:p>
            <a:r>
              <a:rPr lang="zh-CN" altLang="en-US" dirty="0"/>
              <a:t>要提醒你的是，不要指望很快便能发展成一种成功地改造自己的性格，还必须以自己性格的内核为基础。 </a:t>
            </a:r>
          </a:p>
          <a:p>
            <a:endParaRPr lang="zh-CN" altLang="en-US" dirty="0"/>
          </a:p>
        </p:txBody>
      </p:sp>
    </p:spTree>
    <p:extLst>
      <p:ext uri="{BB962C8B-B14F-4D97-AF65-F5344CB8AC3E}">
        <p14:creationId xmlns:p14="http://schemas.microsoft.com/office/powerpoint/2010/main" val="1289461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自卑是一种情结</a:t>
            </a:r>
          </a:p>
        </p:txBody>
      </p:sp>
      <p:sp>
        <p:nvSpPr>
          <p:cNvPr id="2" name="内容占位符 1"/>
          <p:cNvSpPr>
            <a:spLocks noGrp="1"/>
          </p:cNvSpPr>
          <p:nvPr>
            <p:ph idx="1"/>
          </p:nvPr>
        </p:nvSpPr>
        <p:spPr/>
        <p:txBody>
          <a:bodyPr>
            <a:normAutofit/>
          </a:bodyPr>
          <a:lstStyle/>
          <a:p>
            <a:endParaRPr lang="en-US" altLang="zh-CN" sz="3200" dirty="0"/>
          </a:p>
          <a:p>
            <a:r>
              <a:rPr lang="zh-CN" altLang="en-US" sz="3200"/>
              <a:t>“自卑”</a:t>
            </a:r>
            <a:r>
              <a:rPr lang="zh-CN" altLang="en-US" sz="3200" dirty="0"/>
              <a:t>是每个人都有的一种“情结”。 自卑并非一文不值，适当的自卑可以促进我们不断努力、不断进步，追求卓越的一种力量。</a:t>
            </a:r>
          </a:p>
        </p:txBody>
      </p:sp>
    </p:spTree>
    <p:extLst>
      <p:ext uri="{BB962C8B-B14F-4D97-AF65-F5344CB8AC3E}">
        <p14:creationId xmlns:p14="http://schemas.microsoft.com/office/powerpoint/2010/main" val="6307340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华丽">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华丽">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430</TotalTime>
  <Words>3402</Words>
  <Application>Microsoft Office PowerPoint</Application>
  <PresentationFormat>全屏显示(4:3)</PresentationFormat>
  <Paragraphs>106</Paragraphs>
  <Slides>39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39</vt:i4>
      </vt:variant>
    </vt:vector>
  </HeadingPairs>
  <TitlesOfParts>
    <vt:vector size="45" baseType="lpstr">
      <vt:lpstr>黑体</vt:lpstr>
      <vt:lpstr>华文隶书</vt:lpstr>
      <vt:lpstr>Trebuchet MS</vt:lpstr>
      <vt:lpstr>Wingdings</vt:lpstr>
      <vt:lpstr>Wingdings 2</vt:lpstr>
      <vt:lpstr>华丽</vt:lpstr>
      <vt:lpstr>第4章  你自卑吗</vt:lpstr>
      <vt:lpstr>第4章  你自卑吗</vt:lpstr>
      <vt:lpstr>01自卑测试</vt:lpstr>
      <vt:lpstr>PowerPoint 演示文稿</vt:lpstr>
      <vt:lpstr>PowerPoint 演示文稿</vt:lpstr>
      <vt:lpstr>PowerPoint 演示文稿</vt:lpstr>
      <vt:lpstr>02自卑的本质与内涵</vt:lpstr>
      <vt:lpstr>PowerPoint 演示文稿</vt:lpstr>
      <vt:lpstr>PowerPoint 演示文稿</vt:lpstr>
      <vt:lpstr>PowerPoint 演示文稿</vt:lpstr>
      <vt:lpstr>03自卑的表现特征：</vt:lpstr>
      <vt:lpstr> 自卑的行为表现: </vt:lpstr>
      <vt:lpstr>自卑的具体心理表现</vt:lpstr>
      <vt:lpstr>PowerPoint 演示文稿</vt:lpstr>
      <vt:lpstr>PowerPoint 演示文稿</vt:lpstr>
      <vt:lpstr>找到新的模式,覆盖内心深处的自卑</vt:lpstr>
      <vt:lpstr>03自卑产生的心理原因</vt:lpstr>
      <vt:lpstr>家庭经济因素 </vt:lpstr>
      <vt:lpstr>社会文化因素 </vt:lpstr>
      <vt:lpstr>成长经历有关 </vt:lpstr>
      <vt:lpstr>个人性格特点 </vt:lpstr>
      <vt:lpstr>自卑测试题:何种原因产生的自卑</vt:lpstr>
      <vt:lpstr>PowerPoint 演示文稿</vt:lpstr>
      <vt:lpstr>PowerPoint 演示文稿</vt:lpstr>
      <vt:lpstr>PowerPoint 演示文稿</vt:lpstr>
      <vt:lpstr>PowerPoint 演示文稿</vt:lpstr>
      <vt:lpstr>自卑测试</vt:lpstr>
      <vt:lpstr>自卑测试选择结果倾向:</vt:lpstr>
      <vt:lpstr>PowerPoint 演示文稿</vt:lpstr>
      <vt:lpstr>为何每个人都会有自卑. </vt:lpstr>
      <vt:lpstr>04 战胜自卑的方法  </vt:lpstr>
      <vt:lpstr>作业法 </vt:lpstr>
      <vt:lpstr>补偿法 </vt:lpstr>
      <vt:lpstr>领悟法 </vt:lpstr>
      <vt:lpstr>暗示法 </vt:lpstr>
      <vt:lpstr>训练法 </vt:lpstr>
      <vt:lpstr>其具体做法如下： </vt:lpstr>
      <vt:lpstr>PowerPoint 演示文稿</vt:lpstr>
      <vt:lpstr>自卑是一种情结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健康心理学</dc:title>
  <dc:creator>Doudou</dc:creator>
  <cp:lastModifiedBy>Doudou</cp:lastModifiedBy>
  <cp:revision>21</cp:revision>
  <dcterms:created xsi:type="dcterms:W3CDTF">2020-02-12T09:34:15Z</dcterms:created>
  <dcterms:modified xsi:type="dcterms:W3CDTF">2020-04-14T12:41:59Z</dcterms:modified>
</cp:coreProperties>
</file>