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54" r:id="rId2"/>
    <p:sldId id="395" r:id="rId3"/>
    <p:sldId id="396" r:id="rId4"/>
    <p:sldId id="397" r:id="rId5"/>
    <p:sldId id="398" r:id="rId6"/>
    <p:sldId id="399" r:id="rId7"/>
    <p:sldId id="400" r:id="rId8"/>
    <p:sldId id="401" r:id="rId9"/>
    <p:sldId id="402" r:id="rId10"/>
    <p:sldId id="403" r:id="rId11"/>
    <p:sldId id="404" r:id="rId12"/>
    <p:sldId id="405" r:id="rId13"/>
    <p:sldId id="406" r:id="rId14"/>
    <p:sldId id="407" r:id="rId15"/>
    <p:sldId id="408" r:id="rId16"/>
    <p:sldId id="409" r:id="rId17"/>
    <p:sldId id="410" r:id="rId18"/>
    <p:sldId id="411" r:id="rId19"/>
    <p:sldId id="412" r:id="rId20"/>
    <p:sldId id="413" r:id="rId21"/>
    <p:sldId id="414" r:id="rId22"/>
    <p:sldId id="415" r:id="rId23"/>
    <p:sldId id="416" r:id="rId24"/>
    <p:sldId id="417" r:id="rId25"/>
    <p:sldId id="452" r:id="rId26"/>
    <p:sldId id="453" r:id="rId27"/>
    <p:sldId id="418" r:id="rId28"/>
    <p:sldId id="419" r:id="rId29"/>
    <p:sldId id="420" r:id="rId30"/>
    <p:sldId id="421" r:id="rId31"/>
    <p:sldId id="422" r:id="rId32"/>
    <p:sldId id="423" r:id="rId33"/>
    <p:sldId id="424" r:id="rId34"/>
    <p:sldId id="425" r:id="rId35"/>
    <p:sldId id="426"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774" y="6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CN" altLang="en-US"/>
              <a:t>单击此处编辑母版标题样式</a:t>
            </a:r>
            <a:endParaRPr kumimoji="0" lang="en-US"/>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7069E51-F408-450C-B6F3-5472A5CF7A3D}" type="datetimeFigureOut">
              <a:rPr lang="zh-CN" altLang="en-US" smtClean="0"/>
              <a:pPr/>
              <a:t>2020/4/21</a:t>
            </a:fld>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7069E51-F408-450C-B6F3-5472A5CF7A3D}" type="datetimeFigureOut">
              <a:rPr lang="zh-CN" altLang="en-US" smtClean="0"/>
              <a:pPr/>
              <a:t>2020/4/21</a:t>
            </a:fld>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fld id="{FF56B523-B71F-448E-8ABC-23F7A2FEB16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extLst/>
          </a:lstStyle>
          <a:p>
            <a:fld id="{B7069E51-F408-450C-B6F3-5472A5CF7A3D}" type="datetimeFigureOut">
              <a:rPr lang="zh-CN" altLang="en-US" smtClean="0"/>
              <a:pPr/>
              <a:t>2020/4/21</a:t>
            </a:fld>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extLst/>
          </a:lstStyle>
          <a:p>
            <a:endParaRPr lang="zh-CN" altLang="en-US"/>
          </a:p>
        </p:txBody>
      </p:sp>
      <p:sp>
        <p:nvSpPr>
          <p:cNvPr id="4" name="灯片编号占位符 3"/>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CN" altLang="en-US"/>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CN" altLang="en-US"/>
              <a:t>单击此处编辑母版文本样式</a:t>
            </a:r>
          </a:p>
        </p:txBody>
      </p:sp>
      <p:sp>
        <p:nvSpPr>
          <p:cNvPr id="5" name="日期占位符 4"/>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56B523-B71F-448E-8ABC-23F7A2FEB16A}" type="slidenum">
              <a:rPr lang="zh-CN" altLang="en-US" smtClean="0"/>
              <a:pPr/>
              <a:t>‹#›</a:t>
            </a:fld>
            <a:endParaRPr lang="zh-CN" alt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CN" altLang="en-US"/>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7069E51-F408-450C-B6F3-5472A5CF7A3D}" type="datetimeFigureOut">
              <a:rPr lang="zh-CN" altLang="en-US" smtClean="0"/>
              <a:pPr/>
              <a:t>2020/4/21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56B523-B71F-448E-8ABC-23F7A2FEB16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fld id="{B7069E51-F408-450C-B6F3-5472A5CF7A3D}" type="datetimeFigureOut">
              <a:rPr lang="zh-CN" altLang="en-US" smtClean="0"/>
              <a:pPr/>
              <a:t>2020/4/21</a:t>
            </a:fld>
            <a:endParaRPr lang="zh-CN" altLang="en-US"/>
          </a:p>
        </p:txBody>
      </p:sp>
      <p:sp>
        <p:nvSpPr>
          <p:cNvPr id="5" name="页脚占位符 4"/>
          <p:cNvSpPr>
            <a:spLocks noGrp="1"/>
          </p:cNvSpPr>
          <p:nvPr>
            <p:ph type="ftr" sz="quarter" idx="11"/>
          </p:nvPr>
        </p:nvSpPr>
        <p:spPr>
          <a:xfrm>
            <a:off x="457200" y="6556248"/>
            <a:ext cx="3657600" cy="228600"/>
          </a:xfrm>
        </p:spPr>
        <p:txBody>
          <a:bodyPr/>
          <a:lstStyle/>
          <a:p>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FF56B523-B71F-448E-8ABC-23F7A2FEB16A}"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a:t>单击此处编辑母版标题样式</a:t>
            </a:r>
            <a:endParaRPr kumimoji="0" lang="en-US"/>
          </a:p>
        </p:txBody>
      </p:sp>
      <p:sp>
        <p:nvSpPr>
          <p:cNvPr id="31" name="文本占位符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7069E51-F408-450C-B6F3-5472A5CF7A3D}" type="datetimeFigureOut">
              <a:rPr lang="zh-CN" altLang="en-US" smtClean="0"/>
              <a:pPr/>
              <a:t>2020/4/21</a:t>
            </a:fld>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F56B523-B71F-448E-8ABC-23F7A2FEB16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319F6-1A7A-46BA-8E50-17642CAAC32C}"/>
              </a:ext>
            </a:extLst>
          </p:cNvPr>
          <p:cNvSpPr>
            <a:spLocks noGrp="1"/>
          </p:cNvSpPr>
          <p:nvPr>
            <p:ph type="title"/>
          </p:nvPr>
        </p:nvSpPr>
        <p:spPr/>
        <p:txBody>
          <a:bodyPr/>
          <a:lstStyle/>
          <a:p>
            <a:r>
              <a:rPr lang="zh-CN" altLang="en-US" dirty="0"/>
              <a:t>第五章 你焦虑吗</a:t>
            </a:r>
          </a:p>
        </p:txBody>
      </p:sp>
      <p:sp>
        <p:nvSpPr>
          <p:cNvPr id="3" name="内容占位符 2">
            <a:extLst>
              <a:ext uri="{FF2B5EF4-FFF2-40B4-BE49-F238E27FC236}">
                <a16:creationId xmlns:a16="http://schemas.microsoft.com/office/drawing/2014/main" id="{E90E7482-BDE1-44E5-98BC-1C5B11F0916D}"/>
              </a:ext>
            </a:extLst>
          </p:cNvPr>
          <p:cNvSpPr>
            <a:spLocks noGrp="1"/>
          </p:cNvSpPr>
          <p:nvPr>
            <p:ph idx="1"/>
          </p:nvPr>
        </p:nvSpPr>
        <p:spPr/>
        <p:txBody>
          <a:bodyPr>
            <a:normAutofit/>
          </a:bodyPr>
          <a:lstStyle/>
          <a:p>
            <a:endParaRPr lang="en-US" altLang="zh-CN" sz="4800" dirty="0"/>
          </a:p>
          <a:p>
            <a:r>
              <a:rPr lang="en-US" altLang="zh-CN" sz="4800" dirty="0"/>
              <a:t>01 </a:t>
            </a:r>
            <a:r>
              <a:rPr lang="zh-CN" altLang="en-US" sz="4800" dirty="0"/>
              <a:t>什么是焦虑</a:t>
            </a:r>
            <a:endParaRPr lang="en-US" altLang="zh-CN" sz="4800" dirty="0"/>
          </a:p>
          <a:p>
            <a:r>
              <a:rPr lang="en-US" altLang="zh-CN" sz="4800" dirty="0"/>
              <a:t>02</a:t>
            </a:r>
            <a:r>
              <a:rPr lang="zh-CN" altLang="en-US" sz="4800" dirty="0"/>
              <a:t>应对焦虑的三种理论</a:t>
            </a:r>
            <a:endParaRPr lang="en-US" altLang="zh-CN" sz="4800" dirty="0"/>
          </a:p>
          <a:p>
            <a:r>
              <a:rPr lang="en-US" altLang="zh-CN" sz="4800" dirty="0"/>
              <a:t>03</a:t>
            </a:r>
            <a:r>
              <a:rPr lang="zh-CN" altLang="en-US" sz="4800" dirty="0"/>
              <a:t>如何应对焦虑</a:t>
            </a:r>
            <a:endParaRPr lang="en-US" altLang="zh-CN" sz="4800" dirty="0"/>
          </a:p>
        </p:txBody>
      </p:sp>
    </p:spTree>
    <p:extLst>
      <p:ext uri="{BB962C8B-B14F-4D97-AF65-F5344CB8AC3E}">
        <p14:creationId xmlns:p14="http://schemas.microsoft.com/office/powerpoint/2010/main" val="3189846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你焦虑、狂躁吗？</a:t>
            </a:r>
          </a:p>
        </p:txBody>
      </p:sp>
      <p:sp>
        <p:nvSpPr>
          <p:cNvPr id="2" name="内容占位符 1"/>
          <p:cNvSpPr>
            <a:spLocks noGrp="1"/>
          </p:cNvSpPr>
          <p:nvPr>
            <p:ph idx="1"/>
          </p:nvPr>
        </p:nvSpPr>
        <p:spPr/>
        <p:txBody>
          <a:bodyPr/>
          <a:lstStyle/>
          <a:p>
            <a:r>
              <a:rPr lang="en-US" altLang="zh-CN" dirty="0"/>
              <a:t>1 </a:t>
            </a:r>
            <a:r>
              <a:rPr lang="zh-CN" altLang="zh-CN" dirty="0"/>
              <a:t>当你焦虑不安时，你可以改变什么，不能改变什么</a:t>
            </a:r>
            <a:r>
              <a:rPr lang="zh-CN" altLang="en-US" dirty="0"/>
              <a:t>；</a:t>
            </a:r>
            <a:endParaRPr lang="en-US" altLang="zh-CN" dirty="0"/>
          </a:p>
          <a:p>
            <a:r>
              <a:rPr lang="en-US" altLang="zh-CN" dirty="0"/>
              <a:t>2 </a:t>
            </a:r>
            <a:r>
              <a:rPr lang="zh-CN" altLang="zh-CN" dirty="0"/>
              <a:t>在什么情况下你不要去做无谓的挣扎，也就是说，在什么情况下你应该服从这些消极情绪。尽管它们让你很不舒服，但是有时你应该试图去改变你的外部生活而不是你自己的内心世界。</a:t>
            </a:r>
          </a:p>
          <a:p>
            <a:endParaRPr lang="zh-CN" altLang="en-US" dirty="0"/>
          </a:p>
        </p:txBody>
      </p:sp>
    </p:spTree>
    <p:extLst>
      <p:ext uri="{BB962C8B-B14F-4D97-AF65-F5344CB8AC3E}">
        <p14:creationId xmlns:p14="http://schemas.microsoft.com/office/powerpoint/2010/main" val="2346146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01</a:t>
            </a:r>
            <a:r>
              <a:rPr lang="zh-CN" altLang="en-US" dirty="0"/>
              <a:t>焦虑是什么</a:t>
            </a:r>
          </a:p>
        </p:txBody>
      </p:sp>
      <p:sp>
        <p:nvSpPr>
          <p:cNvPr id="2" name="内容占位符 1"/>
          <p:cNvSpPr>
            <a:spLocks noGrp="1"/>
          </p:cNvSpPr>
          <p:nvPr>
            <p:ph idx="1"/>
          </p:nvPr>
        </p:nvSpPr>
        <p:spPr/>
        <p:txBody>
          <a:bodyPr/>
          <a:lstStyle/>
          <a:p>
            <a:r>
              <a:rPr lang="zh-CN" altLang="zh-CN" dirty="0"/>
              <a:t>焦虑是危险来临的警笛，驱使我们深思熟虑、冥思苦想，企图找到各种可能的解决方法。</a:t>
            </a:r>
          </a:p>
          <a:p>
            <a:r>
              <a:rPr lang="zh-CN" altLang="zh-CN" dirty="0"/>
              <a:t>抑郁是失去心爱之人的反应。它使我们隐居遁世、看破红尘，用自己的除孤独寂寞来为它殉葬。</a:t>
            </a:r>
          </a:p>
          <a:p>
            <a:r>
              <a:rPr lang="zh-CN" altLang="zh-CN" dirty="0"/>
              <a:t>愤怒，高度活跃在我们的主观世界里，提醒我们有不好的事情发生了，告诉我们要摒弃、反抗这些不好的事情。</a:t>
            </a:r>
            <a:endParaRPr lang="zh-CN" altLang="en-US" dirty="0"/>
          </a:p>
          <a:p>
            <a:endParaRPr lang="zh-CN" altLang="en-US" dirty="0"/>
          </a:p>
        </p:txBody>
      </p:sp>
    </p:spTree>
    <p:extLst>
      <p:ext uri="{BB962C8B-B14F-4D97-AF65-F5344CB8AC3E}">
        <p14:creationId xmlns:p14="http://schemas.microsoft.com/office/powerpoint/2010/main" val="328767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02 </a:t>
            </a:r>
            <a:r>
              <a:rPr lang="zh-CN" altLang="en-US" dirty="0"/>
              <a:t>应对焦虑的三种理论与方法</a:t>
            </a:r>
          </a:p>
        </p:txBody>
      </p:sp>
      <p:sp>
        <p:nvSpPr>
          <p:cNvPr id="2" name="内容占位符 1"/>
          <p:cNvSpPr>
            <a:spLocks noGrp="1"/>
          </p:cNvSpPr>
          <p:nvPr>
            <p:ph idx="1"/>
          </p:nvPr>
        </p:nvSpPr>
        <p:spPr/>
        <p:txBody>
          <a:bodyPr/>
          <a:lstStyle/>
          <a:p>
            <a:r>
              <a:rPr lang="zh-CN" altLang="zh-CN" dirty="0"/>
              <a:t>这是一个复杂的时代，不仅仅是自我提升和心理治疗的时代，同时也是一个生物精神病学的时代。</a:t>
            </a:r>
            <a:endParaRPr lang="en-US" altLang="zh-CN" dirty="0"/>
          </a:p>
          <a:p>
            <a:r>
              <a:rPr lang="zh-CN" altLang="en-US" dirty="0"/>
              <a:t>自我提升：人本主义心理学</a:t>
            </a:r>
            <a:endParaRPr lang="en-US" altLang="zh-CN" dirty="0"/>
          </a:p>
          <a:p>
            <a:r>
              <a:rPr lang="zh-CN" altLang="en-US" dirty="0"/>
              <a:t>心理治疗  ：人本主义心理学</a:t>
            </a:r>
            <a:endParaRPr lang="en-US" altLang="zh-CN" dirty="0"/>
          </a:p>
          <a:p>
            <a:r>
              <a:rPr lang="zh-CN" altLang="en-US"/>
              <a:t>医学治疗：生物精神病学</a:t>
            </a:r>
            <a:endParaRPr lang="zh-CN" altLang="en-US" dirty="0"/>
          </a:p>
          <a:p>
            <a:endParaRPr lang="zh-CN" altLang="en-US" dirty="0"/>
          </a:p>
        </p:txBody>
      </p:sp>
    </p:spTree>
    <p:extLst>
      <p:ext uri="{BB962C8B-B14F-4D97-AF65-F5344CB8AC3E}">
        <p14:creationId xmlns:p14="http://schemas.microsoft.com/office/powerpoint/2010/main" val="676662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人本主义心理学：人性可革</a:t>
            </a:r>
            <a:br>
              <a:rPr lang="zh-CN" altLang="zh-CN" dirty="0"/>
            </a:br>
            <a:endParaRPr lang="zh-CN" altLang="en-US" dirty="0"/>
          </a:p>
        </p:txBody>
      </p:sp>
      <p:sp>
        <p:nvSpPr>
          <p:cNvPr id="2" name="内容占位符 1"/>
          <p:cNvSpPr>
            <a:spLocks noGrp="1"/>
          </p:cNvSpPr>
          <p:nvPr>
            <p:ph idx="1"/>
          </p:nvPr>
        </p:nvSpPr>
        <p:spPr/>
        <p:txBody>
          <a:bodyPr/>
          <a:lstStyle/>
          <a:p>
            <a:r>
              <a:rPr lang="zh-CN" altLang="zh-CN" dirty="0"/>
              <a:t>现代的人本主义心理学，认为人是可以自我提升与心理治疗的。如马斯洛鼓励人们把“自我实现”作为人类动机的最高形式。意志力、责任感和自由是存在主义和人本治疗的重心。</a:t>
            </a:r>
            <a:endParaRPr lang="en-US" altLang="zh-CN" dirty="0"/>
          </a:p>
          <a:p>
            <a:r>
              <a:rPr lang="zh-CN" altLang="zh-CN" dirty="0"/>
              <a:t>人能借助别人与自我的帮助，能够改变和完善的。人类个性的各个方面，只要通过足够的努力、学习或洞察力，才可以变得更好。</a:t>
            </a:r>
          </a:p>
          <a:p>
            <a:endParaRPr lang="zh-CN" altLang="en-US" dirty="0"/>
          </a:p>
        </p:txBody>
      </p:sp>
    </p:spTree>
    <p:extLst>
      <p:ext uri="{BB962C8B-B14F-4D97-AF65-F5344CB8AC3E}">
        <p14:creationId xmlns:p14="http://schemas.microsoft.com/office/powerpoint/2010/main" val="859815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生物精神病学：江山易改，本性难移</a:t>
            </a:r>
            <a:endParaRPr lang="zh-CN" altLang="en-US" dirty="0"/>
          </a:p>
        </p:txBody>
      </p:sp>
      <p:sp>
        <p:nvSpPr>
          <p:cNvPr id="2" name="内容占位符 1"/>
          <p:cNvSpPr>
            <a:spLocks noGrp="1"/>
          </p:cNvSpPr>
          <p:nvPr>
            <p:ph idx="1"/>
          </p:nvPr>
        </p:nvSpPr>
        <p:spPr/>
        <p:txBody>
          <a:bodyPr/>
          <a:lstStyle/>
          <a:p>
            <a:r>
              <a:rPr lang="zh-CN" altLang="zh-CN" dirty="0"/>
              <a:t>生物精神病学的弦外之间是我们的生物机制起着决定作用，因此不管我们多努力去改变自己，也是徒劳的。</a:t>
            </a:r>
          </a:p>
          <a:p>
            <a:r>
              <a:rPr lang="zh-CN" altLang="zh-CN" b="1" dirty="0"/>
              <a:t>生物精神病学的三个原则：</a:t>
            </a:r>
            <a:endParaRPr lang="zh-CN" altLang="zh-CN" dirty="0"/>
          </a:p>
          <a:p>
            <a:r>
              <a:rPr lang="zh-CN" altLang="zh-CN" b="1" dirty="0"/>
              <a:t>心理疾病其实是生理疾病。</a:t>
            </a:r>
            <a:endParaRPr lang="zh-CN" altLang="zh-CN" dirty="0"/>
          </a:p>
          <a:p>
            <a:r>
              <a:rPr lang="zh-CN" altLang="zh-CN" b="1" dirty="0"/>
              <a:t>情绪和心情是由大脑的化学物质控制的。</a:t>
            </a:r>
            <a:endParaRPr lang="zh-CN" altLang="zh-CN" dirty="0"/>
          </a:p>
          <a:p>
            <a:r>
              <a:rPr lang="zh-CN" altLang="zh-CN" b="1" dirty="0"/>
              <a:t>人格是由基因决定的。</a:t>
            </a:r>
            <a:endParaRPr lang="zh-CN" altLang="zh-CN" dirty="0"/>
          </a:p>
          <a:p>
            <a:endParaRPr lang="zh-CN" altLang="en-US" dirty="0"/>
          </a:p>
        </p:txBody>
      </p:sp>
    </p:spTree>
    <p:extLst>
      <p:ext uri="{BB962C8B-B14F-4D97-AF65-F5344CB8AC3E}">
        <p14:creationId xmlns:p14="http://schemas.microsoft.com/office/powerpoint/2010/main" val="1750911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生物精神病学对改变有完全不同的看法：</a:t>
            </a:r>
          </a:p>
          <a:p>
            <a:r>
              <a:rPr lang="zh-CN" altLang="zh-CN" dirty="0"/>
              <a:t>治愈内在的生理病因就等于治愈了外在的心理疾病。</a:t>
            </a:r>
          </a:p>
          <a:p>
            <a:r>
              <a:rPr lang="zh-CN" altLang="zh-CN" dirty="0"/>
              <a:t>药物可以治疗消极情绪和心情。</a:t>
            </a:r>
          </a:p>
          <a:p>
            <a:r>
              <a:rPr lang="zh-CN" altLang="zh-CN" dirty="0"/>
              <a:t>我们的人格是固定不变的。</a:t>
            </a:r>
            <a:endParaRPr lang="en-US" altLang="zh-CN" dirty="0"/>
          </a:p>
          <a:p>
            <a:r>
              <a:rPr lang="zh-CN" altLang="zh-CN" b="1" dirty="0"/>
              <a:t>生物精神病学说，如果你不喜欢自己的情绪，那就吃药吧！</a:t>
            </a:r>
            <a:endParaRPr lang="zh-CN" altLang="zh-CN" dirty="0"/>
          </a:p>
          <a:p>
            <a:endParaRPr lang="zh-CN" altLang="en-US" dirty="0"/>
          </a:p>
        </p:txBody>
      </p:sp>
    </p:spTree>
    <p:extLst>
      <p:ext uri="{BB962C8B-B14F-4D97-AF65-F5344CB8AC3E}">
        <p14:creationId xmlns:p14="http://schemas.microsoft.com/office/powerpoint/2010/main" val="1942568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焦虑症、抑郁症、狂躁症</a:t>
            </a:r>
            <a:br>
              <a:rPr lang="zh-CN" altLang="zh-CN" dirty="0"/>
            </a:br>
            <a:endParaRPr lang="zh-CN" altLang="en-US" dirty="0"/>
          </a:p>
        </p:txBody>
      </p:sp>
      <p:sp>
        <p:nvSpPr>
          <p:cNvPr id="2" name="内容占位符 1"/>
          <p:cNvSpPr>
            <a:spLocks noGrp="1"/>
          </p:cNvSpPr>
          <p:nvPr>
            <p:ph idx="1"/>
          </p:nvPr>
        </p:nvSpPr>
        <p:spPr/>
        <p:txBody>
          <a:bodyPr/>
          <a:lstStyle/>
          <a:p>
            <a:r>
              <a:rPr lang="zh-CN" altLang="zh-CN" dirty="0"/>
              <a:t>药物征服了精神分裂症、躁狂症，消除了常见的沮丧和焦虑情绪。</a:t>
            </a:r>
            <a:r>
              <a:rPr lang="zh-CN" altLang="zh-CN" b="1" dirty="0"/>
              <a:t>生物精神病学的第二个原则似乎没有什么争议了。情绪只不过是大脑的化学物质而已。</a:t>
            </a:r>
            <a:r>
              <a:rPr lang="zh-CN" altLang="zh-CN" dirty="0"/>
              <a:t>如果你不喜欢自己，就可以用适当的药物来改变自己。</a:t>
            </a:r>
          </a:p>
          <a:p>
            <a:r>
              <a:rPr lang="zh-CN" altLang="zh-CN" dirty="0"/>
              <a:t>药物对情绪是有效的，可以大大抵制躁狂，适度缓解沮丧，治疗焦虑的效果几乎是立竿见影。精神病患者的妄想症也可以用药物来控制。</a:t>
            </a:r>
          </a:p>
          <a:p>
            <a:endParaRPr lang="zh-CN" altLang="en-US" dirty="0"/>
          </a:p>
        </p:txBody>
      </p:sp>
    </p:spTree>
    <p:extLst>
      <p:ext uri="{BB962C8B-B14F-4D97-AF65-F5344CB8AC3E}">
        <p14:creationId xmlns:p14="http://schemas.microsoft.com/office/powerpoint/2010/main" val="1545139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但是任何事物都有双面性。药物也有阴暗面。它的作用与副作用经常被误解。药的真正副作用是控制疾病，而药的真正作用是制造出另一个比较轻微的疾病。只是我们常常误把这个真正作用当成副作用。</a:t>
            </a:r>
          </a:p>
          <a:p>
            <a:r>
              <a:rPr lang="zh-CN" altLang="zh-CN" b="1" dirty="0"/>
              <a:t>案例：尤利乌斯·尧雷格，</a:t>
            </a:r>
            <a:r>
              <a:rPr lang="zh-CN" altLang="zh-CN" dirty="0"/>
              <a:t>麻痹性痴呆症与疟疾，</a:t>
            </a:r>
            <a:r>
              <a:rPr lang="en-US" altLang="zh-CN" dirty="0"/>
              <a:t>1917</a:t>
            </a:r>
            <a:r>
              <a:rPr lang="zh-CN" altLang="zh-CN" dirty="0"/>
              <a:t>年，用疟疾治疗麻痹性痴呆症，</a:t>
            </a:r>
            <a:r>
              <a:rPr lang="en-US" altLang="zh-CN" dirty="0"/>
              <a:t>1927</a:t>
            </a:r>
            <a:r>
              <a:rPr lang="zh-CN" altLang="zh-CN" dirty="0"/>
              <a:t>年获诺贝尔奖，历史上获奖的精神科医生。</a:t>
            </a:r>
          </a:p>
          <a:p>
            <a:endParaRPr lang="zh-CN" altLang="en-US" dirty="0"/>
          </a:p>
          <a:p>
            <a:endParaRPr lang="zh-CN" altLang="en-US" dirty="0"/>
          </a:p>
        </p:txBody>
      </p:sp>
    </p:spTree>
    <p:extLst>
      <p:ext uri="{BB962C8B-B14F-4D97-AF65-F5344CB8AC3E}">
        <p14:creationId xmlns:p14="http://schemas.microsoft.com/office/powerpoint/2010/main" val="2749914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抗精神病</a:t>
            </a:r>
            <a:r>
              <a:rPr lang="zh-CN" altLang="en-US" dirty="0"/>
              <a:t>药、</a:t>
            </a:r>
            <a:r>
              <a:rPr lang="zh-CN" altLang="zh-CN" dirty="0"/>
              <a:t>抗抑郁药</a:t>
            </a:r>
            <a:r>
              <a:rPr lang="zh-CN" altLang="en-US" dirty="0"/>
              <a:t>、抗焦虑药都有</a:t>
            </a:r>
            <a:r>
              <a:rPr lang="zh-CN" altLang="zh-CN" dirty="0"/>
              <a:t>副作用</a:t>
            </a:r>
            <a:endParaRPr lang="en-US" altLang="zh-CN" dirty="0"/>
          </a:p>
          <a:p>
            <a:r>
              <a:rPr lang="zh-CN" altLang="zh-CN" dirty="0"/>
              <a:t>抗焦虑症药不像抗抑郁症或抗精神病的药会有不好的副作用，但长期服用，效用会降低，还可能上瘾。从某一方面来讲，焦虑是提醒你对生活做此调整的信息，而抗焦虑药却阻断了你获得信息的通路。</a:t>
            </a:r>
          </a:p>
          <a:p>
            <a:endParaRPr lang="zh-CN" altLang="zh-CN" dirty="0"/>
          </a:p>
          <a:p>
            <a:r>
              <a:rPr lang="zh-CN" altLang="en-US" dirty="0"/>
              <a:t>这些</a:t>
            </a:r>
            <a:r>
              <a:rPr lang="zh-CN" altLang="zh-CN" dirty="0"/>
              <a:t>药大概有</a:t>
            </a:r>
            <a:r>
              <a:rPr lang="en-US" altLang="zh-CN" dirty="0"/>
              <a:t>65%</a:t>
            </a:r>
            <a:r>
              <a:rPr lang="zh-CN" altLang="zh-CN" dirty="0"/>
              <a:t>是有效的，治标不治本，一旦停药就会复发。</a:t>
            </a:r>
            <a:endParaRPr lang="en-US" altLang="zh-CN" dirty="0"/>
          </a:p>
          <a:p>
            <a:endParaRPr lang="zh-CN" altLang="en-US" dirty="0"/>
          </a:p>
        </p:txBody>
      </p:sp>
    </p:spTree>
    <p:extLst>
      <p:ext uri="{BB962C8B-B14F-4D97-AF65-F5344CB8AC3E}">
        <p14:creationId xmlns:p14="http://schemas.microsoft.com/office/powerpoint/2010/main" val="1301654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药物并不能改变深层的悲观看法和抑郁症的本质。服药后抑郁症有所缓解，你会认为是给你开药的医生的功劳，而与你无关，因此你还是没有学会如何应对生活上的不如意，也没有学会渡过难关的方法，也不知道对事对人可以有怎样的不同的看法。</a:t>
            </a:r>
            <a:endParaRPr lang="zh-CN" altLang="en-US" dirty="0"/>
          </a:p>
          <a:p>
            <a:endParaRPr lang="zh-CN" altLang="en-US" dirty="0"/>
          </a:p>
        </p:txBody>
      </p:sp>
    </p:spTree>
    <p:extLst>
      <p:ext uri="{BB962C8B-B14F-4D97-AF65-F5344CB8AC3E}">
        <p14:creationId xmlns:p14="http://schemas.microsoft.com/office/powerpoint/2010/main" val="2719886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生物精神病学的三个原则</a:t>
            </a:r>
            <a:r>
              <a:rPr lang="zh-CN" altLang="en-US" dirty="0"/>
              <a:t>的修正</a:t>
            </a:r>
            <a:r>
              <a:rPr lang="zh-CN" altLang="zh-CN" dirty="0"/>
              <a:t>：</a:t>
            </a:r>
            <a:br>
              <a:rPr lang="zh-CN" altLang="zh-CN" dirty="0"/>
            </a:br>
            <a:endParaRPr lang="zh-CN" altLang="en-US" dirty="0"/>
          </a:p>
        </p:txBody>
      </p:sp>
      <p:sp>
        <p:nvSpPr>
          <p:cNvPr id="2" name="内容占位符 1"/>
          <p:cNvSpPr>
            <a:spLocks noGrp="1"/>
          </p:cNvSpPr>
          <p:nvPr>
            <p:ph idx="1"/>
          </p:nvPr>
        </p:nvSpPr>
        <p:spPr/>
        <p:txBody>
          <a:bodyPr>
            <a:normAutofit/>
          </a:bodyPr>
          <a:lstStyle/>
          <a:p>
            <a:r>
              <a:rPr lang="zh-CN" altLang="zh-CN" b="1" dirty="0"/>
              <a:t>心理疾病其实是生理疾病。</a:t>
            </a:r>
            <a:r>
              <a:rPr lang="zh-CN" altLang="zh-CN" dirty="0"/>
              <a:t>此说法只在麻痹性痴呆患者身上得到证实。</a:t>
            </a:r>
          </a:p>
          <a:p>
            <a:r>
              <a:rPr lang="zh-CN" altLang="zh-CN" b="1" dirty="0"/>
              <a:t>情绪和心情是由大脑的化学物质控制的。</a:t>
            </a:r>
            <a:r>
              <a:rPr lang="zh-CN" altLang="zh-CN" dirty="0"/>
              <a:t>药物对情绪控制只能治标，而且具有重要副作用。</a:t>
            </a:r>
          </a:p>
          <a:p>
            <a:r>
              <a:rPr lang="zh-CN" altLang="zh-CN" b="1" dirty="0"/>
              <a:t>人格是由基因决定的。</a:t>
            </a:r>
            <a:r>
              <a:rPr lang="zh-CN" altLang="zh-CN" dirty="0"/>
              <a:t>人格是会遗传的，但人格并没有占据所有的遗传基因，人格特质的可遗传程度大致为</a:t>
            </a:r>
            <a:r>
              <a:rPr lang="en-US" altLang="zh-CN" dirty="0"/>
              <a:t>0.5</a:t>
            </a:r>
            <a:r>
              <a:rPr lang="zh-CN" altLang="zh-CN" dirty="0"/>
              <a:t>（除了智商外，智商是</a:t>
            </a:r>
            <a:r>
              <a:rPr lang="en-US" altLang="zh-CN" dirty="0"/>
              <a:t>0.75</a:t>
            </a:r>
            <a:r>
              <a:rPr lang="zh-CN" altLang="zh-CN" dirty="0"/>
              <a:t>）。即至少有一半的人格是不会遗传的。</a:t>
            </a:r>
            <a:endParaRPr lang="en-US" altLang="zh-CN" dirty="0"/>
          </a:p>
          <a:p>
            <a:r>
              <a:rPr lang="zh-CN" altLang="zh-CN" b="1" dirty="0"/>
              <a:t>因此心理调适与治疗，自我提升是非常必要的。</a:t>
            </a:r>
            <a:endParaRPr lang="zh-CN" altLang="zh-CN" dirty="0"/>
          </a:p>
          <a:p>
            <a:endParaRPr lang="zh-CN" altLang="en-US" dirty="0"/>
          </a:p>
        </p:txBody>
      </p:sp>
    </p:spTree>
    <p:extLst>
      <p:ext uri="{BB962C8B-B14F-4D97-AF65-F5344CB8AC3E}">
        <p14:creationId xmlns:p14="http://schemas.microsoft.com/office/powerpoint/2010/main" val="984897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br>
              <a:rPr lang="zh-CN" altLang="zh-CN" dirty="0"/>
            </a:br>
            <a:endParaRPr lang="zh-CN" altLang="en-US" dirty="0"/>
          </a:p>
        </p:txBody>
      </p:sp>
      <p:sp>
        <p:nvSpPr>
          <p:cNvPr id="2" name="内容占位符 1"/>
          <p:cNvSpPr>
            <a:spLocks noGrp="1"/>
          </p:cNvSpPr>
          <p:nvPr>
            <p:ph idx="1"/>
          </p:nvPr>
        </p:nvSpPr>
        <p:spPr/>
        <p:txBody>
          <a:bodyPr/>
          <a:lstStyle/>
          <a:p>
            <a:r>
              <a:rPr lang="zh-CN" altLang="zh-CN" dirty="0"/>
              <a:t>心理治疗方法或药物治疗方法并没有治愈的功能，想要治愈，必须将一种古老的美德与这此干预相结合。这种美德便是勇气：理解你的心理问题并设法正确应对它们，以便在无法消除它们的情况下仍能使自己正常地生活或工作。当你将你的勇气和我现在所建议的方法相结合时，心理治疗与自我提升相结合，你一定会打破</a:t>
            </a:r>
            <a:r>
              <a:rPr lang="en-US" altLang="zh-CN" dirty="0"/>
              <a:t>65%</a:t>
            </a:r>
            <a:r>
              <a:rPr lang="zh-CN" altLang="zh-CN" dirty="0"/>
              <a:t>的效应障碍。</a:t>
            </a:r>
          </a:p>
          <a:p>
            <a:endParaRPr lang="zh-CN" altLang="en-US" dirty="0"/>
          </a:p>
        </p:txBody>
      </p:sp>
    </p:spTree>
    <p:extLst>
      <p:ext uri="{BB962C8B-B14F-4D97-AF65-F5344CB8AC3E}">
        <p14:creationId xmlns:p14="http://schemas.microsoft.com/office/powerpoint/2010/main" val="324908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dirty="0"/>
          </a:p>
        </p:txBody>
      </p:sp>
      <p:sp>
        <p:nvSpPr>
          <p:cNvPr id="2" name="内容占位符 1"/>
          <p:cNvSpPr>
            <a:spLocks noGrp="1"/>
          </p:cNvSpPr>
          <p:nvPr>
            <p:ph idx="1"/>
          </p:nvPr>
        </p:nvSpPr>
        <p:spPr/>
        <p:txBody>
          <a:bodyPr/>
          <a:lstStyle/>
          <a:p>
            <a:r>
              <a:rPr lang="zh-CN" altLang="zh-CN" dirty="0"/>
              <a:t>我们生活的时代存在着两种相互冲突的力量——心理治疗和自我提升。我们很多人正在努力作出改变：节食、慢跑、冥想。</a:t>
            </a:r>
            <a:endParaRPr lang="en-US" altLang="zh-CN" dirty="0"/>
          </a:p>
          <a:p>
            <a:r>
              <a:rPr lang="zh-CN" altLang="zh-CN" dirty="0"/>
              <a:t>然而，有志者，不一定事竟成。有时候自我提升和心理治疗会起作用，但更多的时候是无效的。</a:t>
            </a:r>
            <a:endParaRPr lang="zh-CN" altLang="en-US" dirty="0"/>
          </a:p>
          <a:p>
            <a:endParaRPr lang="zh-CN" altLang="en-US" dirty="0"/>
          </a:p>
        </p:txBody>
      </p:sp>
    </p:spTree>
    <p:extLst>
      <p:ext uri="{BB962C8B-B14F-4D97-AF65-F5344CB8AC3E}">
        <p14:creationId xmlns:p14="http://schemas.microsoft.com/office/powerpoint/2010/main" val="3048904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03</a:t>
            </a:r>
            <a:r>
              <a:rPr lang="zh-CN" altLang="zh-CN" dirty="0"/>
              <a:t>如何</a:t>
            </a:r>
            <a:r>
              <a:rPr lang="zh-CN" altLang="en-US" dirty="0"/>
              <a:t>应</a:t>
            </a:r>
            <a:r>
              <a:rPr lang="zh-CN" altLang="zh-CN" dirty="0"/>
              <a:t>对焦虑</a:t>
            </a:r>
            <a:endParaRPr lang="zh-CN" altLang="en-US" dirty="0"/>
          </a:p>
        </p:txBody>
      </p:sp>
      <p:sp>
        <p:nvSpPr>
          <p:cNvPr id="2" name="内容占位符 1"/>
          <p:cNvSpPr>
            <a:spLocks noGrp="1"/>
          </p:cNvSpPr>
          <p:nvPr>
            <p:ph idx="1"/>
          </p:nvPr>
        </p:nvSpPr>
        <p:spPr/>
        <p:txBody>
          <a:bodyPr/>
          <a:lstStyle/>
          <a:p>
            <a:r>
              <a:rPr lang="zh-CN" altLang="zh-CN" dirty="0"/>
              <a:t>我们需要去区别哪此是可以改变的，哪些是不可改变的。这样你就可以集中你有限的精力和时间投入到那些可以改变的事情上去。</a:t>
            </a:r>
            <a:endParaRPr lang="en-US" altLang="zh-CN" dirty="0"/>
          </a:p>
          <a:p>
            <a:r>
              <a:rPr lang="zh-CN" altLang="zh-CN" dirty="0"/>
              <a:t>当我们想要改变一些无法改变的东西时，我们常常错误地认为自己是个意志力薄弱的失败者。不过这些努力是必需的，正因为有了这么多的失败，我们才知道什么是不可改变的，这也使我们第一次真正知道什么是可以改变的。</a:t>
            </a:r>
          </a:p>
          <a:p>
            <a:endParaRPr lang="zh-CN" altLang="en-US" dirty="0"/>
          </a:p>
          <a:p>
            <a:endParaRPr lang="zh-CN" altLang="en-US" dirty="0"/>
          </a:p>
        </p:txBody>
      </p:sp>
    </p:spTree>
    <p:extLst>
      <p:ext uri="{BB962C8B-B14F-4D97-AF65-F5344CB8AC3E}">
        <p14:creationId xmlns:p14="http://schemas.microsoft.com/office/powerpoint/2010/main" val="1618227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分清了什么是可以改变的和什么是我们必须接受的，就是真正改变的开始的。利用我们宝贵的时间去改变那些可以改变的、值得我们去改变的东西，我们的生活就会少一些自责，多一些自信。</a:t>
            </a:r>
          </a:p>
          <a:p>
            <a:endParaRPr lang="zh-CN" altLang="en-US" dirty="0"/>
          </a:p>
        </p:txBody>
      </p:sp>
    </p:spTree>
    <p:extLst>
      <p:ext uri="{BB962C8B-B14F-4D97-AF65-F5344CB8AC3E}">
        <p14:creationId xmlns:p14="http://schemas.microsoft.com/office/powerpoint/2010/main" val="793940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zh-CN" altLang="zh-CN" dirty="0"/>
              <a:t>焦虑是心灵卫士，它为你身体护驾的第一道防线。它让你暂时从忙忙碌碌中抽身出来，停下来让它做一个全面体检。</a:t>
            </a:r>
            <a:endParaRPr lang="en-US" altLang="zh-CN" dirty="0"/>
          </a:p>
          <a:p>
            <a:r>
              <a:rPr lang="zh-CN" altLang="zh-CN" dirty="0"/>
              <a:t>你可以用一些行为来矫正它，如用酒精、镇静剂和药物来麻痹自己，也可以通过一些冥想或放松的方法来削弱它们。你可以通过加强对危险的自动化思维的有意识控制来打倒焦虑。这些自动化思维会加剧焦虑的程度，所以控制了他们就能有效地消除焦虑。</a:t>
            </a:r>
            <a:endParaRPr lang="zh-CN" altLang="en-US" dirty="0"/>
          </a:p>
          <a:p>
            <a:endParaRPr lang="zh-CN" altLang="en-US" dirty="0"/>
          </a:p>
        </p:txBody>
      </p:sp>
    </p:spTree>
    <p:extLst>
      <p:ext uri="{BB962C8B-B14F-4D97-AF65-F5344CB8AC3E}">
        <p14:creationId xmlns:p14="http://schemas.microsoft.com/office/powerpoint/2010/main" val="3453581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但是不要觉得焦虑为你做的这些事情是不足挂齿的。回想一下它带给你的那些伤痛，那些折磨都只是为了给你敲响危险将近的警钟，提醒你做好准备，有备无患。它甚至可以让你避开这些危险。它如人生的警示灯。所以对那些焦躁不安的情绪，我们应该忍受、关注甚至心怀感激。</a:t>
            </a:r>
          </a:p>
          <a:p>
            <a:endParaRPr lang="zh-CN" altLang="en-US" dirty="0"/>
          </a:p>
        </p:txBody>
      </p:sp>
    </p:spTree>
    <p:extLst>
      <p:ext uri="{BB962C8B-B14F-4D97-AF65-F5344CB8AC3E}">
        <p14:creationId xmlns:p14="http://schemas.microsoft.com/office/powerpoint/2010/main" val="182057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什么时候不该焦虑</a:t>
            </a:r>
            <a:br>
              <a:rPr lang="zh-CN" altLang="zh-CN" dirty="0"/>
            </a:br>
            <a:endParaRPr lang="zh-CN" altLang="en-US" dirty="0"/>
          </a:p>
        </p:txBody>
      </p:sp>
      <p:sp>
        <p:nvSpPr>
          <p:cNvPr id="2" name="内容占位符 1"/>
          <p:cNvSpPr>
            <a:spLocks noGrp="1"/>
          </p:cNvSpPr>
          <p:nvPr>
            <p:ph idx="1"/>
          </p:nvPr>
        </p:nvSpPr>
        <p:spPr/>
        <p:txBody>
          <a:bodyPr/>
          <a:lstStyle/>
          <a:p>
            <a:r>
              <a:rPr lang="zh-CN" altLang="zh-CN" dirty="0"/>
              <a:t>我们生活中的某些焦虑、抑郁和愤怒都表现得过于活跃，超出了它们的能力范围。我们身上预知危险的能力有时会太敏感，会让某些人觉得他自己一直处于危险之中</a:t>
            </a:r>
            <a:r>
              <a:rPr lang="zh-CN" altLang="en-US" dirty="0"/>
              <a:t>。</a:t>
            </a:r>
          </a:p>
          <a:p>
            <a:endParaRPr lang="zh-CN" altLang="en-US" dirty="0"/>
          </a:p>
        </p:txBody>
      </p:sp>
    </p:spTree>
    <p:extLst>
      <p:ext uri="{BB962C8B-B14F-4D97-AF65-F5344CB8AC3E}">
        <p14:creationId xmlns:p14="http://schemas.microsoft.com/office/powerpoint/2010/main" val="3689872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b="1" dirty="0"/>
              <a:t>第一，你的焦虑是不是不可理喻？</a:t>
            </a:r>
            <a:endParaRPr lang="en-US" altLang="zh-CN" b="1" dirty="0"/>
          </a:p>
          <a:p>
            <a:r>
              <a:rPr lang="zh-CN" altLang="zh-CN" dirty="0"/>
              <a:t>我们要时常将我内心的“坏天气”与外部真实的“天气”进行校准。你的焦虑是否已经超出了对现实威胁应有的反应范围？</a:t>
            </a:r>
          </a:p>
          <a:p>
            <a:endParaRPr lang="zh-CN" altLang="en-US" dirty="0"/>
          </a:p>
          <a:p>
            <a:endParaRPr lang="zh-CN" altLang="en-US" dirty="0"/>
          </a:p>
        </p:txBody>
      </p:sp>
    </p:spTree>
    <p:extLst>
      <p:ext uri="{BB962C8B-B14F-4D97-AF65-F5344CB8AC3E}">
        <p14:creationId xmlns:p14="http://schemas.microsoft.com/office/powerpoint/2010/main" val="2415424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zh-CN" dirty="0"/>
              <a:t>合理的焦虑</a:t>
            </a:r>
            <a:r>
              <a:rPr lang="zh-CN" altLang="en-US" dirty="0"/>
              <a:t>与不合理的焦虑</a:t>
            </a:r>
          </a:p>
        </p:txBody>
      </p:sp>
      <p:sp>
        <p:nvSpPr>
          <p:cNvPr id="2" name="内容占位符 1"/>
          <p:cNvSpPr>
            <a:spLocks noGrp="1"/>
          </p:cNvSpPr>
          <p:nvPr>
            <p:ph idx="1"/>
          </p:nvPr>
        </p:nvSpPr>
        <p:spPr/>
        <p:txBody>
          <a:bodyPr/>
          <a:lstStyle/>
          <a:p>
            <a:r>
              <a:rPr lang="zh-CN" altLang="zh-CN" b="1" i="1" dirty="0"/>
              <a:t>一位曾在科威特参与过扑灭油田大火的消防员一直倍受噩梦的困扰。他总是在凌晨四点被噩梦惊醒。</a:t>
            </a:r>
            <a:endParaRPr lang="en-US" altLang="zh-CN" b="1" i="1" dirty="0"/>
          </a:p>
          <a:p>
            <a:r>
              <a:rPr lang="zh-CN" altLang="zh-CN" b="1" i="1" dirty="0"/>
              <a:t>一个拥有</a:t>
            </a:r>
            <a:r>
              <a:rPr lang="en-US" altLang="zh-CN" b="1" i="1" dirty="0"/>
              <a:t>MBA</a:t>
            </a:r>
            <a:r>
              <a:rPr lang="zh-CN" altLang="zh-CN" b="1" i="1" dirty="0"/>
              <a:t>学位的家庭主妇，在生下双胞胎前做了十年财务副总裁。为了确保能顺利找到工作，她花了一个月才把简历做好。</a:t>
            </a:r>
            <a:endParaRPr lang="zh-CN" altLang="zh-CN" dirty="0"/>
          </a:p>
          <a:p>
            <a:endParaRPr lang="zh-CN" altLang="zh-CN" dirty="0"/>
          </a:p>
          <a:p>
            <a:endParaRPr lang="en-US" altLang="zh-CN" b="1" i="1" dirty="0"/>
          </a:p>
          <a:p>
            <a:endParaRPr lang="zh-CN" altLang="en-US" dirty="0"/>
          </a:p>
        </p:txBody>
      </p:sp>
    </p:spTree>
    <p:extLst>
      <p:ext uri="{BB962C8B-B14F-4D97-AF65-F5344CB8AC3E}">
        <p14:creationId xmlns:p14="http://schemas.microsoft.com/office/powerpoint/2010/main" val="2273424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b="1" i="1" dirty="0"/>
              <a:t>一位大学生不去参加考试是因为他担心，在她答题时，教授会一直盯着她看，这样她的手会不由自主的发抖。</a:t>
            </a:r>
            <a:endParaRPr lang="en-US" altLang="zh-CN" b="1" i="1" dirty="0"/>
          </a:p>
          <a:p>
            <a:r>
              <a:rPr lang="zh-CN" altLang="zh-CN" i="1" dirty="0"/>
              <a:t>一个小伙子时时担忧他的女朋友会对他不忠，所以他不再与她约会了。</a:t>
            </a:r>
            <a:endParaRPr lang="zh-CN" altLang="zh-CN" dirty="0"/>
          </a:p>
          <a:p>
            <a:endParaRPr lang="zh-CN" altLang="zh-CN" dirty="0"/>
          </a:p>
          <a:p>
            <a:endParaRPr lang="zh-CN" altLang="zh-CN" dirty="0"/>
          </a:p>
          <a:p>
            <a:endParaRPr lang="zh-CN" altLang="en-US" dirty="0"/>
          </a:p>
        </p:txBody>
      </p:sp>
    </p:spTree>
    <p:extLst>
      <p:ext uri="{BB962C8B-B14F-4D97-AF65-F5344CB8AC3E}">
        <p14:creationId xmlns:p14="http://schemas.microsoft.com/office/powerpoint/2010/main" val="2453112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endParaRPr lang="zh-CN" altLang="zh-CN" dirty="0"/>
          </a:p>
          <a:p>
            <a:r>
              <a:rPr lang="zh-CN" altLang="zh-CN" b="1" i="1" dirty="0"/>
              <a:t>一个带着三个小孩的妈妈在她丈夫的衬衣上嗅到了香水味，于是醋意大发，怒火中烧，认定她丈夫一定有婚外情，并在心里逐一排查可能与他丈夫有染的女人。</a:t>
            </a:r>
            <a:endParaRPr lang="en-US" altLang="zh-CN" b="1" i="1" dirty="0"/>
          </a:p>
          <a:p>
            <a:r>
              <a:rPr lang="en-US" altLang="zh-CN" i="1" dirty="0"/>
              <a:t> </a:t>
            </a:r>
            <a:r>
              <a:rPr lang="zh-CN" altLang="zh-CN" i="1" dirty="0"/>
              <a:t>一个学生在任何活动中总是最好的，所以他拒绝去上学，并认为“每个人都很恨我”。</a:t>
            </a:r>
            <a:endParaRPr lang="en-US" altLang="zh-CN" b="1" i="1" dirty="0"/>
          </a:p>
          <a:p>
            <a:endParaRPr lang="zh-CN" altLang="zh-CN" dirty="0"/>
          </a:p>
          <a:p>
            <a:endParaRPr lang="zh-CN" altLang="en-US" dirty="0"/>
          </a:p>
        </p:txBody>
      </p:sp>
    </p:spTree>
    <p:extLst>
      <p:ext uri="{BB962C8B-B14F-4D97-AF65-F5344CB8AC3E}">
        <p14:creationId xmlns:p14="http://schemas.microsoft.com/office/powerpoint/2010/main" val="1445998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zh-CN" altLang="zh-CN" b="1" i="1" dirty="0"/>
              <a:t>一个八岁的小孩，他的父母关系恶劣，最终离了婚。这个孩子经常晚上会尿床，一直担忧卧室的天花板会掉下来砸死他。</a:t>
            </a:r>
            <a:endParaRPr lang="en-US" altLang="zh-CN" b="1" i="1" dirty="0"/>
          </a:p>
          <a:p>
            <a:r>
              <a:rPr lang="zh-CN" altLang="zh-CN" b="1" i="1" dirty="0"/>
              <a:t>一个在期中考试中挂掉两门的学生在临近期末考试时担忧地睡不着觉</a:t>
            </a:r>
            <a:endParaRPr lang="zh-CN" altLang="zh-CN" dirty="0"/>
          </a:p>
          <a:p>
            <a:endParaRPr lang="zh-CN" altLang="en-US" dirty="0"/>
          </a:p>
          <a:p>
            <a:endParaRPr lang="zh-CN" altLang="en-US" dirty="0"/>
          </a:p>
        </p:txBody>
      </p:sp>
    </p:spTree>
    <p:extLst>
      <p:ext uri="{BB962C8B-B14F-4D97-AF65-F5344CB8AC3E}">
        <p14:creationId xmlns:p14="http://schemas.microsoft.com/office/powerpoint/2010/main" val="2169398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i="1" dirty="0"/>
              <a:t>一名推销员总担心他的下一个客户会挂掉他的电话，所以迟迟不肯拨电话。</a:t>
            </a:r>
            <a:endParaRPr lang="zh-CN" altLang="zh-CN" dirty="0"/>
          </a:p>
          <a:p>
            <a:r>
              <a:rPr lang="zh-CN" altLang="zh-CN" i="1" dirty="0"/>
              <a:t>一位作家因为害怕被退稿，所以不再动笔写作了。</a:t>
            </a:r>
            <a:endParaRPr lang="zh-CN" altLang="zh-CN" dirty="0"/>
          </a:p>
          <a:p>
            <a:endParaRPr lang="zh-CN" altLang="en-US" dirty="0"/>
          </a:p>
          <a:p>
            <a:endParaRPr lang="zh-CN" altLang="en-US" dirty="0"/>
          </a:p>
        </p:txBody>
      </p:sp>
    </p:spTree>
    <p:extLst>
      <p:ext uri="{BB962C8B-B14F-4D97-AF65-F5344CB8AC3E}">
        <p14:creationId xmlns:p14="http://schemas.microsoft.com/office/powerpoint/2010/main" val="1082253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a:bodyPr>
          <a:lstStyle/>
          <a:p>
            <a:r>
              <a:rPr lang="zh-CN" altLang="zh-CN" i="1" dirty="0"/>
              <a:t>一位妇女总担心出门会被汽车撞死，所以终日躲在家里不敢出门。</a:t>
            </a:r>
            <a:endParaRPr lang="en-US" altLang="zh-CN" i="1" dirty="0"/>
          </a:p>
          <a:p>
            <a:endParaRPr lang="zh-CN" altLang="zh-CN" dirty="0"/>
          </a:p>
          <a:p>
            <a:r>
              <a:rPr lang="en-US" altLang="zh-CN" i="1" dirty="0"/>
              <a:t>  </a:t>
            </a:r>
            <a:endParaRPr lang="en-US" altLang="zh-CN" b="1" i="1" dirty="0"/>
          </a:p>
          <a:p>
            <a:r>
              <a:rPr lang="zh-CN" altLang="zh-CN" b="1" i="1" dirty="0"/>
              <a:t>一位单亲妈妈独自抚养一个小孩。在她同事接到解雇通知书时，她也开始坐立不安。</a:t>
            </a:r>
            <a:endParaRPr lang="en-US" altLang="zh-CN" b="1" i="1" dirty="0"/>
          </a:p>
          <a:p>
            <a:endParaRPr lang="zh-CN" altLang="en-US" dirty="0"/>
          </a:p>
        </p:txBody>
      </p:sp>
    </p:spTree>
    <p:extLst>
      <p:ext uri="{BB962C8B-B14F-4D97-AF65-F5344CB8AC3E}">
        <p14:creationId xmlns:p14="http://schemas.microsoft.com/office/powerpoint/2010/main" val="2226817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第二，焦虑失控的麻痹性</a:t>
            </a:r>
            <a:br>
              <a:rPr lang="zh-CN" altLang="zh-CN" dirty="0"/>
            </a:br>
            <a:endParaRPr lang="zh-CN" altLang="en-US" dirty="0"/>
          </a:p>
        </p:txBody>
      </p:sp>
      <p:sp>
        <p:nvSpPr>
          <p:cNvPr id="2" name="内容占位符 1"/>
          <p:cNvSpPr>
            <a:spLocks noGrp="1"/>
          </p:cNvSpPr>
          <p:nvPr>
            <p:ph idx="1"/>
          </p:nvPr>
        </p:nvSpPr>
        <p:spPr/>
        <p:txBody>
          <a:bodyPr/>
          <a:lstStyle/>
          <a:p>
            <a:r>
              <a:rPr lang="zh-CN" altLang="zh-CN" dirty="0"/>
              <a:t>焦虑的初衷是促使你采取行动，改变生活。当焦虑日渐壮大时，这一切都是自动化。当焦虑达到极致时，它就会麻痹你，让你变得无动于衷。你的焦虑是否也遵循这样的发展规律。</a:t>
            </a:r>
            <a:endParaRPr lang="zh-CN" altLang="en-US" dirty="0"/>
          </a:p>
          <a:p>
            <a:endParaRPr lang="zh-CN" altLang="en-US" dirty="0"/>
          </a:p>
        </p:txBody>
      </p:sp>
    </p:spTree>
    <p:extLst>
      <p:ext uri="{BB962C8B-B14F-4D97-AF65-F5344CB8AC3E}">
        <p14:creationId xmlns:p14="http://schemas.microsoft.com/office/powerpoint/2010/main" val="418475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第三，焦虑的强度</a:t>
            </a:r>
            <a:endParaRPr lang="zh-CN" altLang="en-US" dirty="0"/>
          </a:p>
        </p:txBody>
      </p:sp>
      <p:sp>
        <p:nvSpPr>
          <p:cNvPr id="2" name="内容占位符 1"/>
          <p:cNvSpPr>
            <a:spLocks noGrp="1"/>
          </p:cNvSpPr>
          <p:nvPr>
            <p:ph idx="1"/>
          </p:nvPr>
        </p:nvSpPr>
        <p:spPr/>
        <p:txBody>
          <a:bodyPr/>
          <a:lstStyle/>
          <a:p>
            <a:r>
              <a:rPr lang="zh-CN" altLang="zh-CN" dirty="0"/>
              <a:t>测测你有多焦虑</a:t>
            </a:r>
          </a:p>
          <a:p>
            <a:r>
              <a:rPr lang="zh-CN" altLang="zh-CN" dirty="0"/>
              <a:t>请仔细阅读下面的每个题目，然后选出最能代表你通常感受的那个选项。问题的答案没有对错之分。不要在一道题目上花费过多的时间，只要选出你通常感受的选项即可。</a:t>
            </a:r>
            <a:endParaRPr lang="zh-CN" altLang="en-US" dirty="0"/>
          </a:p>
          <a:p>
            <a:endParaRPr lang="zh-CN" altLang="en-US" dirty="0"/>
          </a:p>
        </p:txBody>
      </p:sp>
    </p:spTree>
    <p:extLst>
      <p:ext uri="{BB962C8B-B14F-4D97-AF65-F5344CB8AC3E}">
        <p14:creationId xmlns:p14="http://schemas.microsoft.com/office/powerpoint/2010/main" val="2067013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fontScale="92500"/>
          </a:bodyPr>
          <a:lstStyle/>
          <a:p>
            <a:r>
              <a:rPr lang="en-US" altLang="zh-CN" dirty="0"/>
              <a:t>1</a:t>
            </a:r>
            <a:r>
              <a:rPr lang="zh-CN" altLang="zh-CN" dirty="0"/>
              <a:t>．我是一个情绪平稳的人。</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2 </a:t>
            </a:r>
            <a:r>
              <a:rPr lang="zh-CN" altLang="zh-CN" dirty="0"/>
              <a:t>我对自己很满意。</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3 </a:t>
            </a:r>
            <a:r>
              <a:rPr lang="zh-CN" altLang="zh-CN" dirty="0"/>
              <a:t>我感到焦虑和紧张。</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4</a:t>
            </a:r>
            <a:r>
              <a:rPr lang="zh-CN" altLang="zh-CN" dirty="0"/>
              <a:t>我希望自己能像别人认为的那样快乐。</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5 </a:t>
            </a:r>
            <a:r>
              <a:rPr lang="zh-CN" altLang="zh-CN" dirty="0"/>
              <a:t>我觉得自己是个失败者。</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endParaRPr lang="zh-CN" altLang="en-US" dirty="0"/>
          </a:p>
        </p:txBody>
      </p:sp>
    </p:spTree>
    <p:extLst>
      <p:ext uri="{BB962C8B-B14F-4D97-AF65-F5344CB8AC3E}">
        <p14:creationId xmlns:p14="http://schemas.microsoft.com/office/powerpoint/2010/main" val="2721935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normAutofit fontScale="92500"/>
          </a:bodyPr>
          <a:lstStyle/>
          <a:p>
            <a:r>
              <a:rPr lang="en-US" altLang="zh-CN" dirty="0"/>
              <a:t>6 </a:t>
            </a:r>
            <a:r>
              <a:rPr lang="zh-CN" altLang="zh-CN" dirty="0"/>
              <a:t>每当我反思最近的得失时，我都会焦虑不安。</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7 </a:t>
            </a:r>
            <a:r>
              <a:rPr lang="zh-CN" altLang="zh-CN" dirty="0"/>
              <a:t>我很有安全感。</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8 </a:t>
            </a:r>
            <a:r>
              <a:rPr lang="zh-CN" altLang="zh-CN" dirty="0"/>
              <a:t>我信心满满。</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9 </a:t>
            </a:r>
            <a:r>
              <a:rPr lang="zh-CN" altLang="zh-CN" dirty="0"/>
              <a:t>我觉得自己能力不足。</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r>
              <a:rPr lang="en-US" altLang="zh-CN" dirty="0"/>
              <a:t>10 </a:t>
            </a:r>
            <a:r>
              <a:rPr lang="zh-CN" altLang="zh-CN" dirty="0"/>
              <a:t>我会杞人忧天。</a:t>
            </a:r>
          </a:p>
          <a:p>
            <a:r>
              <a:rPr lang="en-US" altLang="zh-CN" dirty="0"/>
              <a:t>A </a:t>
            </a:r>
            <a:r>
              <a:rPr lang="zh-CN" altLang="zh-CN" dirty="0"/>
              <a:t>几乎不是</a:t>
            </a:r>
            <a:r>
              <a:rPr lang="en-US" altLang="zh-CN" dirty="0"/>
              <a:t>  B  </a:t>
            </a:r>
            <a:r>
              <a:rPr lang="zh-CN" altLang="zh-CN" dirty="0"/>
              <a:t>有时如此</a:t>
            </a:r>
            <a:r>
              <a:rPr lang="en-US" altLang="zh-CN" dirty="0"/>
              <a:t>  C </a:t>
            </a:r>
            <a:r>
              <a:rPr lang="zh-CN" altLang="zh-CN" dirty="0"/>
              <a:t>经常如此</a:t>
            </a:r>
            <a:r>
              <a:rPr lang="en-US" altLang="zh-CN" dirty="0"/>
              <a:t>  D </a:t>
            </a:r>
            <a:r>
              <a:rPr lang="zh-CN" altLang="zh-CN" dirty="0"/>
              <a:t>一直如此</a:t>
            </a:r>
          </a:p>
          <a:p>
            <a:endParaRPr lang="zh-CN" altLang="en-US" dirty="0"/>
          </a:p>
        </p:txBody>
      </p:sp>
    </p:spTree>
    <p:extLst>
      <p:ext uri="{BB962C8B-B14F-4D97-AF65-F5344CB8AC3E}">
        <p14:creationId xmlns:p14="http://schemas.microsoft.com/office/powerpoint/2010/main" val="3007913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评分标准：</a:t>
            </a:r>
            <a:r>
              <a:rPr lang="en-US" altLang="zh-CN" dirty="0"/>
              <a:t>1</a:t>
            </a:r>
            <a:r>
              <a:rPr lang="zh-CN" altLang="zh-CN" dirty="0"/>
              <a:t>、</a:t>
            </a:r>
            <a:r>
              <a:rPr lang="en-US" altLang="zh-CN" dirty="0"/>
              <a:t>2</a:t>
            </a:r>
            <a:r>
              <a:rPr lang="zh-CN" altLang="zh-CN" dirty="0"/>
              <a:t>题（</a:t>
            </a:r>
            <a:r>
              <a:rPr lang="en-US" altLang="zh-CN" dirty="0"/>
              <a:t>4321</a:t>
            </a:r>
            <a:r>
              <a:rPr lang="zh-CN" altLang="zh-CN" dirty="0"/>
              <a:t>），</a:t>
            </a:r>
            <a:r>
              <a:rPr lang="en-US" altLang="zh-CN" dirty="0"/>
              <a:t>3</a:t>
            </a:r>
            <a:r>
              <a:rPr lang="zh-CN" altLang="zh-CN" dirty="0"/>
              <a:t>、</a:t>
            </a:r>
            <a:r>
              <a:rPr lang="en-US" altLang="zh-CN" dirty="0"/>
              <a:t>4</a:t>
            </a:r>
            <a:r>
              <a:rPr lang="zh-CN" altLang="zh-CN" dirty="0"/>
              <a:t>、</a:t>
            </a:r>
            <a:r>
              <a:rPr lang="en-US" altLang="zh-CN" dirty="0"/>
              <a:t>5</a:t>
            </a:r>
            <a:r>
              <a:rPr lang="zh-CN" altLang="zh-CN" dirty="0"/>
              <a:t>（</a:t>
            </a:r>
            <a:r>
              <a:rPr lang="en-US" altLang="zh-CN" dirty="0"/>
              <a:t>1234</a:t>
            </a:r>
            <a:r>
              <a:rPr lang="zh-CN" altLang="zh-CN" dirty="0"/>
              <a:t>）</a:t>
            </a:r>
            <a:r>
              <a:rPr lang="en-US" altLang="zh-CN" dirty="0"/>
              <a:t>6</a:t>
            </a:r>
            <a:r>
              <a:rPr lang="zh-CN" altLang="zh-CN" dirty="0"/>
              <a:t>、</a:t>
            </a:r>
            <a:r>
              <a:rPr lang="en-US" altLang="zh-CN" dirty="0"/>
              <a:t>7</a:t>
            </a:r>
            <a:r>
              <a:rPr lang="zh-CN" altLang="zh-CN" dirty="0"/>
              <a:t>、</a:t>
            </a:r>
            <a:r>
              <a:rPr lang="en-US" altLang="zh-CN" dirty="0"/>
              <a:t>8</a:t>
            </a:r>
            <a:r>
              <a:rPr lang="zh-CN" altLang="zh-CN" dirty="0"/>
              <a:t>（</a:t>
            </a:r>
            <a:r>
              <a:rPr lang="en-US" altLang="zh-CN" dirty="0"/>
              <a:t>4321</a:t>
            </a:r>
            <a:r>
              <a:rPr lang="zh-CN" altLang="zh-CN" dirty="0"/>
              <a:t>）</a:t>
            </a:r>
            <a:r>
              <a:rPr lang="en-US" altLang="zh-CN" dirty="0"/>
              <a:t>9</a:t>
            </a:r>
            <a:r>
              <a:rPr lang="zh-CN" altLang="zh-CN" dirty="0"/>
              <a:t>、</a:t>
            </a:r>
            <a:r>
              <a:rPr lang="en-US" altLang="zh-CN" dirty="0"/>
              <a:t>10</a:t>
            </a:r>
            <a:r>
              <a:rPr lang="zh-CN" altLang="zh-CN" dirty="0"/>
              <a:t>（</a:t>
            </a:r>
            <a:r>
              <a:rPr lang="en-US" altLang="zh-CN" dirty="0"/>
              <a:t>1234</a:t>
            </a:r>
            <a:r>
              <a:rPr lang="zh-CN" altLang="zh-CN" dirty="0"/>
              <a:t>）</a:t>
            </a:r>
          </a:p>
          <a:p>
            <a:r>
              <a:rPr lang="zh-CN" altLang="zh-CN" dirty="0"/>
              <a:t>分数解释：请把</a:t>
            </a:r>
            <a:r>
              <a:rPr lang="en-US" altLang="zh-CN" dirty="0"/>
              <a:t>10</a:t>
            </a:r>
            <a:r>
              <a:rPr lang="zh-CN" altLang="zh-CN" dirty="0"/>
              <a:t>道题的分数加起来。你的分数越高，表明你的焦虑越严重。成年男性和女性的平均分略有不同，女性的焦虑程度略高于男性。</a:t>
            </a:r>
          </a:p>
          <a:p>
            <a:endParaRPr lang="zh-CN" altLang="en-US" dirty="0"/>
          </a:p>
        </p:txBody>
      </p:sp>
    </p:spTree>
    <p:extLst>
      <p:ext uri="{BB962C8B-B14F-4D97-AF65-F5344CB8AC3E}">
        <p14:creationId xmlns:p14="http://schemas.microsoft.com/office/powerpoint/2010/main" val="2656623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en-US" altLang="zh-CN" dirty="0"/>
              <a:t>10</a:t>
            </a:r>
            <a:r>
              <a:rPr lang="zh-CN" altLang="zh-CN" dirty="0"/>
              <a:t>－</a:t>
            </a:r>
            <a:r>
              <a:rPr lang="en-US" altLang="zh-CN" dirty="0"/>
              <a:t>11</a:t>
            </a:r>
            <a:r>
              <a:rPr lang="zh-CN" altLang="zh-CN" dirty="0"/>
              <a:t>分：焦虑程度很低；</a:t>
            </a:r>
            <a:endParaRPr lang="en-US" altLang="zh-CN" dirty="0"/>
          </a:p>
          <a:p>
            <a:r>
              <a:rPr lang="en-US" altLang="zh-CN" dirty="0"/>
              <a:t>13</a:t>
            </a:r>
            <a:r>
              <a:rPr lang="zh-CN" altLang="zh-CN" dirty="0"/>
              <a:t>－</a:t>
            </a:r>
            <a:r>
              <a:rPr lang="en-US" altLang="zh-CN" dirty="0"/>
              <a:t>14</a:t>
            </a:r>
            <a:r>
              <a:rPr lang="zh-CN" altLang="zh-CN" dirty="0"/>
              <a:t>分：焦虑程度比较低；</a:t>
            </a:r>
            <a:endParaRPr lang="en-US" altLang="zh-CN" dirty="0"/>
          </a:p>
          <a:p>
            <a:r>
              <a:rPr lang="en-US" altLang="zh-CN" dirty="0"/>
              <a:t>16</a:t>
            </a:r>
            <a:r>
              <a:rPr lang="zh-CN" altLang="zh-CN" dirty="0"/>
              <a:t>－</a:t>
            </a:r>
            <a:r>
              <a:rPr lang="en-US" altLang="zh-CN" dirty="0"/>
              <a:t>17</a:t>
            </a:r>
            <a:r>
              <a:rPr lang="zh-CN" altLang="zh-CN" dirty="0"/>
              <a:t>分：焦虑程度一般；</a:t>
            </a:r>
            <a:endParaRPr lang="en-US" altLang="zh-CN" dirty="0"/>
          </a:p>
          <a:p>
            <a:r>
              <a:rPr lang="en-US" altLang="zh-CN" dirty="0"/>
              <a:t>19</a:t>
            </a:r>
            <a:r>
              <a:rPr lang="zh-CN" altLang="zh-CN" dirty="0"/>
              <a:t>－</a:t>
            </a:r>
            <a:r>
              <a:rPr lang="en-US" altLang="zh-CN" dirty="0"/>
              <a:t>20</a:t>
            </a:r>
            <a:r>
              <a:rPr lang="zh-CN" altLang="zh-CN" dirty="0"/>
              <a:t>分：焦虑程度比较高；（焦虑水平在</a:t>
            </a:r>
            <a:r>
              <a:rPr lang="en-US" altLang="zh-CN" dirty="0"/>
              <a:t>75%</a:t>
            </a:r>
            <a:r>
              <a:rPr lang="zh-CN" altLang="zh-CN" dirty="0"/>
              <a:t>左右）</a:t>
            </a:r>
            <a:r>
              <a:rPr lang="en-US" altLang="zh-CN" dirty="0"/>
              <a:t>2</a:t>
            </a:r>
          </a:p>
          <a:p>
            <a:r>
              <a:rPr lang="en-US" altLang="zh-CN" dirty="0"/>
              <a:t>2</a:t>
            </a:r>
            <a:r>
              <a:rPr lang="zh-CN" altLang="zh-CN" dirty="0"/>
              <a:t>－</a:t>
            </a:r>
            <a:r>
              <a:rPr lang="en-US" altLang="zh-CN" dirty="0"/>
              <a:t>24</a:t>
            </a:r>
            <a:r>
              <a:rPr lang="zh-CN" altLang="zh-CN" dirty="0"/>
              <a:t>分：如果你是男性，说明你的焦虑程度很高；</a:t>
            </a:r>
            <a:endParaRPr lang="en-US" altLang="zh-CN" dirty="0"/>
          </a:p>
          <a:p>
            <a:r>
              <a:rPr lang="en-US" altLang="zh-CN" dirty="0"/>
              <a:t>24</a:t>
            </a:r>
            <a:r>
              <a:rPr lang="zh-CN" altLang="zh-CN" dirty="0"/>
              <a:t>－</a:t>
            </a:r>
            <a:r>
              <a:rPr lang="en-US" altLang="zh-CN" dirty="0"/>
              <a:t>26</a:t>
            </a:r>
            <a:r>
              <a:rPr lang="zh-CN" altLang="zh-CN" dirty="0"/>
              <a:t>分：如果你是女性，说明你的焦虑程度很高。</a:t>
            </a:r>
            <a:endParaRPr lang="zh-CN" altLang="en-US" dirty="0"/>
          </a:p>
          <a:p>
            <a:endParaRPr lang="zh-CN" altLang="en-US" dirty="0"/>
          </a:p>
        </p:txBody>
      </p:sp>
    </p:spTree>
    <p:extLst>
      <p:ext uri="{BB962C8B-B14F-4D97-AF65-F5344CB8AC3E}">
        <p14:creationId xmlns:p14="http://schemas.microsoft.com/office/powerpoint/2010/main" val="1217008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焦虑的标准</a:t>
            </a:r>
            <a:br>
              <a:rPr lang="zh-CN" altLang="zh-CN" dirty="0"/>
            </a:br>
            <a:endParaRPr lang="zh-CN" altLang="en-US" dirty="0"/>
          </a:p>
        </p:txBody>
      </p:sp>
      <p:sp>
        <p:nvSpPr>
          <p:cNvPr id="2" name="内容占位符 1"/>
          <p:cNvSpPr>
            <a:spLocks noGrp="1"/>
          </p:cNvSpPr>
          <p:nvPr>
            <p:ph idx="1"/>
          </p:nvPr>
        </p:nvSpPr>
        <p:spPr/>
        <p:txBody>
          <a:bodyPr/>
          <a:lstStyle/>
          <a:p>
            <a:r>
              <a:rPr lang="zh-CN" altLang="zh-CN" dirty="0"/>
              <a:t>如果你的焦虑程度很高，不管你的焦虑的麻痹性和强度如何，减少日常的焦虑都可以提高你的生活质量。</a:t>
            </a:r>
          </a:p>
          <a:p>
            <a:r>
              <a:rPr lang="en-US" altLang="zh-CN" dirty="0"/>
              <a:t>   </a:t>
            </a:r>
            <a:r>
              <a:rPr lang="zh-CN" altLang="zh-CN" dirty="0"/>
              <a:t>如果你的焦虑程度很高，而你又感觉焦虑让你麻痹或不知为什么焦虑时，你应该降低你的焦虑水平了。</a:t>
            </a:r>
          </a:p>
          <a:p>
            <a:r>
              <a:rPr lang="en-US" altLang="zh-CN" dirty="0"/>
              <a:t>  </a:t>
            </a:r>
            <a:r>
              <a:rPr lang="zh-CN" altLang="zh-CN" dirty="0"/>
              <a:t>如果你的分数在</a:t>
            </a:r>
            <a:r>
              <a:rPr lang="en-US" altLang="zh-CN" dirty="0"/>
              <a:t>18</a:t>
            </a:r>
            <a:r>
              <a:rPr lang="zh-CN" altLang="zh-CN" dirty="0"/>
              <a:t>以上，而你以感觉焦虑让你麻痹或不知为什么焦虑时，你应该考虑降低你的焦虑水平了。</a:t>
            </a:r>
          </a:p>
          <a:p>
            <a:endParaRPr lang="zh-CN" altLang="en-US" dirty="0"/>
          </a:p>
        </p:txBody>
      </p:sp>
    </p:spTree>
    <p:extLst>
      <p:ext uri="{BB962C8B-B14F-4D97-AF65-F5344CB8AC3E}">
        <p14:creationId xmlns:p14="http://schemas.microsoft.com/office/powerpoint/2010/main" val="1549910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zh-CN" dirty="0"/>
              <a:t>减少生活中的焦虑</a:t>
            </a:r>
            <a:br>
              <a:rPr lang="zh-CN" altLang="zh-CN" dirty="0"/>
            </a:br>
            <a:endParaRPr lang="zh-CN" altLang="en-US" dirty="0"/>
          </a:p>
        </p:txBody>
      </p:sp>
      <p:sp>
        <p:nvSpPr>
          <p:cNvPr id="2" name="内容占位符 1"/>
          <p:cNvSpPr>
            <a:spLocks noGrp="1"/>
          </p:cNvSpPr>
          <p:nvPr>
            <p:ph idx="1"/>
          </p:nvPr>
        </p:nvSpPr>
        <p:spPr/>
        <p:txBody>
          <a:bodyPr>
            <a:normAutofit/>
          </a:bodyPr>
          <a:lstStyle/>
          <a:p>
            <a:r>
              <a:rPr lang="zh-CN" altLang="zh-CN" dirty="0"/>
              <a:t>下面是推荐两种改善情绪，减少焦虑的技术，不会立竿见影。它们需要你每天花</a:t>
            </a:r>
            <a:r>
              <a:rPr lang="en-US" altLang="zh-CN" dirty="0"/>
              <a:t>20</a:t>
            </a:r>
            <a:r>
              <a:rPr lang="zh-CN" altLang="zh-CN" dirty="0"/>
              <a:t>－</a:t>
            </a:r>
            <a:r>
              <a:rPr lang="en-US" altLang="zh-CN" dirty="0"/>
              <a:t>40</a:t>
            </a:r>
            <a:r>
              <a:rPr lang="zh-CN" altLang="zh-CN" dirty="0"/>
              <a:t>分钟的时间，并且持之以恒。</a:t>
            </a:r>
            <a:endParaRPr lang="en-US" altLang="zh-CN" dirty="0"/>
          </a:p>
          <a:p>
            <a:r>
              <a:rPr lang="zh-CN" altLang="zh-CN" dirty="0"/>
              <a:t>第一个方法是渐进式放松训练。</a:t>
            </a:r>
          </a:p>
          <a:p>
            <a:r>
              <a:rPr lang="zh-CN" altLang="zh-CN" dirty="0"/>
              <a:t>你必须每天最少做一次（最好两次），每次至少</a:t>
            </a:r>
            <a:r>
              <a:rPr lang="en-US" altLang="zh-CN" dirty="0"/>
              <a:t>10</a:t>
            </a:r>
            <a:r>
              <a:rPr lang="zh-CN" altLang="zh-CN" dirty="0"/>
              <a:t>分钟。在进行渐进式放松时，你要先绷紧全身的肌肉，然后慢慢放松你身体的主要肌肉，直到完全松弛下来。大部分时候，放松训练都有一个反馈系统。这个反馈系统是与焦虑相对抗的。</a:t>
            </a:r>
          </a:p>
          <a:p>
            <a:endParaRPr lang="zh-CN" altLang="en-US" dirty="0"/>
          </a:p>
        </p:txBody>
      </p:sp>
    </p:spTree>
    <p:extLst>
      <p:ext uri="{BB962C8B-B14F-4D97-AF65-F5344CB8AC3E}">
        <p14:creationId xmlns:p14="http://schemas.microsoft.com/office/powerpoint/2010/main" val="4162660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2" name="内容占位符 1"/>
          <p:cNvSpPr>
            <a:spLocks noGrp="1"/>
          </p:cNvSpPr>
          <p:nvPr>
            <p:ph idx="1"/>
          </p:nvPr>
        </p:nvSpPr>
        <p:spPr/>
        <p:txBody>
          <a:bodyPr/>
          <a:lstStyle/>
          <a:p>
            <a:r>
              <a:rPr lang="zh-CN" altLang="zh-CN" dirty="0"/>
              <a:t>第二个方法是冥想。每天两次，每次</a:t>
            </a:r>
            <a:r>
              <a:rPr lang="en-US" altLang="zh-CN" dirty="0"/>
              <a:t>20</a:t>
            </a:r>
            <a:r>
              <a:rPr lang="zh-CN" altLang="zh-CN" dirty="0"/>
              <a:t>分钟上。冥想的作用在于驱除那些产生焦虑的想法，它是放松训练的补充。冥想可以降低你的焦虑水平，使你不再对坏事情神经过敏。因此，冥想的效果要好于单独的放松训练。</a:t>
            </a:r>
          </a:p>
          <a:p>
            <a:r>
              <a:rPr lang="zh-CN" altLang="zh-CN" dirty="0"/>
              <a:t>剧烈持久的焦虑则可能是某种疾病的征兆。这时你要设法减少焦虑而不是泰然处之。焦虑症会引发疾病——惊恐症、恐惧症和强迫症。</a:t>
            </a:r>
          </a:p>
          <a:p>
            <a:endParaRPr lang="zh-CN" altLang="en-US" dirty="0"/>
          </a:p>
          <a:p>
            <a:endParaRPr lang="zh-CN" altLang="en-US" dirty="0"/>
          </a:p>
        </p:txBody>
      </p:sp>
    </p:spTree>
    <p:extLst>
      <p:ext uri="{BB962C8B-B14F-4D97-AF65-F5344CB8AC3E}">
        <p14:creationId xmlns:p14="http://schemas.microsoft.com/office/powerpoint/2010/main" val="38084564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288</TotalTime>
  <Words>2572</Words>
  <Application>Microsoft Office PowerPoint</Application>
  <PresentationFormat>全屏显示(4:3)</PresentationFormat>
  <Paragraphs>122</Paragraphs>
  <Slides>35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35</vt:i4>
      </vt:variant>
    </vt:vector>
  </HeadingPairs>
  <TitlesOfParts>
    <vt:vector size="39" baseType="lpstr">
      <vt:lpstr>Trebuchet MS</vt:lpstr>
      <vt:lpstr>Wingdings</vt:lpstr>
      <vt:lpstr>Wingdings 2</vt:lpstr>
      <vt:lpstr>华丽</vt:lpstr>
      <vt:lpstr>第五章 你焦虑吗</vt:lpstr>
      <vt:lpstr>你焦虑、狂躁吗？</vt:lpstr>
      <vt:lpstr>01焦虑是什么</vt:lpstr>
      <vt:lpstr>02 应对焦虑的三种理论与方法</vt:lpstr>
      <vt:lpstr>人本主义心理学：人性可革 </vt:lpstr>
      <vt:lpstr>生物精神病学：江山易改，本性难移</vt:lpstr>
      <vt:lpstr>PowerPoint 演示文稿</vt:lpstr>
      <vt:lpstr>焦虑症、抑郁症、狂躁症 </vt:lpstr>
      <vt:lpstr>PowerPoint 演示文稿</vt:lpstr>
      <vt:lpstr>PowerPoint 演示文稿</vt:lpstr>
      <vt:lpstr>PowerPoint 演示文稿</vt:lpstr>
      <vt:lpstr>生物精神病学的三个原则的修正： </vt:lpstr>
      <vt:lpstr> </vt:lpstr>
      <vt:lpstr>PowerPoint 演示文稿</vt:lpstr>
      <vt:lpstr>03如何应对焦虑</vt:lpstr>
      <vt:lpstr>PowerPoint 演示文稿</vt:lpstr>
      <vt:lpstr>PowerPoint 演示文稿</vt:lpstr>
      <vt:lpstr>PowerPoint 演示文稿</vt:lpstr>
      <vt:lpstr>什么时候不该焦虑 </vt:lpstr>
      <vt:lpstr>PowerPoint 演示文稿</vt:lpstr>
      <vt:lpstr>合理的焦虑与不合理的焦虑</vt:lpstr>
      <vt:lpstr>PowerPoint 演示文稿</vt:lpstr>
      <vt:lpstr>PowerPoint 演示文稿</vt:lpstr>
      <vt:lpstr>PowerPoint 演示文稿</vt:lpstr>
      <vt:lpstr>PowerPoint 演示文稿</vt:lpstr>
      <vt:lpstr>PowerPoint 演示文稿</vt:lpstr>
      <vt:lpstr>第二，焦虑失控的麻痹性 </vt:lpstr>
      <vt:lpstr>第三，焦虑的强度</vt:lpstr>
      <vt:lpstr>PowerPoint 演示文稿</vt:lpstr>
      <vt:lpstr>PowerPoint 演示文稿</vt:lpstr>
      <vt:lpstr>PowerPoint 演示文稿</vt:lpstr>
      <vt:lpstr>PowerPoint 演示文稿</vt:lpstr>
      <vt:lpstr>焦虑的标准 </vt:lpstr>
      <vt:lpstr>减少生活中的焦虑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健康心理学</dc:title>
  <dc:creator>Doudou</dc:creator>
  <cp:lastModifiedBy>Doudou</cp:lastModifiedBy>
  <cp:revision>19</cp:revision>
  <dcterms:created xsi:type="dcterms:W3CDTF">2020-02-12T09:34:15Z</dcterms:created>
  <dcterms:modified xsi:type="dcterms:W3CDTF">2020-04-21T10:39:09Z</dcterms:modified>
</cp:coreProperties>
</file>