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581" r:id="rId2"/>
    <p:sldId id="288" r:id="rId3"/>
    <p:sldId id="290" r:id="rId4"/>
    <p:sldId id="291" r:id="rId5"/>
    <p:sldId id="292" r:id="rId6"/>
    <p:sldId id="293" r:id="rId7"/>
    <p:sldId id="305" r:id="rId8"/>
    <p:sldId id="306" r:id="rId9"/>
    <p:sldId id="294" r:id="rId10"/>
    <p:sldId id="295" r:id="rId11"/>
    <p:sldId id="296" r:id="rId12"/>
    <p:sldId id="298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592" r:id="rId22"/>
    <p:sldId id="593" r:id="rId23"/>
    <p:sldId id="594" r:id="rId24"/>
    <p:sldId id="595" r:id="rId25"/>
    <p:sldId id="596" r:id="rId26"/>
    <p:sldId id="597" r:id="rId27"/>
    <p:sldId id="598" r:id="rId28"/>
    <p:sldId id="599" r:id="rId29"/>
    <p:sldId id="600" r:id="rId30"/>
    <p:sldId id="601" r:id="rId31"/>
    <p:sldId id="602" r:id="rId32"/>
    <p:sldId id="603" r:id="rId33"/>
    <p:sldId id="604" r:id="rId34"/>
    <p:sldId id="605" r:id="rId35"/>
    <p:sldId id="606" r:id="rId36"/>
    <p:sldId id="607" r:id="rId37"/>
    <p:sldId id="608" r:id="rId38"/>
    <p:sldId id="609" r:id="rId39"/>
    <p:sldId id="258" r:id="rId40"/>
    <p:sldId id="558" r:id="rId41"/>
    <p:sldId id="324" r:id="rId42"/>
    <p:sldId id="582" r:id="rId43"/>
    <p:sldId id="325" r:id="rId44"/>
    <p:sldId id="583" r:id="rId45"/>
    <p:sldId id="326" r:id="rId46"/>
    <p:sldId id="584" r:id="rId47"/>
    <p:sldId id="327" r:id="rId48"/>
    <p:sldId id="585" r:id="rId49"/>
    <p:sldId id="328" r:id="rId50"/>
    <p:sldId id="574" r:id="rId51"/>
    <p:sldId id="587" r:id="rId52"/>
    <p:sldId id="588" r:id="rId53"/>
    <p:sldId id="589" r:id="rId54"/>
    <p:sldId id="590" r:id="rId55"/>
    <p:sldId id="591" r:id="rId56"/>
    <p:sldId id="331" r:id="rId57"/>
    <p:sldId id="332" r:id="rId58"/>
    <p:sldId id="333" r:id="rId5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>
      <p:cViewPr varScale="1">
        <p:scale>
          <a:sx n="72" d="100"/>
          <a:sy n="72" d="100"/>
        </p:scale>
        <p:origin x="102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5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7069E51-F408-450C-B6F3-5472A5CF7A3D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7069E51-F408-450C-B6F3-5472A5CF7A3D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7069E51-F408-450C-B6F3-5472A5CF7A3D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B7069E51-F408-450C-B6F3-5472A5CF7A3D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DFC97-2E5F-444E-AF68-09DFEBD2B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认识自我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079E33-F081-460F-812D-A797677A6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认识自我，接纳自我：心理健康的基础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心理健康鉴定表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心理异常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120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01 </a:t>
            </a:r>
            <a:r>
              <a:rPr lang="zh-CN" altLang="en-US" dirty="0"/>
              <a:t>了解自己的健康状况 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健康行为测试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b="1" dirty="0"/>
              <a:t>1</a:t>
            </a:r>
            <a:r>
              <a:rPr lang="zh-CN" altLang="en-US" b="1" dirty="0"/>
              <a:t>你觉得用方便面代替午餐或晚餐</a:t>
            </a:r>
            <a:br>
              <a:rPr lang="zh-CN" altLang="en-US" b="1" dirty="0"/>
            </a:br>
            <a:r>
              <a:rPr lang="en-US" altLang="zh-CN" b="1" dirty="0"/>
              <a:t>A</a:t>
            </a:r>
            <a:r>
              <a:rPr lang="zh-CN" altLang="en-US" dirty="0"/>
              <a:t>很不健康，从不这样 </a:t>
            </a:r>
            <a:r>
              <a:rPr lang="en-US" altLang="zh-CN" dirty="0"/>
              <a:t>B</a:t>
            </a:r>
            <a:r>
              <a:rPr lang="zh-CN" altLang="en-US" dirty="0"/>
              <a:t>无所谓，偶尔这样 </a:t>
            </a:r>
            <a:r>
              <a:rPr lang="en-US" altLang="zh-CN" dirty="0"/>
              <a:t>C</a:t>
            </a:r>
            <a:r>
              <a:rPr lang="zh-CN" altLang="en-US" dirty="0"/>
              <a:t>没问题，经常如此</a:t>
            </a:r>
            <a:endParaRPr lang="zh-CN" altLang="en-US" b="1" dirty="0"/>
          </a:p>
          <a:p>
            <a:pPr>
              <a:lnSpc>
                <a:spcPct val="90000"/>
              </a:lnSpc>
            </a:pPr>
            <a:r>
              <a:rPr lang="en-US" altLang="zh-CN" b="1" dirty="0"/>
              <a:t>2</a:t>
            </a:r>
            <a:r>
              <a:rPr lang="zh-CN" altLang="en-US" b="1" dirty="0"/>
              <a:t>你吃水果的习惯是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/>
              <a:t>A</a:t>
            </a:r>
            <a:r>
              <a:rPr lang="zh-CN" altLang="en-US" dirty="0"/>
              <a:t>没有吃水果的习惯  </a:t>
            </a:r>
            <a:r>
              <a:rPr lang="en-US" altLang="zh-CN" dirty="0"/>
              <a:t>B</a:t>
            </a:r>
            <a:r>
              <a:rPr lang="zh-CN" altLang="en-US" dirty="0"/>
              <a:t>很少吃水果  </a:t>
            </a:r>
            <a:r>
              <a:rPr lang="en-US" altLang="zh-CN" dirty="0"/>
              <a:t>C</a:t>
            </a:r>
            <a:r>
              <a:rPr lang="zh-CN" altLang="en-US" dirty="0"/>
              <a:t>比较常吃  </a:t>
            </a:r>
            <a:r>
              <a:rPr lang="en-US" altLang="zh-CN" dirty="0"/>
              <a:t>D</a:t>
            </a:r>
            <a:r>
              <a:rPr lang="zh-CN" altLang="en-US" dirty="0"/>
              <a:t>每天都吃</a:t>
            </a:r>
            <a:endParaRPr lang="zh-CN" altLang="en-US" b="1" dirty="0"/>
          </a:p>
          <a:p>
            <a:pPr>
              <a:lnSpc>
                <a:spcPct val="90000"/>
              </a:lnSpc>
            </a:pPr>
            <a:r>
              <a:rPr lang="en-US" altLang="zh-CN" b="1" dirty="0"/>
              <a:t>3</a:t>
            </a:r>
            <a:r>
              <a:rPr lang="zh-CN" altLang="en-US" b="1" dirty="0"/>
              <a:t>你一般饭后多久会开始是零食或水果？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/>
              <a:t>A</a:t>
            </a:r>
            <a:r>
              <a:rPr lang="zh-CN" altLang="en-US" dirty="0"/>
              <a:t>马上吃  </a:t>
            </a:r>
            <a:r>
              <a:rPr lang="en-US" altLang="zh-CN" dirty="0"/>
              <a:t>B</a:t>
            </a:r>
            <a:r>
              <a:rPr lang="zh-CN" altLang="en-US" dirty="0"/>
              <a:t>大概一个小时后  </a:t>
            </a:r>
            <a:r>
              <a:rPr lang="en-US" altLang="zh-CN" dirty="0"/>
              <a:t>C</a:t>
            </a:r>
            <a:r>
              <a:rPr lang="zh-CN" altLang="en-US" dirty="0"/>
              <a:t>没有饭后吃东西的习惯  </a:t>
            </a:r>
            <a:r>
              <a:rPr lang="en-US" altLang="zh-CN" dirty="0"/>
              <a:t>D</a:t>
            </a:r>
            <a:r>
              <a:rPr lang="zh-CN" altLang="en-US" dirty="0"/>
              <a:t>其他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908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b="1" dirty="0"/>
            </a:b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7823201" cy="507342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Arial" charset="0"/>
                <a:ea typeface="宋体" charset="-122"/>
              </a:rPr>
              <a:t>4</a:t>
            </a:r>
            <a:r>
              <a:rPr lang="zh-CN" altLang="en-US" b="1" dirty="0">
                <a:latin typeface="Arial" charset="0"/>
                <a:ea typeface="宋体" charset="-122"/>
              </a:rPr>
              <a:t>你觉得每天喝多少杯水最健康？</a:t>
            </a:r>
            <a:endParaRPr lang="zh-CN" altLang="en-US" dirty="0">
              <a:latin typeface="Arial" charset="0"/>
              <a:ea typeface="宋体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dirty="0">
                <a:latin typeface="Arial" charset="0"/>
                <a:ea typeface="宋体" charset="-122"/>
              </a:rPr>
              <a:t>A</a:t>
            </a:r>
            <a:r>
              <a:rPr lang="zh-CN" altLang="en-US" dirty="0">
                <a:latin typeface="Arial" charset="0"/>
                <a:ea typeface="宋体" charset="-122"/>
              </a:rPr>
              <a:t>很少也没关系  </a:t>
            </a:r>
            <a:r>
              <a:rPr lang="en-US" altLang="zh-CN" dirty="0">
                <a:latin typeface="Arial" charset="0"/>
                <a:ea typeface="宋体" charset="-122"/>
              </a:rPr>
              <a:t>B 2-3</a:t>
            </a:r>
            <a:r>
              <a:rPr lang="zh-CN" altLang="en-US" dirty="0">
                <a:latin typeface="Arial" charset="0"/>
                <a:ea typeface="宋体" charset="-122"/>
              </a:rPr>
              <a:t>杯  </a:t>
            </a:r>
            <a:r>
              <a:rPr lang="en-US" altLang="zh-CN" dirty="0">
                <a:latin typeface="Arial" charset="0"/>
                <a:ea typeface="宋体" charset="-122"/>
              </a:rPr>
              <a:t>C4-5</a:t>
            </a:r>
            <a:r>
              <a:rPr lang="zh-CN" altLang="en-US" dirty="0">
                <a:latin typeface="Arial" charset="0"/>
                <a:ea typeface="宋体" charset="-122"/>
              </a:rPr>
              <a:t>杯  </a:t>
            </a:r>
            <a:r>
              <a:rPr lang="en-US" altLang="zh-CN" dirty="0">
                <a:latin typeface="Arial" charset="0"/>
                <a:ea typeface="宋体" charset="-122"/>
              </a:rPr>
              <a:t>D6-7</a:t>
            </a:r>
            <a:r>
              <a:rPr lang="zh-CN" altLang="en-US" dirty="0">
                <a:latin typeface="Arial" charset="0"/>
                <a:ea typeface="宋体" charset="-122"/>
              </a:rPr>
              <a:t>杯  </a:t>
            </a:r>
            <a:r>
              <a:rPr lang="en-US" altLang="zh-CN" dirty="0">
                <a:latin typeface="Arial" charset="0"/>
                <a:ea typeface="宋体" charset="-122"/>
              </a:rPr>
              <a:t>E7</a:t>
            </a:r>
            <a:r>
              <a:rPr lang="zh-CN" altLang="en-US" dirty="0">
                <a:latin typeface="Arial" charset="0"/>
                <a:ea typeface="宋体" charset="-122"/>
              </a:rPr>
              <a:t>杯以上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Arial" charset="0"/>
                <a:ea typeface="宋体" charset="-122"/>
              </a:rPr>
              <a:t>5</a:t>
            </a:r>
            <a:r>
              <a:rPr lang="zh-CN" altLang="en-US" b="1" dirty="0">
                <a:latin typeface="Arial" charset="0"/>
                <a:ea typeface="宋体" charset="-122"/>
              </a:rPr>
              <a:t>你有吃夜宵的习惯吗？</a:t>
            </a:r>
            <a:endParaRPr lang="zh-CN" altLang="en-US" dirty="0">
              <a:latin typeface="Arial" charset="0"/>
              <a:ea typeface="宋体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Arial" charset="0"/>
                <a:ea typeface="宋体" charset="-122"/>
              </a:rPr>
              <a:t>A</a:t>
            </a:r>
            <a:r>
              <a:rPr lang="zh-CN" altLang="en-US" b="1" dirty="0">
                <a:latin typeface="Arial" charset="0"/>
                <a:ea typeface="宋体" charset="-122"/>
              </a:rPr>
              <a:t>有  </a:t>
            </a:r>
            <a:r>
              <a:rPr lang="en-US" altLang="zh-CN" b="1" dirty="0">
                <a:latin typeface="Arial" charset="0"/>
                <a:ea typeface="宋体" charset="-122"/>
              </a:rPr>
              <a:t>B</a:t>
            </a:r>
            <a:r>
              <a:rPr lang="zh-CN" altLang="en-US" b="1" dirty="0">
                <a:latin typeface="Arial" charset="0"/>
                <a:ea typeface="宋体" charset="-122"/>
              </a:rPr>
              <a:t>没有 </a:t>
            </a:r>
            <a:r>
              <a:rPr lang="en-US" altLang="zh-CN" b="1" dirty="0">
                <a:latin typeface="Arial" charset="0"/>
                <a:ea typeface="宋体" charset="-122"/>
              </a:rPr>
              <a:t>C</a:t>
            </a:r>
            <a:r>
              <a:rPr lang="zh-CN" altLang="en-US" dirty="0">
                <a:latin typeface="Arial" charset="0"/>
                <a:ea typeface="宋体" charset="-122"/>
              </a:rPr>
              <a:t>只是偶尔会吃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Arial" charset="0"/>
                <a:ea typeface="宋体" charset="-122"/>
              </a:rPr>
              <a:t>6</a:t>
            </a:r>
            <a:r>
              <a:rPr lang="zh-CN" altLang="en-US" b="1" dirty="0">
                <a:latin typeface="Arial" charset="0"/>
                <a:ea typeface="宋体" charset="-122"/>
              </a:rPr>
              <a:t>你的饮食习惯比较偏向于？</a:t>
            </a:r>
            <a:endParaRPr lang="zh-CN" altLang="en-US" dirty="0">
              <a:latin typeface="Arial" charset="0"/>
              <a:ea typeface="宋体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dirty="0">
                <a:latin typeface="Arial" charset="0"/>
                <a:ea typeface="宋体" charset="-122"/>
              </a:rPr>
              <a:t>A</a:t>
            </a:r>
            <a:r>
              <a:rPr lang="zh-CN" altLang="en-US" dirty="0">
                <a:latin typeface="Arial" charset="0"/>
                <a:ea typeface="宋体" charset="-122"/>
              </a:rPr>
              <a:t>多肉少菜  </a:t>
            </a:r>
            <a:r>
              <a:rPr lang="en-US" altLang="zh-CN" dirty="0">
                <a:latin typeface="Arial" charset="0"/>
                <a:ea typeface="宋体" charset="-122"/>
              </a:rPr>
              <a:t>B</a:t>
            </a:r>
            <a:r>
              <a:rPr lang="zh-CN" altLang="en-US" dirty="0">
                <a:latin typeface="Arial" charset="0"/>
                <a:ea typeface="宋体" charset="-122"/>
              </a:rPr>
              <a:t>荤素均匀搭配  </a:t>
            </a:r>
            <a:r>
              <a:rPr lang="en-US" altLang="zh-CN" dirty="0">
                <a:latin typeface="Arial" charset="0"/>
                <a:ea typeface="宋体" charset="-122"/>
              </a:rPr>
              <a:t>C</a:t>
            </a:r>
            <a:r>
              <a:rPr lang="zh-CN" altLang="en-US" dirty="0">
                <a:latin typeface="Arial" charset="0"/>
                <a:ea typeface="宋体" charset="-122"/>
              </a:rPr>
              <a:t>食肉较少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560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576" y="476672"/>
            <a:ext cx="8229600" cy="1143000"/>
          </a:xfr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7</a:t>
            </a:r>
            <a:r>
              <a:rPr lang="zh-CN" altLang="en-US" b="1" dirty="0"/>
              <a:t>你认为每天按时进食是否重要？</a:t>
            </a:r>
            <a:endParaRPr lang="zh-CN" altLang="en-US" dirty="0"/>
          </a:p>
          <a:p>
            <a:r>
              <a:rPr lang="en-US" altLang="zh-CN" dirty="0"/>
              <a:t>A</a:t>
            </a:r>
            <a:r>
              <a:rPr lang="zh-CN" altLang="en-US" dirty="0"/>
              <a:t>很重要  </a:t>
            </a:r>
            <a:r>
              <a:rPr lang="en-US" altLang="zh-CN" dirty="0"/>
              <a:t>B</a:t>
            </a:r>
            <a:r>
              <a:rPr lang="zh-CN" altLang="en-US" dirty="0"/>
              <a:t>比较重要    </a:t>
            </a:r>
            <a:r>
              <a:rPr lang="en-US" altLang="zh-CN" dirty="0"/>
              <a:t>C</a:t>
            </a:r>
            <a:r>
              <a:rPr lang="zh-CN" altLang="en-US" dirty="0"/>
              <a:t>无所谓  </a:t>
            </a:r>
            <a:r>
              <a:rPr lang="en-US" altLang="zh-CN" dirty="0"/>
              <a:t>D</a:t>
            </a:r>
            <a:r>
              <a:rPr lang="zh-CN" altLang="en-US" dirty="0"/>
              <a:t>没想过</a:t>
            </a:r>
            <a:endParaRPr lang="zh-CN" altLang="en-US" b="1" dirty="0"/>
          </a:p>
          <a:p>
            <a:r>
              <a:rPr lang="en-US" altLang="zh-CN" b="1" dirty="0"/>
              <a:t>8</a:t>
            </a:r>
            <a:r>
              <a:rPr lang="zh-CN" altLang="en-US" b="1" dirty="0"/>
              <a:t>在日常就餐中，你会根据营养价值去挑选食物吗？</a:t>
            </a:r>
            <a:endParaRPr lang="zh-CN" altLang="en-US" dirty="0"/>
          </a:p>
          <a:p>
            <a:r>
              <a:rPr lang="en-US" altLang="zh-CN" dirty="0"/>
              <a:t>A</a:t>
            </a:r>
            <a:r>
              <a:rPr lang="zh-CN" altLang="en-US" dirty="0"/>
              <a:t>一直都会  </a:t>
            </a:r>
            <a:r>
              <a:rPr lang="en-US" altLang="zh-CN" dirty="0"/>
              <a:t>B</a:t>
            </a:r>
            <a:r>
              <a:rPr lang="zh-CN" altLang="en-US" dirty="0"/>
              <a:t>经常会  </a:t>
            </a:r>
            <a:r>
              <a:rPr lang="en-US" altLang="zh-CN" dirty="0"/>
              <a:t>C</a:t>
            </a:r>
            <a:r>
              <a:rPr lang="zh-CN" altLang="en-US" dirty="0"/>
              <a:t>很少会  </a:t>
            </a:r>
            <a:r>
              <a:rPr lang="en-US" altLang="zh-CN" dirty="0"/>
              <a:t>D</a:t>
            </a:r>
            <a:r>
              <a:rPr lang="zh-CN" altLang="en-US" dirty="0"/>
              <a:t>喜欢吃什么就吃什么</a:t>
            </a:r>
            <a:endParaRPr lang="zh-CN" altLang="en-US" b="1" dirty="0"/>
          </a:p>
          <a:p>
            <a:r>
              <a:rPr lang="en-US" altLang="zh-CN" b="1" dirty="0"/>
              <a:t>9</a:t>
            </a:r>
            <a:r>
              <a:rPr lang="zh-CN" altLang="en-US" b="1" dirty="0"/>
              <a:t>你是否经常无规律地饮食？</a:t>
            </a:r>
            <a:endParaRPr lang="zh-CN" altLang="en-US" dirty="0"/>
          </a:p>
          <a:p>
            <a:r>
              <a:rPr lang="en-US" altLang="zh-CN" dirty="0"/>
              <a:t>A</a:t>
            </a:r>
            <a:r>
              <a:rPr lang="zh-CN" altLang="en-US" dirty="0"/>
              <a:t>是  </a:t>
            </a:r>
            <a:r>
              <a:rPr lang="en-US" altLang="zh-CN" dirty="0"/>
              <a:t>B</a:t>
            </a:r>
            <a:r>
              <a:rPr lang="zh-CN" altLang="en-US" dirty="0"/>
              <a:t>有时候会  </a:t>
            </a:r>
            <a:r>
              <a:rPr lang="en-US" altLang="zh-CN" dirty="0"/>
              <a:t>C</a:t>
            </a:r>
            <a:r>
              <a:rPr lang="zh-CN" altLang="en-US" dirty="0"/>
              <a:t>从来不会  </a:t>
            </a:r>
            <a:r>
              <a:rPr lang="en-US" altLang="zh-CN" dirty="0"/>
              <a:t>D</a:t>
            </a:r>
            <a:r>
              <a:rPr lang="zh-CN" altLang="en-US" dirty="0"/>
              <a:t>没有想过这个问题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3906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 2"/>
              <a:buChar char=""/>
              <a:defRPr/>
            </a:pPr>
            <a:r>
              <a:rPr lang="en-US" altLang="zh-CN" b="1" dirty="0"/>
              <a:t>10</a:t>
            </a:r>
            <a:r>
              <a:rPr lang="zh-CN" altLang="en-US" b="1" dirty="0"/>
              <a:t>你认为不良的饮食习惯对你哪些方面有影响？ </a:t>
            </a:r>
            <a:r>
              <a:rPr lang="en-US" altLang="zh-CN" b="1" dirty="0"/>
              <a:t>[</a:t>
            </a:r>
            <a:r>
              <a:rPr lang="zh-CN" altLang="en-US" b="1" dirty="0"/>
              <a:t>多选题</a:t>
            </a:r>
            <a:r>
              <a:rPr lang="en-US" altLang="zh-CN" b="1" dirty="0"/>
              <a:t>]</a:t>
            </a:r>
            <a:endParaRPr lang="en-US" altLang="zh-CN" dirty="0"/>
          </a:p>
          <a:p>
            <a:pPr>
              <a:lnSpc>
                <a:spcPct val="90000"/>
              </a:lnSpc>
              <a:buFont typeface="Wingdings 2"/>
              <a:buChar char=""/>
              <a:defRPr/>
            </a:pPr>
            <a:r>
              <a:rPr lang="en-US" altLang="zh-CN" dirty="0"/>
              <a:t>A</a:t>
            </a:r>
            <a:r>
              <a:rPr lang="zh-CN" altLang="en-US" dirty="0"/>
              <a:t>身体状况  </a:t>
            </a:r>
            <a:r>
              <a:rPr lang="en-US" altLang="zh-CN" dirty="0"/>
              <a:t>B</a:t>
            </a:r>
            <a:r>
              <a:rPr lang="zh-CN" altLang="en-US" dirty="0"/>
              <a:t>学习工作状态 </a:t>
            </a:r>
            <a:r>
              <a:rPr lang="en-US" altLang="zh-CN" dirty="0"/>
              <a:t>C  </a:t>
            </a:r>
            <a:r>
              <a:rPr lang="zh-CN" altLang="en-US" dirty="0"/>
              <a:t>没什么影响  </a:t>
            </a:r>
            <a:r>
              <a:rPr lang="en-US" altLang="zh-CN" dirty="0"/>
              <a:t>D </a:t>
            </a:r>
            <a:r>
              <a:rPr lang="zh-CN" altLang="en-US" dirty="0"/>
              <a:t>其它</a:t>
            </a:r>
            <a:endParaRPr lang="zh-CN" altLang="en-US" b="1" dirty="0"/>
          </a:p>
          <a:p>
            <a:pPr>
              <a:lnSpc>
                <a:spcPct val="90000"/>
              </a:lnSpc>
              <a:buFont typeface="Wingdings 2"/>
              <a:buChar char=""/>
              <a:defRPr/>
            </a:pPr>
            <a:r>
              <a:rPr lang="en-US" altLang="zh-CN" b="1" dirty="0"/>
              <a:t>11</a:t>
            </a:r>
            <a:r>
              <a:rPr lang="zh-CN" altLang="en-US" b="1" dirty="0"/>
              <a:t>你认为健康的饮食习惯对大学生是否重要？</a:t>
            </a:r>
            <a:endParaRPr lang="zh-CN" altLang="en-US" dirty="0"/>
          </a:p>
          <a:p>
            <a:pPr>
              <a:lnSpc>
                <a:spcPct val="90000"/>
              </a:lnSpc>
              <a:buFont typeface="Wingdings 2"/>
              <a:buChar char=""/>
              <a:defRPr/>
            </a:pPr>
            <a:r>
              <a:rPr lang="en-US" altLang="zh-CN" dirty="0"/>
              <a:t>A</a:t>
            </a:r>
            <a:r>
              <a:rPr lang="zh-CN" altLang="en-US" dirty="0"/>
              <a:t>非常重要  </a:t>
            </a:r>
            <a:r>
              <a:rPr lang="en-US" altLang="zh-CN" dirty="0"/>
              <a:t>B</a:t>
            </a:r>
            <a:r>
              <a:rPr lang="zh-CN" altLang="en-US" dirty="0"/>
              <a:t>比较重要  </a:t>
            </a:r>
            <a:r>
              <a:rPr lang="en-US" altLang="zh-CN" dirty="0"/>
              <a:t>C</a:t>
            </a:r>
            <a:r>
              <a:rPr lang="zh-CN" altLang="en-US" dirty="0"/>
              <a:t>不重要  </a:t>
            </a:r>
            <a:r>
              <a:rPr lang="en-US" altLang="zh-CN" dirty="0"/>
              <a:t>D</a:t>
            </a:r>
            <a:r>
              <a:rPr lang="zh-CN" altLang="en-US" dirty="0"/>
              <a:t>没想过这个问题</a:t>
            </a:r>
            <a:endParaRPr lang="zh-CN" altLang="en-US" b="1" dirty="0"/>
          </a:p>
          <a:p>
            <a:pPr>
              <a:lnSpc>
                <a:spcPct val="90000"/>
              </a:lnSpc>
              <a:buFont typeface="Wingdings 2"/>
              <a:buChar char=""/>
              <a:defRPr/>
            </a:pPr>
            <a:r>
              <a:rPr lang="en-US" altLang="zh-CN" b="1" dirty="0"/>
              <a:t>12</a:t>
            </a:r>
            <a:r>
              <a:rPr lang="zh-CN" altLang="en-US" b="1" dirty="0"/>
              <a:t>你认为作为一名大学生，是不是应该有意识地为自己以后的健康做些准备？</a:t>
            </a:r>
            <a:endParaRPr lang="zh-CN" altLang="en-US" dirty="0"/>
          </a:p>
          <a:p>
            <a:pPr>
              <a:lnSpc>
                <a:spcPct val="90000"/>
              </a:lnSpc>
              <a:buFont typeface="Wingdings 2"/>
              <a:buChar char=""/>
              <a:defRPr/>
            </a:pPr>
            <a:r>
              <a:rPr lang="en-US" altLang="zh-CN" dirty="0"/>
              <a:t>A</a:t>
            </a:r>
            <a:r>
              <a:rPr lang="zh-CN" altLang="en-US" dirty="0"/>
              <a:t>一直这样认为  </a:t>
            </a:r>
            <a:r>
              <a:rPr lang="en-US" altLang="zh-CN" dirty="0"/>
              <a:t>B</a:t>
            </a:r>
            <a:r>
              <a:rPr lang="zh-CN" altLang="en-US" dirty="0"/>
              <a:t>不否认是应该要  </a:t>
            </a:r>
            <a:r>
              <a:rPr lang="en-US" altLang="zh-CN" dirty="0"/>
              <a:t>C</a:t>
            </a:r>
            <a:r>
              <a:rPr lang="zh-CN" altLang="en-US" dirty="0"/>
              <a:t>没想那么多  </a:t>
            </a:r>
            <a:r>
              <a:rPr lang="en-US" altLang="zh-CN" dirty="0"/>
              <a:t>D</a:t>
            </a:r>
            <a:r>
              <a:rPr lang="zh-CN" altLang="en-US" dirty="0"/>
              <a:t>根本不需要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637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88680"/>
          </a:xfr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2067" y="1340768"/>
            <a:ext cx="7408333" cy="5197192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CN" b="1" dirty="0"/>
              <a:t>13</a:t>
            </a:r>
            <a:r>
              <a:rPr lang="zh-CN" altLang="en-US" b="1" dirty="0"/>
              <a:t>看见有些同学不好的饮食习惯，你觉得有必要在校园里面宣传一下健康的饮食习惯？</a:t>
            </a:r>
            <a:endParaRPr lang="zh-CN" altLang="en-US" dirty="0"/>
          </a:p>
          <a:p>
            <a:pPr>
              <a:lnSpc>
                <a:spcPct val="80000"/>
              </a:lnSpc>
            </a:pPr>
            <a:r>
              <a:rPr lang="en-US" altLang="zh-CN" dirty="0"/>
              <a:t>A</a:t>
            </a:r>
            <a:r>
              <a:rPr lang="zh-CN" altLang="en-US" dirty="0"/>
              <a:t>相当有必要  </a:t>
            </a:r>
            <a:r>
              <a:rPr lang="en-US" altLang="zh-CN" dirty="0"/>
              <a:t>B</a:t>
            </a:r>
            <a:r>
              <a:rPr lang="zh-CN" altLang="en-US" dirty="0"/>
              <a:t>可以宣传一下，不介意</a:t>
            </a:r>
          </a:p>
          <a:p>
            <a:pPr>
              <a:lnSpc>
                <a:spcPct val="80000"/>
              </a:lnSpc>
            </a:pPr>
            <a:r>
              <a:rPr lang="en-US" altLang="zh-CN" dirty="0"/>
              <a:t>C</a:t>
            </a:r>
            <a:r>
              <a:rPr lang="zh-CN" altLang="en-US" dirty="0"/>
              <a:t>周围的同学饮食习惯都是这样，没什必要宣传  </a:t>
            </a:r>
            <a:r>
              <a:rPr lang="en-US" altLang="zh-CN" dirty="0"/>
              <a:t>D</a:t>
            </a:r>
            <a:r>
              <a:rPr lang="zh-CN" altLang="en-US" dirty="0"/>
              <a:t>反正不关我的事</a:t>
            </a:r>
            <a:endParaRPr lang="zh-CN" altLang="en-US" b="1" dirty="0"/>
          </a:p>
          <a:p>
            <a:pPr>
              <a:lnSpc>
                <a:spcPct val="80000"/>
              </a:lnSpc>
            </a:pPr>
            <a:r>
              <a:rPr lang="en-US" altLang="zh-CN" b="1" dirty="0"/>
              <a:t>14</a:t>
            </a:r>
            <a:r>
              <a:rPr lang="zh-CN" altLang="en-US" b="1" dirty="0"/>
              <a:t>你认为大学生养成不健康的饮食习惯的原因一般有哪些？ </a:t>
            </a:r>
            <a:r>
              <a:rPr lang="en-US" altLang="zh-CN" b="1" dirty="0"/>
              <a:t>[</a:t>
            </a:r>
            <a:r>
              <a:rPr lang="zh-CN" altLang="en-US" b="1" dirty="0"/>
              <a:t>多选题</a:t>
            </a:r>
            <a:r>
              <a:rPr lang="en-US" altLang="zh-CN" b="1" dirty="0"/>
              <a:t>]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/>
              <a:t>A</a:t>
            </a:r>
            <a:r>
              <a:rPr lang="zh-CN" altLang="en-US" dirty="0"/>
              <a:t>为了减肥  </a:t>
            </a:r>
            <a:r>
              <a:rPr lang="en-US" altLang="zh-CN" dirty="0"/>
              <a:t>B</a:t>
            </a:r>
            <a:r>
              <a:rPr lang="zh-CN" altLang="en-US" dirty="0"/>
              <a:t>为了节省时间  </a:t>
            </a:r>
            <a:r>
              <a:rPr lang="en-US" altLang="zh-CN" dirty="0"/>
              <a:t>C</a:t>
            </a:r>
            <a:r>
              <a:rPr lang="zh-CN" altLang="en-US" dirty="0"/>
              <a:t>为了省钱，能不吃就不吃</a:t>
            </a:r>
          </a:p>
          <a:p>
            <a:pPr>
              <a:lnSpc>
                <a:spcPct val="80000"/>
              </a:lnSpc>
            </a:pPr>
            <a:r>
              <a:rPr lang="en-US" altLang="zh-CN" dirty="0"/>
              <a:t>D</a:t>
            </a:r>
            <a:r>
              <a:rPr lang="zh-CN" altLang="en-US" dirty="0"/>
              <a:t>现在的人追求潮流，越是不能吃的东西，他们越是要去“尝试”</a:t>
            </a:r>
          </a:p>
          <a:p>
            <a:pPr>
              <a:lnSpc>
                <a:spcPct val="80000"/>
              </a:lnSpc>
            </a:pPr>
            <a:r>
              <a:rPr lang="en-US" altLang="zh-CN" dirty="0"/>
              <a:t>E</a:t>
            </a:r>
            <a:r>
              <a:rPr lang="zh-CN" altLang="en-US" dirty="0"/>
              <a:t>家长对他们的指导和关心不够</a:t>
            </a:r>
          </a:p>
          <a:p>
            <a:pPr>
              <a:lnSpc>
                <a:spcPct val="80000"/>
              </a:lnSpc>
            </a:pPr>
            <a:r>
              <a:rPr lang="en-US" altLang="zh-CN" dirty="0"/>
              <a:t>F</a:t>
            </a:r>
            <a:r>
              <a:rPr lang="zh-CN" altLang="en-US" dirty="0"/>
              <a:t>他们自己对健康的饮食习惯的重要性不是很了解，缺乏基本的医学保护常识</a:t>
            </a:r>
          </a:p>
          <a:p>
            <a:pPr>
              <a:lnSpc>
                <a:spcPct val="80000"/>
              </a:lnSpc>
            </a:pPr>
            <a:r>
              <a:rPr lang="en-US" altLang="zh-CN" dirty="0"/>
              <a:t>G</a:t>
            </a:r>
            <a:r>
              <a:rPr lang="zh-CN" altLang="en-US" dirty="0"/>
              <a:t>其它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6721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b="1" dirty="0"/>
              <a:t>15</a:t>
            </a:r>
            <a:r>
              <a:rPr lang="zh-CN" altLang="en-US" b="1" dirty="0"/>
              <a:t>如果你发现自己有不良饮食习惯，你会不会尝试去纠正？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/>
              <a:t>A</a:t>
            </a:r>
            <a:r>
              <a:rPr lang="zh-CN" altLang="en-US" dirty="0"/>
              <a:t>一定会  </a:t>
            </a:r>
            <a:r>
              <a:rPr lang="en-US" altLang="zh-CN" dirty="0"/>
              <a:t>B</a:t>
            </a:r>
            <a:r>
              <a:rPr lang="zh-CN" altLang="en-US" dirty="0"/>
              <a:t>可能会  </a:t>
            </a:r>
            <a:r>
              <a:rPr lang="en-US" altLang="zh-CN" dirty="0"/>
              <a:t>C</a:t>
            </a:r>
            <a:r>
              <a:rPr lang="zh-CN" altLang="en-US" dirty="0"/>
              <a:t>不想理会它  </a:t>
            </a:r>
            <a:r>
              <a:rPr lang="en-US" altLang="zh-CN" dirty="0"/>
              <a:t>D</a:t>
            </a:r>
            <a:r>
              <a:rPr lang="zh-CN" altLang="en-US" dirty="0"/>
              <a:t>不知道</a:t>
            </a:r>
            <a:endParaRPr lang="zh-CN" altLang="en-US" b="1" dirty="0"/>
          </a:p>
          <a:p>
            <a:pPr>
              <a:lnSpc>
                <a:spcPct val="90000"/>
              </a:lnSpc>
            </a:pPr>
            <a:r>
              <a:rPr lang="en-US" altLang="zh-CN" b="1" dirty="0"/>
              <a:t>16</a:t>
            </a:r>
            <a:r>
              <a:rPr lang="zh-CN" altLang="en-US" b="1" dirty="0"/>
              <a:t>你一般通过以下哪些途径获取健康饮食知识？ </a:t>
            </a:r>
            <a:r>
              <a:rPr lang="en-US" altLang="zh-CN" b="1" dirty="0"/>
              <a:t>[</a:t>
            </a:r>
            <a:r>
              <a:rPr lang="zh-CN" altLang="en-US" b="1" dirty="0"/>
              <a:t>多选题</a:t>
            </a:r>
            <a:r>
              <a:rPr lang="en-US" altLang="zh-CN" b="1" dirty="0"/>
              <a:t>]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A</a:t>
            </a:r>
            <a:r>
              <a:rPr lang="zh-CN" altLang="en-US" dirty="0"/>
              <a:t>学校教育  </a:t>
            </a:r>
            <a:r>
              <a:rPr lang="en-US" altLang="zh-CN" dirty="0"/>
              <a:t>B</a:t>
            </a:r>
            <a:r>
              <a:rPr lang="zh-CN" altLang="en-US" dirty="0"/>
              <a:t>公益广告  </a:t>
            </a:r>
            <a:r>
              <a:rPr lang="en-US" altLang="zh-CN" dirty="0"/>
              <a:t>C</a:t>
            </a:r>
            <a:r>
              <a:rPr lang="zh-CN" altLang="en-US" dirty="0"/>
              <a:t>阅读相关书籍  </a:t>
            </a:r>
            <a:r>
              <a:rPr lang="en-US" altLang="zh-CN" dirty="0"/>
              <a:t>D</a:t>
            </a:r>
            <a:r>
              <a:rPr lang="zh-CN" altLang="en-US" dirty="0"/>
              <a:t>家庭教育  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E</a:t>
            </a:r>
            <a:r>
              <a:rPr lang="zh-CN" altLang="en-US" dirty="0"/>
              <a:t>与朋友同学讨论  </a:t>
            </a:r>
            <a:r>
              <a:rPr lang="en-US" altLang="zh-CN" dirty="0"/>
              <a:t>F</a:t>
            </a:r>
            <a:r>
              <a:rPr lang="zh-CN" altLang="en-US" dirty="0"/>
              <a:t>上网查询    </a:t>
            </a:r>
            <a:r>
              <a:rPr lang="en-US" altLang="zh-CN" dirty="0"/>
              <a:t>G</a:t>
            </a:r>
            <a:r>
              <a:rPr lang="zh-CN" altLang="en-US" dirty="0"/>
              <a:t>其它</a:t>
            </a:r>
            <a:endParaRPr lang="zh-CN" altLang="en-US" b="1" dirty="0"/>
          </a:p>
          <a:p>
            <a:pPr>
              <a:lnSpc>
                <a:spcPct val="90000"/>
              </a:lnSpc>
            </a:pPr>
            <a:r>
              <a:rPr lang="en-US" altLang="zh-CN" b="1" dirty="0"/>
              <a:t>16</a:t>
            </a:r>
            <a:r>
              <a:rPr lang="zh-CN" altLang="en-US" b="1" dirty="0"/>
              <a:t>请问以下那种途径获得的健康饮食知识对你的影响最大？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/>
              <a:t>A</a:t>
            </a:r>
            <a:r>
              <a:rPr lang="zh-CN" altLang="en-US" dirty="0"/>
              <a:t>学校教育  </a:t>
            </a:r>
            <a:r>
              <a:rPr lang="en-US" altLang="zh-CN" dirty="0"/>
              <a:t>B</a:t>
            </a:r>
            <a:r>
              <a:rPr lang="zh-CN" altLang="en-US" dirty="0"/>
              <a:t>公益广告  </a:t>
            </a:r>
            <a:r>
              <a:rPr lang="en-US" altLang="zh-CN" dirty="0"/>
              <a:t>C</a:t>
            </a:r>
            <a:r>
              <a:rPr lang="zh-CN" altLang="en-US" dirty="0"/>
              <a:t>阅读相关书籍  </a:t>
            </a:r>
            <a:r>
              <a:rPr lang="en-US" altLang="zh-CN" dirty="0"/>
              <a:t>D</a:t>
            </a:r>
            <a:r>
              <a:rPr lang="zh-CN" altLang="en-US" dirty="0"/>
              <a:t>家庭教育  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E</a:t>
            </a:r>
            <a:r>
              <a:rPr lang="zh-CN" altLang="en-US" dirty="0"/>
              <a:t>与朋友同学讨论  </a:t>
            </a:r>
            <a:r>
              <a:rPr lang="en-US" altLang="zh-CN" dirty="0"/>
              <a:t>F</a:t>
            </a:r>
            <a:r>
              <a:rPr lang="zh-CN" altLang="en-US" dirty="0"/>
              <a:t>上网查询    </a:t>
            </a:r>
            <a:r>
              <a:rPr lang="en-US" altLang="zh-CN" dirty="0"/>
              <a:t>G</a:t>
            </a:r>
            <a:r>
              <a:rPr lang="zh-CN" altLang="en-US" dirty="0"/>
              <a:t>其它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6750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b="1" dirty="0"/>
              <a:t>17</a:t>
            </a:r>
            <a:r>
              <a:rPr lang="zh-CN" altLang="en-US" b="1" dirty="0"/>
              <a:t>你所在的学校对大学生饮食健康教育的重视程度如何？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/>
              <a:t>A</a:t>
            </a:r>
            <a:r>
              <a:rPr lang="zh-CN" altLang="en-US" dirty="0"/>
              <a:t>很重视，经常开设有关课程和讲座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B</a:t>
            </a:r>
            <a:r>
              <a:rPr lang="zh-CN" altLang="en-US" dirty="0"/>
              <a:t>一般，较少开设相关课程和讲座，但有相关宣传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C</a:t>
            </a:r>
            <a:r>
              <a:rPr lang="zh-CN" altLang="en-US" dirty="0"/>
              <a:t>不重视，没有涉及这方面的任何措施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D</a:t>
            </a:r>
            <a:r>
              <a:rPr lang="zh-CN" altLang="en-US" dirty="0"/>
              <a:t>没有开设相关课程和讲座，但有相关宣传</a:t>
            </a:r>
            <a:endParaRPr lang="zh-CN" altLang="en-US" b="1" dirty="0"/>
          </a:p>
          <a:p>
            <a:pPr>
              <a:lnSpc>
                <a:spcPct val="90000"/>
              </a:lnSpc>
            </a:pPr>
            <a:r>
              <a:rPr lang="en-US" altLang="zh-CN" b="1" dirty="0"/>
              <a:t>18</a:t>
            </a:r>
            <a:r>
              <a:rPr lang="zh-CN" altLang="en-US" b="1" dirty="0"/>
              <a:t>你如果看待饮食健康教育的书籍？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/>
              <a:t>A</a:t>
            </a:r>
            <a:r>
              <a:rPr lang="zh-CN" altLang="en-US" dirty="0"/>
              <a:t>经常阅读这类书籍以积累知识 </a:t>
            </a:r>
            <a:r>
              <a:rPr lang="en-US" altLang="zh-CN" dirty="0"/>
              <a:t>B</a:t>
            </a:r>
            <a:r>
              <a:rPr lang="zh-CN" altLang="en-US" dirty="0"/>
              <a:t>只在有需要了解的时候才阅读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C</a:t>
            </a:r>
            <a:r>
              <a:rPr lang="zh-CN" altLang="en-US" dirty="0"/>
              <a:t>没必要看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72860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19</a:t>
            </a:r>
            <a:r>
              <a:rPr lang="zh-CN" altLang="en-US" b="1" dirty="0"/>
              <a:t>请问你身边的人（家人，朋友，同学等）在饮食习惯方面对你的影响程度如何？</a:t>
            </a:r>
            <a:endParaRPr lang="zh-CN" altLang="en-US" dirty="0"/>
          </a:p>
          <a:p>
            <a:r>
              <a:rPr lang="en-US" altLang="zh-CN" dirty="0"/>
              <a:t>A</a:t>
            </a:r>
            <a:r>
              <a:rPr lang="zh-CN" altLang="en-US" dirty="0"/>
              <a:t>很大  </a:t>
            </a:r>
            <a:r>
              <a:rPr lang="en-US" altLang="zh-CN" dirty="0"/>
              <a:t>B</a:t>
            </a:r>
            <a:r>
              <a:rPr lang="zh-CN" altLang="en-US" dirty="0"/>
              <a:t>一般 </a:t>
            </a:r>
            <a:r>
              <a:rPr lang="en-US" altLang="zh-CN" dirty="0"/>
              <a:t>C </a:t>
            </a:r>
            <a:r>
              <a:rPr lang="zh-CN" altLang="en-US" dirty="0"/>
              <a:t>没有</a:t>
            </a:r>
            <a:endParaRPr lang="zh-CN" altLang="en-US" b="1" dirty="0"/>
          </a:p>
          <a:p>
            <a:r>
              <a:rPr lang="en-US" altLang="zh-CN" b="1" dirty="0"/>
              <a:t>20</a:t>
            </a:r>
            <a:r>
              <a:rPr lang="zh-CN" altLang="en-US" b="1" dirty="0"/>
              <a:t>你经常参加体育锻炼吗</a:t>
            </a:r>
            <a:r>
              <a:rPr lang="en-US" altLang="zh-CN" b="1" dirty="0"/>
              <a:t>?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经常</a:t>
            </a:r>
            <a:r>
              <a:rPr lang="en-US" altLang="zh-CN" dirty="0"/>
              <a:t>B </a:t>
            </a:r>
            <a:r>
              <a:rPr lang="zh-CN" altLang="en-US" dirty="0"/>
              <a:t>偶尔</a:t>
            </a:r>
            <a:r>
              <a:rPr lang="en-US" altLang="zh-CN" dirty="0"/>
              <a:t>C</a:t>
            </a:r>
            <a:r>
              <a:rPr lang="zh-CN" altLang="en-US" dirty="0"/>
              <a:t>从来没有</a:t>
            </a:r>
            <a:r>
              <a:rPr lang="en-US" altLang="zh-CN" dirty="0"/>
              <a:t>D</a:t>
            </a:r>
            <a:endParaRPr lang="en-US" altLang="zh-CN" b="1" dirty="0"/>
          </a:p>
          <a:p>
            <a:r>
              <a:rPr lang="en-US" altLang="zh-CN" b="1" dirty="0"/>
              <a:t>21</a:t>
            </a:r>
            <a:r>
              <a:rPr lang="zh-CN" altLang="en-US" b="1" dirty="0"/>
              <a:t>你吸烟吗</a:t>
            </a:r>
            <a:r>
              <a:rPr lang="en-US" altLang="zh-CN" b="1" dirty="0"/>
              <a:t>?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经常</a:t>
            </a:r>
            <a:r>
              <a:rPr lang="en-US" altLang="zh-CN" dirty="0"/>
              <a:t>B </a:t>
            </a:r>
            <a:r>
              <a:rPr lang="zh-CN" altLang="en-US" dirty="0"/>
              <a:t>偶尔</a:t>
            </a:r>
            <a:r>
              <a:rPr lang="en-US" altLang="zh-CN" dirty="0"/>
              <a:t>C</a:t>
            </a:r>
            <a:r>
              <a:rPr lang="zh-CN" altLang="en-US" dirty="0"/>
              <a:t>从来没有</a:t>
            </a:r>
            <a:r>
              <a:rPr lang="en-US" altLang="zh-CN" dirty="0"/>
              <a:t>D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0556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22</a:t>
            </a:r>
            <a:r>
              <a:rPr lang="zh-CN" altLang="en-US" b="1" dirty="0"/>
              <a:t>你觉得自己体重合适吗</a:t>
            </a:r>
            <a:r>
              <a:rPr lang="en-US" altLang="zh-CN" b="1" dirty="0"/>
              <a:t>?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合适</a:t>
            </a:r>
            <a:r>
              <a:rPr lang="en-US" altLang="zh-CN" dirty="0"/>
              <a:t>B </a:t>
            </a:r>
            <a:r>
              <a:rPr lang="zh-CN" altLang="en-US" dirty="0"/>
              <a:t>偏胖</a:t>
            </a:r>
            <a:r>
              <a:rPr lang="en-US" altLang="zh-CN" dirty="0"/>
              <a:t>C </a:t>
            </a:r>
            <a:r>
              <a:rPr lang="zh-CN" altLang="en-US" dirty="0"/>
              <a:t>偏瘦</a:t>
            </a:r>
            <a:r>
              <a:rPr lang="en-US" altLang="zh-CN" dirty="0"/>
              <a:t>D </a:t>
            </a:r>
            <a:r>
              <a:rPr lang="zh-CN" altLang="en-US" dirty="0"/>
              <a:t>过胖 </a:t>
            </a:r>
            <a:r>
              <a:rPr lang="en-US" altLang="zh-CN" dirty="0"/>
              <a:t>E</a:t>
            </a:r>
            <a:r>
              <a:rPr lang="zh-CN" altLang="en-US" dirty="0"/>
              <a:t>过瘦</a:t>
            </a:r>
            <a:endParaRPr lang="zh-CN" altLang="en-US" b="1" dirty="0"/>
          </a:p>
          <a:p>
            <a:r>
              <a:rPr lang="en-US" altLang="zh-CN" b="1" dirty="0"/>
              <a:t>23</a:t>
            </a:r>
            <a:r>
              <a:rPr lang="zh-CN" altLang="en-US" b="1" dirty="0"/>
              <a:t>你睡眠时间充分吗</a:t>
            </a:r>
            <a:r>
              <a:rPr lang="zh-CN" altLang="en-US" dirty="0"/>
              <a:t>？</a:t>
            </a:r>
          </a:p>
          <a:p>
            <a:r>
              <a:rPr lang="en-US" altLang="zh-CN" dirty="0"/>
              <a:t>A </a:t>
            </a:r>
            <a:r>
              <a:rPr lang="zh-CN" altLang="en-US" dirty="0"/>
              <a:t>充分</a:t>
            </a:r>
            <a:r>
              <a:rPr lang="en-US" altLang="zh-CN" dirty="0"/>
              <a:t>B </a:t>
            </a:r>
            <a:r>
              <a:rPr lang="zh-CN" altLang="en-US" dirty="0"/>
              <a:t>偏少</a:t>
            </a:r>
            <a:r>
              <a:rPr lang="en-US" altLang="zh-CN" dirty="0"/>
              <a:t>C </a:t>
            </a:r>
            <a:r>
              <a:rPr lang="zh-CN" altLang="en-US" dirty="0"/>
              <a:t>过多</a:t>
            </a:r>
            <a:r>
              <a:rPr lang="en-US" altLang="zh-CN" dirty="0"/>
              <a:t>D</a:t>
            </a:r>
            <a:r>
              <a:rPr lang="zh-CN" altLang="en-US" dirty="0"/>
              <a:t>其他</a:t>
            </a:r>
            <a:endParaRPr lang="zh-CN" altLang="en-US" b="1" dirty="0"/>
          </a:p>
          <a:p>
            <a:r>
              <a:rPr lang="en-US" altLang="zh-CN" b="1" dirty="0"/>
              <a:t>24</a:t>
            </a:r>
            <a:r>
              <a:rPr lang="zh-CN" altLang="en-US" b="1" dirty="0"/>
              <a:t>你上课精神集中吗？</a:t>
            </a:r>
            <a:endParaRPr lang="zh-CN" altLang="en-US" dirty="0"/>
          </a:p>
          <a:p>
            <a:r>
              <a:rPr lang="en-US" altLang="zh-CN" dirty="0"/>
              <a:t>A </a:t>
            </a:r>
            <a:r>
              <a:rPr lang="zh-CN" altLang="en-US" dirty="0"/>
              <a:t>集中</a:t>
            </a:r>
            <a:r>
              <a:rPr lang="en-US" altLang="zh-CN" dirty="0"/>
              <a:t>B </a:t>
            </a:r>
            <a:r>
              <a:rPr lang="zh-CN" altLang="en-US" dirty="0"/>
              <a:t>偶尔，</a:t>
            </a:r>
            <a:r>
              <a:rPr lang="en-US" altLang="zh-CN" dirty="0"/>
              <a:t>C </a:t>
            </a:r>
            <a:r>
              <a:rPr lang="zh-CN" altLang="en-US" dirty="0"/>
              <a:t>常走神</a:t>
            </a:r>
            <a:r>
              <a:rPr lang="en-US" altLang="zh-CN" dirty="0"/>
              <a:t>D</a:t>
            </a:r>
            <a:r>
              <a:rPr lang="zh-CN" altLang="en-US" dirty="0"/>
              <a:t>无法集中</a:t>
            </a:r>
            <a:r>
              <a:rPr lang="en-US" altLang="zh-CN" dirty="0"/>
              <a:t>E</a:t>
            </a:r>
            <a:r>
              <a:rPr lang="zh-CN" altLang="en-US" dirty="0"/>
              <a:t>经常睡觉</a:t>
            </a:r>
            <a:endParaRPr lang="zh-CN" altLang="en-US" b="1" dirty="0"/>
          </a:p>
          <a:p>
            <a:r>
              <a:rPr lang="en-US" altLang="zh-CN" b="1" dirty="0"/>
              <a:t>25</a:t>
            </a:r>
            <a:r>
              <a:rPr lang="zh-CN" altLang="en-US" b="1" dirty="0"/>
              <a:t>你上课困倦吗</a:t>
            </a:r>
            <a:endParaRPr lang="zh-CN" altLang="en-US" dirty="0"/>
          </a:p>
          <a:p>
            <a:r>
              <a:rPr lang="en-US" altLang="zh-CN" dirty="0"/>
              <a:t>A </a:t>
            </a:r>
            <a:r>
              <a:rPr lang="zh-CN" altLang="en-US" dirty="0"/>
              <a:t>不困</a:t>
            </a:r>
            <a:r>
              <a:rPr lang="en-US" altLang="zh-CN" dirty="0"/>
              <a:t>B </a:t>
            </a:r>
            <a:r>
              <a:rPr lang="zh-CN" altLang="en-US" dirty="0"/>
              <a:t>经常困</a:t>
            </a:r>
            <a:r>
              <a:rPr lang="en-US" altLang="zh-CN" dirty="0"/>
              <a:t>C </a:t>
            </a:r>
            <a:r>
              <a:rPr lang="zh-CN" altLang="en-US" dirty="0"/>
              <a:t>偶尔</a:t>
            </a:r>
            <a:r>
              <a:rPr lang="en-US" altLang="zh-CN" dirty="0"/>
              <a:t>D</a:t>
            </a:r>
            <a:r>
              <a:rPr lang="zh-CN" altLang="en-US" dirty="0"/>
              <a:t>其他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7556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健康行为测试结果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南京一高校对在校大学生的健康行为进行调查，其结果是大学生早餐进餐率达</a:t>
            </a:r>
            <a:r>
              <a:rPr lang="en-US" altLang="zh-CN" dirty="0"/>
              <a:t>78.52%</a:t>
            </a:r>
            <a:r>
              <a:rPr lang="zh-CN" altLang="en-US" dirty="0"/>
              <a:t>，经常参加体育锻炼者仅为</a:t>
            </a:r>
            <a:r>
              <a:rPr lang="en-US" altLang="zh-CN" dirty="0"/>
              <a:t>30.21%</a:t>
            </a:r>
            <a:r>
              <a:rPr lang="zh-CN" altLang="en-US" dirty="0"/>
              <a:t>，有</a:t>
            </a:r>
            <a:r>
              <a:rPr lang="en-US" altLang="zh-CN" dirty="0"/>
              <a:t>21.15%</a:t>
            </a:r>
            <a:r>
              <a:rPr lang="zh-CN" altLang="en-US" dirty="0"/>
              <a:t>男生有吸烟行为，</a:t>
            </a:r>
            <a:r>
              <a:rPr lang="en-US" altLang="zh-CN" dirty="0"/>
              <a:t>42.95%</a:t>
            </a:r>
            <a:r>
              <a:rPr lang="zh-CN" altLang="en-US" dirty="0"/>
              <a:t>的学生在情绪上常出现困倦懒惰，</a:t>
            </a:r>
            <a:r>
              <a:rPr lang="en-US" altLang="zh-CN" dirty="0"/>
              <a:t>22.89%</a:t>
            </a:r>
            <a:r>
              <a:rPr lang="zh-CN" altLang="en-US" dirty="0"/>
              <a:t>的女生存在不同程度的消瘦问题。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5192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消除对自己健康水平的模糊性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2067" y="2132856"/>
            <a:ext cx="7408333" cy="3993307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zh-CN" altLang="en-US" dirty="0"/>
              <a:t>了解自己的健康水平与状况，有助于同学消除对自己健康水平的模糊性。这种模糊性主要体现在二个方面：</a:t>
            </a:r>
          </a:p>
          <a:p>
            <a:pPr>
              <a:lnSpc>
                <a:spcPct val="80000"/>
              </a:lnSpc>
            </a:pPr>
            <a:r>
              <a:rPr lang="zh-CN" altLang="en-US" dirty="0"/>
              <a:t>一是对自身健康的惰性。人们总体上是不关心自己的健康，人们对自身健康的惰性使人们形成对自己健康的被动性，即人总是由自己的身体变化支配自己的行为，而非主动地通过自己的行为方式来改良自己的健康状况。</a:t>
            </a:r>
          </a:p>
          <a:p>
            <a:pPr>
              <a:lnSpc>
                <a:spcPct val="80000"/>
              </a:lnSpc>
            </a:pPr>
            <a:r>
              <a:rPr lang="zh-CN" altLang="en-US" dirty="0"/>
              <a:t>二是对自身健康的不知情性，人们很少全面评估自己的健康，有时关注也只不过生理方面的健康。</a:t>
            </a:r>
          </a:p>
          <a:p>
            <a:pPr>
              <a:lnSpc>
                <a:spcPct val="80000"/>
              </a:lnSpc>
            </a:pPr>
            <a:r>
              <a:rPr lang="zh-CN" altLang="en-US" dirty="0"/>
              <a:t>了解自己的健康水平与状况，有助于同学有计划地改善自己的健康状况。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8670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02 </a:t>
            </a:r>
            <a:r>
              <a:rPr lang="zh-CN" altLang="en-US" dirty="0"/>
              <a:t>：了解自己的心理健康</a:t>
            </a:r>
            <a:br>
              <a:rPr lang="en-US" altLang="zh-CN" dirty="0"/>
            </a:br>
            <a:r>
              <a:rPr lang="zh-CN" altLang="en-US" dirty="0"/>
              <a:t>心理健康测试 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对以下</a:t>
            </a:r>
            <a:r>
              <a:rPr lang="en-US" altLang="zh-CN" b="1" dirty="0"/>
              <a:t>40</a:t>
            </a:r>
            <a:r>
              <a:rPr lang="zh-CN" altLang="en-US" b="1" dirty="0"/>
              <a:t>道题，</a:t>
            </a:r>
          </a:p>
          <a:p>
            <a:r>
              <a:rPr lang="zh-CN" altLang="en-US" b="1" dirty="0"/>
              <a:t>如果感到“常常是”，划√号；</a:t>
            </a:r>
          </a:p>
          <a:p>
            <a:r>
              <a:rPr lang="zh-CN" altLang="en-US" b="1" dirty="0"/>
              <a:t>“偶尔”是，划△号；</a:t>
            </a:r>
          </a:p>
          <a:p>
            <a:r>
              <a:rPr lang="zh-CN" altLang="en-US" b="1" dirty="0"/>
              <a:t>“完全没有”，划</a:t>
            </a:r>
            <a:r>
              <a:rPr lang="en-US" altLang="zh-CN" b="1" dirty="0"/>
              <a:t>×</a:t>
            </a:r>
            <a:r>
              <a:rPr lang="zh-CN" altLang="en-US" b="1" dirty="0"/>
              <a:t>号。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4986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平时不知为什么总觉得心慌意乱，坐立不安。 </a:t>
            </a:r>
            <a:br>
              <a:rPr lang="zh-CN" altLang="en-US" b="1" dirty="0"/>
            </a:br>
            <a:r>
              <a:rPr lang="en-US" altLang="zh-CN" b="1" dirty="0"/>
              <a:t>2. </a:t>
            </a:r>
            <a:r>
              <a:rPr lang="zh-CN" altLang="en-US" b="1" dirty="0"/>
              <a:t>上床后，怎么也睡不着，即使睡着也容易惊醒。 </a:t>
            </a:r>
            <a:br>
              <a:rPr lang="zh-CN" altLang="en-US" b="1" dirty="0"/>
            </a:br>
            <a:r>
              <a:rPr lang="en-US" altLang="zh-CN" b="1" dirty="0"/>
              <a:t>3. </a:t>
            </a:r>
            <a:r>
              <a:rPr lang="zh-CN" altLang="en-US" b="1" dirty="0"/>
              <a:t>经常做恶梦，惊恐不安，早晨醒来就感到倦怠无力、焦虑烦躁。 </a:t>
            </a:r>
            <a:br>
              <a:rPr lang="zh-CN" altLang="en-US" b="1" dirty="0"/>
            </a:br>
            <a:r>
              <a:rPr lang="en-US" altLang="zh-CN" b="1" dirty="0"/>
              <a:t>4. </a:t>
            </a:r>
            <a:r>
              <a:rPr lang="zh-CN" altLang="en-US" b="1" dirty="0"/>
              <a:t>经常早醒</a:t>
            </a:r>
            <a:r>
              <a:rPr lang="en-US" altLang="zh-CN" b="1" dirty="0"/>
              <a:t>1-2</a:t>
            </a:r>
            <a:r>
              <a:rPr lang="zh-CN" altLang="en-US" b="1" dirty="0"/>
              <a:t>小时 ，醒后很难再入睡。 </a:t>
            </a:r>
            <a:br>
              <a:rPr lang="zh-CN" altLang="en-US" b="1" dirty="0"/>
            </a:br>
            <a:r>
              <a:rPr lang="en-US" altLang="zh-CN" b="1" dirty="0"/>
              <a:t>5. </a:t>
            </a:r>
            <a:r>
              <a:rPr lang="zh-CN" altLang="en-US" b="1" dirty="0"/>
              <a:t>学习的压力常使自己感到非常烦躁，讨厌学习。 </a:t>
            </a:r>
            <a:br>
              <a:rPr lang="zh-CN" altLang="en-US" b="1" dirty="0"/>
            </a:br>
            <a:r>
              <a:rPr lang="en-US" altLang="zh-CN" b="1" dirty="0"/>
              <a:t>6. </a:t>
            </a:r>
            <a:r>
              <a:rPr lang="zh-CN" altLang="en-US" b="1" dirty="0"/>
              <a:t>读书看报甚至在课堂上也不能专心一致，往往自己也搞不清在想什么。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1494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7. </a:t>
            </a:r>
            <a:r>
              <a:rPr lang="zh-CN" altLang="en-US" b="1" dirty="0"/>
              <a:t>遇到不称心的事情便较长时间地沉默少言。 </a:t>
            </a:r>
            <a:br>
              <a:rPr lang="zh-CN" altLang="en-US" b="1" dirty="0"/>
            </a:br>
            <a:r>
              <a:rPr lang="en-US" altLang="zh-CN" b="1" dirty="0"/>
              <a:t>8. </a:t>
            </a:r>
            <a:r>
              <a:rPr lang="zh-CN" altLang="en-US" b="1" dirty="0"/>
              <a:t>感到很多事情不称心，无端发火。 </a:t>
            </a:r>
            <a:br>
              <a:rPr lang="zh-CN" altLang="en-US" b="1" dirty="0"/>
            </a:br>
            <a:r>
              <a:rPr lang="en-US" altLang="zh-CN" b="1" dirty="0"/>
              <a:t>9. </a:t>
            </a:r>
            <a:r>
              <a:rPr lang="zh-CN" altLang="en-US" b="1" dirty="0"/>
              <a:t>哪怕是一件小事情，也总是很放不开，整日思索。 </a:t>
            </a:r>
            <a:br>
              <a:rPr lang="zh-CN" altLang="en-US" b="1" dirty="0"/>
            </a:br>
            <a:r>
              <a:rPr lang="en-US" altLang="zh-CN" b="1" dirty="0"/>
              <a:t>10. </a:t>
            </a:r>
            <a:r>
              <a:rPr lang="zh-CN" altLang="en-US" b="1" dirty="0"/>
              <a:t>感到现实生活中没有什么事情能引起自己的乐趣，郁郁寡欢。 </a:t>
            </a:r>
            <a:br>
              <a:rPr lang="zh-CN" altLang="en-US" b="1" dirty="0"/>
            </a:br>
            <a:r>
              <a:rPr lang="en-US" altLang="zh-CN" b="1" dirty="0"/>
              <a:t>11. </a:t>
            </a:r>
            <a:r>
              <a:rPr lang="zh-CN" altLang="en-US" b="1" dirty="0"/>
              <a:t>老师讲概念，常常听不懂，有时懂得快忘得也快。 </a:t>
            </a:r>
            <a:br>
              <a:rPr lang="zh-CN" altLang="en-US" b="1" dirty="0"/>
            </a:br>
            <a:r>
              <a:rPr lang="en-US" altLang="zh-CN" b="1" dirty="0"/>
              <a:t>12. </a:t>
            </a:r>
            <a:r>
              <a:rPr lang="zh-CN" altLang="en-US" b="1" dirty="0"/>
              <a:t>遇到问题常常举棋不定，迟疑再三。 </a:t>
            </a:r>
            <a:br>
              <a:rPr lang="zh-CN" altLang="en-US" b="1" dirty="0"/>
            </a:br>
            <a:r>
              <a:rPr lang="en-US" altLang="zh-CN" b="1" dirty="0"/>
              <a:t>13. </a:t>
            </a:r>
            <a:r>
              <a:rPr lang="zh-CN" altLang="en-US" b="1" dirty="0"/>
              <a:t>经常与人争吵发火，过后又后悔不已。 </a:t>
            </a:r>
            <a:br>
              <a:rPr lang="zh-CN" altLang="en-US" b="1" dirty="0"/>
            </a:br>
            <a:r>
              <a:rPr lang="en-US" altLang="zh-CN" b="1" dirty="0"/>
              <a:t>14. </a:t>
            </a:r>
            <a:r>
              <a:rPr lang="zh-CN" altLang="en-US" b="1" dirty="0"/>
              <a:t>经常追悔自己做过的事，有负疚感。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8307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15. </a:t>
            </a:r>
            <a:r>
              <a:rPr lang="zh-CN" altLang="en-US" b="1" dirty="0"/>
              <a:t>一遇到考试，即使有准备也紧张焦虑。 </a:t>
            </a:r>
            <a:br>
              <a:rPr lang="zh-CN" altLang="en-US" b="1" dirty="0"/>
            </a:br>
            <a:r>
              <a:rPr lang="en-US" altLang="zh-CN" b="1" dirty="0"/>
              <a:t>16. </a:t>
            </a:r>
            <a:r>
              <a:rPr lang="zh-CN" altLang="en-US" b="1" dirty="0"/>
              <a:t>一遇挫折，便心灰意冷，丧失信心。 </a:t>
            </a:r>
            <a:br>
              <a:rPr lang="zh-CN" altLang="en-US" b="1" dirty="0"/>
            </a:br>
            <a:r>
              <a:rPr lang="en-US" altLang="zh-CN" b="1" dirty="0"/>
              <a:t>17. </a:t>
            </a:r>
            <a:r>
              <a:rPr lang="zh-CN" altLang="en-US" b="1" dirty="0"/>
              <a:t>非常害怕失败，行动前总是提心吊胆，畏首畏尾。 </a:t>
            </a:r>
            <a:br>
              <a:rPr lang="zh-CN" altLang="en-US" b="1" dirty="0"/>
            </a:br>
            <a:r>
              <a:rPr lang="en-US" altLang="zh-CN" b="1" dirty="0"/>
              <a:t>18. </a:t>
            </a:r>
            <a:r>
              <a:rPr lang="zh-CN" altLang="en-US" b="1" dirty="0"/>
              <a:t>感情脆弱，稍不顺心，就暗自流泪。 </a:t>
            </a:r>
            <a:br>
              <a:rPr lang="zh-CN" altLang="en-US" b="1" dirty="0"/>
            </a:br>
            <a:r>
              <a:rPr lang="en-US" altLang="zh-CN" b="1" dirty="0"/>
              <a:t>19. </a:t>
            </a:r>
            <a:r>
              <a:rPr lang="zh-CN" altLang="en-US" b="1" dirty="0"/>
              <a:t>自己瞧不起自己，觉得别人总在嘲笑自己。 </a:t>
            </a:r>
            <a:br>
              <a:rPr lang="zh-CN" altLang="en-US" b="1" dirty="0"/>
            </a:br>
            <a:r>
              <a:rPr lang="en-US" altLang="zh-CN" b="1" dirty="0"/>
              <a:t>20. </a:t>
            </a:r>
            <a:r>
              <a:rPr lang="zh-CN" altLang="en-US" b="1" dirty="0"/>
              <a:t>喜欢跟自己年幼或能力不如自己的人一起玩或比赛。 </a:t>
            </a:r>
            <a:br>
              <a:rPr lang="zh-CN" altLang="en-US" b="1" dirty="0"/>
            </a:br>
            <a:r>
              <a:rPr lang="en-US" altLang="zh-CN" b="1" dirty="0"/>
              <a:t>21. </a:t>
            </a:r>
            <a:r>
              <a:rPr lang="zh-CN" altLang="en-US" b="1" dirty="0"/>
              <a:t>感到没有人理解自己，烦闷时别人很难使自己高兴。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7359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22. </a:t>
            </a:r>
            <a:r>
              <a:rPr lang="zh-CN" altLang="en-US" b="1" dirty="0"/>
              <a:t>发现别人在窃窃私语，便怀疑是在背后议论自己。 </a:t>
            </a:r>
            <a:br>
              <a:rPr lang="zh-CN" altLang="en-US" b="1" dirty="0"/>
            </a:br>
            <a:r>
              <a:rPr lang="en-US" altLang="zh-CN" b="1" dirty="0"/>
              <a:t>23. </a:t>
            </a:r>
            <a:r>
              <a:rPr lang="zh-CN" altLang="en-US" b="1" dirty="0"/>
              <a:t>对别人取得的成绩和荣誉常常表示怀疑，甚至嫉妒。 </a:t>
            </a:r>
            <a:br>
              <a:rPr lang="zh-CN" altLang="en-US" b="1" dirty="0"/>
            </a:br>
            <a:r>
              <a:rPr lang="en-US" altLang="zh-CN" b="1" dirty="0"/>
              <a:t>24. </a:t>
            </a:r>
            <a:r>
              <a:rPr lang="zh-CN" altLang="en-US" b="1" dirty="0"/>
              <a:t>缺乏安全感，总觉得别人要加害自己。 </a:t>
            </a:r>
            <a:br>
              <a:rPr lang="zh-CN" altLang="en-US" b="1" dirty="0"/>
            </a:br>
            <a:r>
              <a:rPr lang="en-US" altLang="zh-CN" b="1" dirty="0"/>
              <a:t>25. </a:t>
            </a:r>
            <a:r>
              <a:rPr lang="zh-CN" altLang="en-US" b="1" dirty="0"/>
              <a:t>参加春游等集体活动时，总有孤独感。 </a:t>
            </a:r>
            <a:br>
              <a:rPr lang="zh-CN" altLang="en-US" b="1" dirty="0"/>
            </a:br>
            <a:r>
              <a:rPr lang="en-US" altLang="zh-CN" b="1" dirty="0"/>
              <a:t>26. </a:t>
            </a:r>
            <a:r>
              <a:rPr lang="zh-CN" altLang="en-US" b="1" dirty="0"/>
              <a:t>害怕见陌生人，人多时说话就脸红。 </a:t>
            </a:r>
            <a:br>
              <a:rPr lang="zh-CN" altLang="en-US" b="1" dirty="0"/>
            </a:br>
            <a:r>
              <a:rPr lang="en-US" altLang="zh-CN" b="1" dirty="0"/>
              <a:t>27. </a:t>
            </a:r>
            <a:r>
              <a:rPr lang="zh-CN" altLang="en-US" b="1" dirty="0"/>
              <a:t>在黑夜行走或独自在家有恐惧感。 </a:t>
            </a:r>
            <a:br>
              <a:rPr lang="zh-CN" altLang="en-US" b="1" dirty="0"/>
            </a:br>
            <a:r>
              <a:rPr lang="en-US" altLang="zh-CN" b="1" dirty="0"/>
              <a:t>28. </a:t>
            </a:r>
            <a:r>
              <a:rPr lang="zh-CN" altLang="en-US" b="1" dirty="0"/>
              <a:t>一旦离开父母，心里就不踏实。</a:t>
            </a:r>
            <a:r>
              <a:rPr lang="zh-CN" altLang="en-US" dirty="0"/>
              <a:t>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4988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29. </a:t>
            </a:r>
            <a:r>
              <a:rPr lang="zh-CN" altLang="en-US" b="1" dirty="0"/>
              <a:t>经常怀疑自己接触的东西不干净，反复洗手或换衣服，对清洁极端注意。 </a:t>
            </a:r>
            <a:br>
              <a:rPr lang="zh-CN" altLang="en-US" b="1" dirty="0"/>
            </a:br>
            <a:r>
              <a:rPr lang="en-US" altLang="zh-CN" b="1" dirty="0"/>
              <a:t>30. </a:t>
            </a:r>
            <a:r>
              <a:rPr lang="zh-CN" altLang="en-US" b="1" dirty="0"/>
              <a:t>担心是否锁门和可能着火，反复检查，经常躺在床上又起来确认，或刚一出门又返回检查。 </a:t>
            </a:r>
            <a:br>
              <a:rPr lang="zh-CN" altLang="en-US" b="1" dirty="0"/>
            </a:br>
            <a:r>
              <a:rPr lang="en-US" altLang="zh-CN" b="1" dirty="0"/>
              <a:t>31. </a:t>
            </a:r>
            <a:r>
              <a:rPr lang="zh-CN" altLang="en-US" b="1" dirty="0"/>
              <a:t>站在经常有人自杀的场所、悬崖边、大厦顶、阳台上，有摇摇晃晃要跳下去的感觉。 </a:t>
            </a:r>
            <a:br>
              <a:rPr lang="zh-CN" altLang="en-US" b="1" dirty="0"/>
            </a:br>
            <a:r>
              <a:rPr lang="en-US" altLang="zh-CN" b="1" dirty="0"/>
              <a:t>32. </a:t>
            </a:r>
            <a:r>
              <a:rPr lang="zh-CN" altLang="en-US" b="1" dirty="0"/>
              <a:t>对他人的疾病非常敏感，经常打听，深怕自己也身患同病。 </a:t>
            </a:r>
            <a:br>
              <a:rPr lang="zh-CN" altLang="en-US" b="1" dirty="0"/>
            </a:br>
            <a:r>
              <a:rPr lang="en-US" altLang="zh-CN" b="1" dirty="0"/>
              <a:t>33. </a:t>
            </a:r>
            <a:r>
              <a:rPr lang="zh-CN" altLang="en-US" b="1" dirty="0"/>
              <a:t>对特定的事物、交通工具（电车、公共汽车等）、尖状物及白色墙壁等稍微奇怪的东西有恐怖倾向。 </a:t>
            </a:r>
            <a:br>
              <a:rPr lang="zh-CN" altLang="en-US" b="1" dirty="0"/>
            </a:br>
            <a:r>
              <a:rPr lang="en-US" altLang="zh-CN" b="1" dirty="0"/>
              <a:t>34. </a:t>
            </a:r>
            <a:r>
              <a:rPr lang="zh-CN" altLang="en-US" b="1" dirty="0"/>
              <a:t>经常怀疑自己发育不良</a:t>
            </a:r>
            <a:r>
              <a:rPr lang="zh-CN" altLang="en-US" sz="2000" dirty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0176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35. </a:t>
            </a:r>
            <a:r>
              <a:rPr lang="zh-CN" altLang="en-US" dirty="0"/>
              <a:t>一旦与异性交往就脸红心慌或想入非非。 </a:t>
            </a:r>
            <a:br>
              <a:rPr lang="zh-CN" altLang="en-US" dirty="0"/>
            </a:br>
            <a:r>
              <a:rPr lang="en-US" altLang="zh-CN" dirty="0"/>
              <a:t>36. </a:t>
            </a:r>
            <a:r>
              <a:rPr lang="zh-CN" altLang="en-US" dirty="0"/>
              <a:t>对某个异性伙伴的每一个细微行为都很注意。</a:t>
            </a:r>
            <a:br>
              <a:rPr lang="zh-CN" altLang="en-US" dirty="0"/>
            </a:br>
            <a:r>
              <a:rPr lang="en-US" altLang="zh-CN" dirty="0"/>
              <a:t>37. </a:t>
            </a:r>
            <a:r>
              <a:rPr lang="zh-CN" altLang="en-US" dirty="0"/>
              <a:t>怀疑自己患了癌症等严重不治之症，反复看医书或去医院检查。 </a:t>
            </a:r>
            <a:br>
              <a:rPr lang="zh-CN" altLang="en-US" dirty="0"/>
            </a:br>
            <a:r>
              <a:rPr lang="en-US" altLang="zh-CN" dirty="0"/>
              <a:t>38. </a:t>
            </a:r>
            <a:r>
              <a:rPr lang="zh-CN" altLang="en-US" dirty="0"/>
              <a:t>经常无端头痛，并依赖止痛或镇静药。 </a:t>
            </a:r>
            <a:br>
              <a:rPr lang="zh-CN" altLang="en-US" dirty="0"/>
            </a:br>
            <a:r>
              <a:rPr lang="en-US" altLang="zh-CN" dirty="0"/>
              <a:t>39. </a:t>
            </a:r>
            <a:r>
              <a:rPr lang="zh-CN" altLang="en-US" dirty="0"/>
              <a:t>经常有离家出走或脱离集体的想法。 </a:t>
            </a:r>
            <a:br>
              <a:rPr lang="zh-CN" altLang="en-US" dirty="0"/>
            </a:br>
            <a:r>
              <a:rPr lang="en-US" altLang="zh-CN" dirty="0"/>
              <a:t>40. </a:t>
            </a:r>
            <a:r>
              <a:rPr lang="zh-CN" altLang="en-US" dirty="0"/>
              <a:t>感到内心痛苦无法解脱，只能自伤或自杀。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1760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 dirty="0"/>
              <a:t>测评方法： </a:t>
            </a:r>
            <a:br>
              <a:rPr lang="zh-CN" altLang="en-US" b="1" dirty="0"/>
            </a:br>
            <a:r>
              <a:rPr lang="zh-CN" altLang="en-US" b="1" dirty="0"/>
              <a:t>√得</a:t>
            </a:r>
            <a:r>
              <a:rPr lang="en-US" altLang="zh-CN" b="1" dirty="0"/>
              <a:t>2</a:t>
            </a:r>
            <a:r>
              <a:rPr lang="zh-CN" altLang="en-US" b="1" dirty="0"/>
              <a:t>分，△得</a:t>
            </a:r>
            <a:r>
              <a:rPr lang="en-US" altLang="zh-CN" b="1" dirty="0"/>
              <a:t>1</a:t>
            </a:r>
            <a:r>
              <a:rPr lang="zh-CN" altLang="en-US" b="1" dirty="0"/>
              <a:t>分，</a:t>
            </a:r>
            <a:r>
              <a:rPr lang="en-US" altLang="zh-CN" b="1" dirty="0"/>
              <a:t>×</a:t>
            </a:r>
            <a:r>
              <a:rPr lang="zh-CN" altLang="en-US" b="1" dirty="0"/>
              <a:t>得</a:t>
            </a:r>
            <a:r>
              <a:rPr lang="en-US" altLang="zh-CN" b="1" dirty="0"/>
              <a:t>0</a:t>
            </a:r>
            <a:r>
              <a:rPr lang="zh-CN" altLang="en-US" b="1" dirty="0"/>
              <a:t>分。</a:t>
            </a:r>
            <a:br>
              <a:rPr lang="zh-CN" altLang="en-US" b="1" dirty="0"/>
            </a:br>
            <a:r>
              <a:rPr lang="zh-CN" altLang="en-US" b="1" dirty="0"/>
              <a:t>评价参考： </a:t>
            </a:r>
            <a:br>
              <a:rPr lang="zh-CN" altLang="en-US" b="1" dirty="0"/>
            </a:br>
            <a:r>
              <a:rPr lang="en-US" altLang="zh-CN" b="1" dirty="0"/>
              <a:t>1) 0-8</a:t>
            </a:r>
            <a:r>
              <a:rPr lang="zh-CN" altLang="en-US" b="1" dirty="0"/>
              <a:t>分。心理非常健康，请你放心。 </a:t>
            </a:r>
            <a:br>
              <a:rPr lang="zh-CN" altLang="en-US" b="1" dirty="0"/>
            </a:br>
            <a:r>
              <a:rPr lang="en-US" altLang="zh-CN" b="1" dirty="0"/>
              <a:t>2) 9-16</a:t>
            </a:r>
            <a:r>
              <a:rPr lang="zh-CN" altLang="en-US" b="1" dirty="0"/>
              <a:t>分。大致还属于健康的范围，但应有所注意，也可以找老师或同学聊聊。 </a:t>
            </a:r>
            <a:br>
              <a:rPr lang="zh-CN" altLang="en-US" b="1" dirty="0"/>
            </a:br>
            <a:r>
              <a:rPr lang="en-US" altLang="zh-CN" b="1" dirty="0"/>
              <a:t>3) 17-30</a:t>
            </a:r>
            <a:r>
              <a:rPr lang="zh-CN" altLang="en-US" b="1" dirty="0"/>
              <a:t>分。你在心理方面有了一些障碍，应采取适当的方法进行调适，或找心理辅导老师帮助你。 </a:t>
            </a:r>
            <a:br>
              <a:rPr lang="zh-CN" altLang="en-US" b="1" dirty="0"/>
            </a:br>
            <a:r>
              <a:rPr lang="en-US" altLang="zh-CN" b="1" dirty="0"/>
              <a:t>4) 31-40</a:t>
            </a:r>
            <a:r>
              <a:rPr lang="zh-CN" altLang="en-US" b="1" dirty="0"/>
              <a:t>分。是黄牌警告，有可能患了某些心理疾病，应找专门的心理医生进行检查治疗。 </a:t>
            </a:r>
            <a:br>
              <a:rPr lang="zh-CN" altLang="en-US" b="1" dirty="0"/>
            </a:br>
            <a:r>
              <a:rPr lang="en-US" altLang="zh-CN" b="1" dirty="0"/>
              <a:t>5) 41</a:t>
            </a:r>
            <a:r>
              <a:rPr lang="zh-CN" altLang="en-US" b="1" dirty="0"/>
              <a:t>分以上。有较严重的心理障碍，应及时找专门的心理医生治疗。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7310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B87D26-1943-434B-8684-F36A14ABC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01 </a:t>
            </a:r>
            <a:r>
              <a:rPr lang="zh-CN" altLang="en-US" dirty="0"/>
              <a:t>认识自我</a:t>
            </a:r>
            <a:r>
              <a:rPr lang="en-US" altLang="zh-CN" dirty="0"/>
              <a:t>:</a:t>
            </a:r>
            <a:r>
              <a:rPr lang="zh-CN" altLang="en-US" dirty="0"/>
              <a:t>自我觉察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6D269F-AE64-4528-9140-75F88CD46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视觉类比量表</a:t>
            </a:r>
            <a:endParaRPr lang="en-US" altLang="zh-CN" dirty="0"/>
          </a:p>
          <a:p>
            <a:r>
              <a:rPr lang="zh-CN" altLang="en-US" dirty="0"/>
              <a:t>请你根据自己此时此刻的实际感受在每一个形容词 后面的直线上用竖线做出标记，越靠近左侧表示这种情感越低，越靠近右侧表示这种情感越高。</a:t>
            </a:r>
            <a:endParaRPr lang="en-US" altLang="zh-CN" dirty="0"/>
          </a:p>
          <a:p>
            <a:r>
              <a:rPr lang="zh-CN" altLang="en-US" dirty="0"/>
              <a:t>愉快的</a:t>
            </a:r>
            <a:r>
              <a:rPr lang="en-US" altLang="zh-CN" dirty="0"/>
              <a:t>——————————————————————</a:t>
            </a:r>
          </a:p>
          <a:p>
            <a:r>
              <a:rPr lang="zh-CN" altLang="en-US" dirty="0"/>
              <a:t>厌恶的</a:t>
            </a:r>
            <a:r>
              <a:rPr lang="en-US" altLang="zh-CN" dirty="0"/>
              <a:t>——————————————————————</a:t>
            </a:r>
          </a:p>
          <a:p>
            <a:r>
              <a:rPr lang="zh-CN" altLang="en-US" dirty="0"/>
              <a:t>悲伤的</a:t>
            </a:r>
            <a:r>
              <a:rPr lang="en-US" altLang="zh-CN" dirty="0"/>
              <a:t>——————————————————————</a:t>
            </a:r>
          </a:p>
          <a:p>
            <a:r>
              <a:rPr lang="zh-CN" altLang="en-US" dirty="0"/>
              <a:t>恐惧的</a:t>
            </a:r>
            <a:r>
              <a:rPr lang="en-US" altLang="zh-CN" dirty="0"/>
              <a:t>——————————————————————</a:t>
            </a:r>
          </a:p>
          <a:p>
            <a:r>
              <a:rPr lang="zh-CN" altLang="en-US" dirty="0"/>
              <a:t>愤怒的</a:t>
            </a:r>
            <a:r>
              <a:rPr lang="en-US" altLang="zh-CN" dirty="0"/>
              <a:t>——————————————————————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6348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AE5DF0-107E-4137-85D8-01F694E67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自我觉察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56994B-3A43-4749-B6B7-67B69C3F5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际关系的建立、经营与和谐都需要以个己关系为基本出发点。从中国传统文化或西方存在主义观点看来，人际关系发生之前，必先存有个己关系，人需要先与自己建立和谐关系，才可能与他人有共融的互动关系。</a:t>
            </a:r>
            <a:endParaRPr lang="en-US" altLang="zh-CN" dirty="0"/>
          </a:p>
          <a:p>
            <a:r>
              <a:rPr lang="zh-CN" altLang="en-US" dirty="0"/>
              <a:t>心理病理学认为：自我的困难解决不好，自我内心冲突解决不好，你不要指望从外面有什么好的关系进来。</a:t>
            </a:r>
          </a:p>
        </p:txBody>
      </p:sp>
    </p:spTree>
    <p:extLst>
      <p:ext uri="{BB962C8B-B14F-4D97-AF65-F5344CB8AC3E}">
        <p14:creationId xmlns:p14="http://schemas.microsoft.com/office/powerpoint/2010/main" val="290537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A736E-3FA0-4FF5-9FF2-3E35C7002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自我觉察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651245-B2D3-446E-A753-FADD16B3A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人是从与自己的相处过程中，学习到了“真诚对待”，才能在与他人的关系中有“真诚相等”的互动；透过自我深究，有助于增进对个人的觉知并学习如何与自己相处，进而拓展至人际关系。</a:t>
            </a:r>
          </a:p>
        </p:txBody>
      </p:sp>
    </p:spTree>
    <p:extLst>
      <p:ext uri="{BB962C8B-B14F-4D97-AF65-F5344CB8AC3E}">
        <p14:creationId xmlns:p14="http://schemas.microsoft.com/office/powerpoint/2010/main" val="1458085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09EC4-7F12-4C90-B4CC-9A38EBB7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自我觉察的线索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B876CB-069F-4765-B294-EF3613191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生理感官：提供了内外环境的信息；保证机体与环境的平衡；人的知觉、记忆、思维等的认识活动，必须借助于感觉提供的原始资料；人的情绪体验，也必须依靠人对环境和身体内部状态的感觉。</a:t>
            </a:r>
            <a:endParaRPr lang="en-US" altLang="zh-CN" dirty="0"/>
          </a:p>
          <a:p>
            <a:r>
              <a:rPr lang="zh-CN" altLang="en-US" dirty="0"/>
              <a:t>感觉分为内部感觉与外部感觉。外部感觉接受外部世界的刺激，如视觉、听觉、嗅觉、味觉、肤觉等。内部感觉接受机体内部的刺激（机体自身的运动与状态），如运动觉，平衡觉，内脏感觉等。</a:t>
            </a:r>
          </a:p>
        </p:txBody>
      </p:sp>
    </p:spTree>
    <p:extLst>
      <p:ext uri="{BB962C8B-B14F-4D97-AF65-F5344CB8AC3E}">
        <p14:creationId xmlns:p14="http://schemas.microsoft.com/office/powerpoint/2010/main" val="2840319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FBBEE-A6D6-4FCA-84C6-1349AAE5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肢体动作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E4F7B5A-6462-4B36-AFAA-C52C4B0F6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80101"/>
            <a:ext cx="7239000" cy="390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84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05518B-FE2D-4709-8CA4-DEF3067D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情绪感觉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D5B4AC-70DC-45BE-B11C-0332F78DC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情绪的两极性：强与弱、紧张与放松、激动与平</a:t>
            </a:r>
            <a:endParaRPr lang="en-US" altLang="zh-CN" dirty="0"/>
          </a:p>
          <a:p>
            <a:r>
              <a:rPr lang="zh-CN" altLang="en-US" dirty="0"/>
              <a:t>静、积极与消极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4F3FC96-212A-4E5A-9FBA-59221218A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227259"/>
              </p:ext>
            </p:extLst>
          </p:nvPr>
        </p:nvGraphicFramePr>
        <p:xfrm>
          <a:off x="611560" y="3068960"/>
          <a:ext cx="441764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640">
                  <a:extLst>
                    <a:ext uri="{9D8B030D-6E8A-4147-A177-3AD203B41FA5}">
                      <a16:colId xmlns:a16="http://schemas.microsoft.com/office/drawing/2014/main" val="314531966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3987316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41753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强度低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基本情绪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强度高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09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兴趣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期待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警觉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宁静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快乐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狂喜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677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接受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信任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赞赏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611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忧虑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恐惧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恐怖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230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分心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惊讶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惊愕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27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忧伤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悲伤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悲痛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255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生气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愤怒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狂怒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581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22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36E31-69B4-4724-A603-41D9FA13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想法观念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63430-CC12-4FD6-8D67-164604A33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不同的人对同一事物的观念是不一样的。（尊重差异）</a:t>
            </a:r>
            <a:endParaRPr lang="en-US" altLang="zh-CN" dirty="0"/>
          </a:p>
          <a:p>
            <a:r>
              <a:rPr lang="zh-CN" altLang="en-US" dirty="0"/>
              <a:t>在观念内涵的诸多因素中，价值观无疑是重要的。一般而方，价值观之建立习自家庭、社会及文化；因此来自不同家庭、社会及文化背景的个体，在人际关系、沟通类型及生活期待等层面上必须有着不同的价值观。</a:t>
            </a:r>
          </a:p>
        </p:txBody>
      </p:sp>
    </p:spTree>
    <p:extLst>
      <p:ext uri="{BB962C8B-B14F-4D97-AF65-F5344CB8AC3E}">
        <p14:creationId xmlns:p14="http://schemas.microsoft.com/office/powerpoint/2010/main" val="1513759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CA221-F119-47FC-9449-6D47A8111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价值观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80F52A-643A-43C1-80A9-61E095A77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价值观在个人决策过程中扮演着关键角色，价值观决定了一个人对于好坏、对错、美丑、褒贬、善恶、愿否、得失及成败的界定立场。除了是个人生活的准则与标准之处，价值观同时也 是个人外在言行的内在思维。</a:t>
            </a:r>
          </a:p>
        </p:txBody>
      </p:sp>
    </p:spTree>
    <p:extLst>
      <p:ext uri="{BB962C8B-B14F-4D97-AF65-F5344CB8AC3E}">
        <p14:creationId xmlns:p14="http://schemas.microsoft.com/office/powerpoint/2010/main" val="3121613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36508-833E-41F4-95B8-152C5E0E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90E812-A5FD-4489-AE1C-6BE4B84E3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我们做个小实验，请闭上眼睛，伸出一只手，从你面前拿起一样东西，请告诉自己你的感受是什么呢？</a:t>
            </a:r>
            <a:endParaRPr lang="en-US" altLang="zh-CN" dirty="0"/>
          </a:p>
          <a:p>
            <a:r>
              <a:rPr lang="zh-CN" altLang="en-US" dirty="0"/>
              <a:t>手机，书本，签字笔，还是钥匙呢？是的，这是你对它的思考。</a:t>
            </a:r>
            <a:endParaRPr lang="en-US" altLang="zh-CN" dirty="0"/>
          </a:p>
          <a:p>
            <a:r>
              <a:rPr lang="zh-CN" altLang="en-US" dirty="0"/>
              <a:t>请再一次闭上眼睛，拿起一样东西在手里，你感觉到了什么呢？</a:t>
            </a:r>
            <a:endParaRPr lang="en-US" altLang="zh-CN" dirty="0"/>
          </a:p>
          <a:p>
            <a:r>
              <a:rPr lang="zh-CN" altLang="en-US" dirty="0"/>
              <a:t>它是硬的、凉的，有些重量。这些是你的感受。</a:t>
            </a:r>
          </a:p>
        </p:txBody>
      </p:sp>
    </p:spTree>
    <p:extLst>
      <p:ext uri="{BB962C8B-B14F-4D97-AF65-F5344CB8AC3E}">
        <p14:creationId xmlns:p14="http://schemas.microsoft.com/office/powerpoint/2010/main" val="3569917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7F700C-ECA3-4C71-AACB-61B2328A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1F0C38-F61C-4973-8457-3C183A1C0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这是一个演示。让我们明白我们的思维意识是如何影响我们的现实生活。</a:t>
            </a:r>
            <a:endParaRPr lang="en-US" altLang="zh-CN" dirty="0"/>
          </a:p>
          <a:p>
            <a:r>
              <a:rPr lang="zh-CN" altLang="en-US" dirty="0"/>
              <a:t>大多数时间，我们并没有活在我们的身体里，而是活在我们的头脑里。我们不是和我们的感受在一起，而是处在我们的解释、想法 、信念之中，评判我们的经验，给它们贴上标签。我们的思维会使我们脱离环境，脱离我们的身体。糟糕的是，如果我们沉迷于个人的臆断解释中，就很难与周围进行顺畅清楚的交流，特别是在处理人际或情绪问题方面。</a:t>
            </a:r>
          </a:p>
        </p:txBody>
      </p:sp>
    </p:spTree>
    <p:extLst>
      <p:ext uri="{BB962C8B-B14F-4D97-AF65-F5344CB8AC3E}">
        <p14:creationId xmlns:p14="http://schemas.microsoft.com/office/powerpoint/2010/main" val="1616416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43F38-8EA9-4E15-B0EA-3A430911C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61BA6-07E8-493E-98BD-6E0F806A4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所以，自我觉察是自我认识的第一步，自我觉察的目标就是要让我们更好认识自己，了解自己的感觉感受，让我们与我们的身体感受重新建立起直接明了的联结。活在当下，觉察我们身体里发生的事，这是我们更为准确看待事物的一部分，是我们更有效率地生活的基石。</a:t>
            </a:r>
          </a:p>
        </p:txBody>
      </p:sp>
    </p:spTree>
    <p:extLst>
      <p:ext uri="{BB962C8B-B14F-4D97-AF65-F5344CB8AC3E}">
        <p14:creationId xmlns:p14="http://schemas.microsoft.com/office/powerpoint/2010/main" val="3153046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329FD-37A0-419C-BF72-A1A9DB84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自我觉察的方向：</a:t>
            </a:r>
            <a:r>
              <a:rPr lang="en-US" altLang="zh-CN" dirty="0"/>
              <a:t>[</a:t>
            </a:r>
            <a:r>
              <a:rPr lang="zh-CN" altLang="en-US" dirty="0"/>
              <a:t>成为你自己</a:t>
            </a:r>
            <a:r>
              <a:rPr lang="en-US" altLang="zh-CN" dirty="0"/>
              <a:t>]</a:t>
            </a:r>
            <a:r>
              <a:rPr lang="zh-CN" altLang="en-US" dirty="0"/>
              <a:t>的特质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1B49B8-D1BB-41B3-BBA2-758F79011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1 </a:t>
            </a:r>
            <a:r>
              <a:rPr lang="zh-CN" altLang="en-US" dirty="0"/>
              <a:t>对经验、感受较为开放，不排拒、不曲解，防卫性降低。个体比以前能更丰富地感受到内心复杂微妙的活动，更具敏感性，对目前存在于周围的事物更能知觉，而不只是以别人的看或自己从前的看法来看待事物。</a:t>
            </a:r>
          </a:p>
        </p:txBody>
      </p:sp>
    </p:spTree>
    <p:extLst>
      <p:ext uri="{BB962C8B-B14F-4D97-AF65-F5344CB8AC3E}">
        <p14:creationId xmlns:p14="http://schemas.microsoft.com/office/powerpoint/2010/main" val="2144014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0754F-6CC3-45D1-913A-AB6CFC37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4ABBDF-7374-425D-AD24-BF9471B41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自我结构能与其经验相协调，能够不断同化新经验。个体愿意抛掉面具，愿意以真自我面地自己与他人。少了</a:t>
            </a:r>
            <a:r>
              <a:rPr lang="en-US" altLang="zh-CN" dirty="0"/>
              <a:t>[</a:t>
            </a:r>
            <a:r>
              <a:rPr lang="zh-CN" altLang="en-US" dirty="0"/>
              <a:t>应该</a:t>
            </a:r>
            <a:r>
              <a:rPr lang="en-US" altLang="zh-CN" dirty="0"/>
              <a:t>]</a:t>
            </a:r>
            <a:r>
              <a:rPr lang="zh-CN" altLang="en-US" dirty="0"/>
              <a:t>、</a:t>
            </a:r>
            <a:r>
              <a:rPr lang="en-US" altLang="zh-CN" dirty="0"/>
              <a:t>[</a:t>
            </a:r>
            <a:r>
              <a:rPr lang="zh-CN" altLang="en-US" dirty="0"/>
              <a:t>必须</a:t>
            </a:r>
            <a:r>
              <a:rPr lang="en-US" altLang="zh-CN" dirty="0"/>
              <a:t>]</a:t>
            </a:r>
            <a:r>
              <a:rPr lang="zh-CN" altLang="en-US" dirty="0"/>
              <a:t>，多了弹性；因此，内部经验较不具威胁性，内部的声音易被听见，成为自己的一部分，个体较愿意生活在体验之中。</a:t>
            </a:r>
          </a:p>
        </p:txBody>
      </p:sp>
    </p:spTree>
    <p:extLst>
      <p:ext uri="{BB962C8B-B14F-4D97-AF65-F5344CB8AC3E}">
        <p14:creationId xmlns:p14="http://schemas.microsoft.com/office/powerpoint/2010/main" val="24583783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847B4-DF3E-4E63-8E68-EA05BD20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F7616C-0863-43F1-B8F2-BA47A9D11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评价点由外而变内。个体较能用自己的心、自己的想法去看事物，评价标准由己而出，不再寻求他人的肯定，不再依赖他人为自己选择或决定。自己可以活出自己，对自己负责，真诚地对待自己。</a:t>
            </a:r>
            <a:endParaRPr lang="en-US" altLang="zh-CN" dirty="0"/>
          </a:p>
          <a:p>
            <a:r>
              <a:rPr lang="en-US" altLang="zh-CN" dirty="0"/>
              <a:t>4 </a:t>
            </a:r>
            <a:r>
              <a:rPr lang="zh-CN" altLang="en-US" dirty="0"/>
              <a:t>愈来愈能信任自己自发的反应并能自己做抉择。发现自己的可靠性，找回对自己的信任，欣赏自己一切的自发反应。此时，良心不再是责罚自己的监察官，而能与个体的感受和睦相处，能欣赏、喜欢、信任个体。</a:t>
            </a:r>
          </a:p>
        </p:txBody>
      </p:sp>
    </p:spTree>
    <p:extLst>
      <p:ext uri="{BB962C8B-B14F-4D97-AF65-F5344CB8AC3E}">
        <p14:creationId xmlns:p14="http://schemas.microsoft.com/office/powerpoint/2010/main" val="3737942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A1DE6-8314-433A-9C40-39203157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5EA902-D86F-44C0-B479-AFB420D4A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愿意成为一个变化的过程，而不是追求达到一种完满、理想、固定不变的状况。不再是追求“最高成就”、“要和大家相处和睦”、“爱情美满”等最完美、固定不变的目标。</a:t>
            </a:r>
          </a:p>
        </p:txBody>
      </p:sp>
    </p:spTree>
    <p:extLst>
      <p:ext uri="{BB962C8B-B14F-4D97-AF65-F5344CB8AC3E}">
        <p14:creationId xmlns:p14="http://schemas.microsoft.com/office/powerpoint/2010/main" val="16955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797A9-AC98-406A-98A0-B1986EE86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981BE4-1687-4B26-BC6C-0FAAA2890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个体能体会、接受生命像流水，是不断变化的过程，个体愿意体验这种此时此刻，正进行中的流动与变化，承认生命的意义存在这流动过程之中，而不是为一个“目的地”而生活。</a:t>
            </a:r>
            <a:endParaRPr lang="en-US" altLang="zh-CN" dirty="0"/>
          </a:p>
          <a:p>
            <a:r>
              <a:rPr lang="zh-CN" altLang="en-US" dirty="0"/>
              <a:t>不会</a:t>
            </a:r>
            <a:r>
              <a:rPr lang="zh-CN" altLang="en-US"/>
              <a:t>僵化的去寻求</a:t>
            </a:r>
            <a:r>
              <a:rPr lang="zh-CN" altLang="en-US" dirty="0"/>
              <a:t>一定标准的“最完美的结果”，个体了解生命是流动、变化的历程。</a:t>
            </a:r>
          </a:p>
        </p:txBody>
      </p:sp>
    </p:spTree>
    <p:extLst>
      <p:ext uri="{BB962C8B-B14F-4D97-AF65-F5344CB8AC3E}">
        <p14:creationId xmlns:p14="http://schemas.microsoft.com/office/powerpoint/2010/main" val="272715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3196E-8529-4275-A2D9-D2AD8C9E9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感觉词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72148-B889-418E-94CE-BFB2C6B67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大家要学会尽可能回归自己最初的身体感受，并且合适的言语表达出来。因为这样做会让你更贴近自身，会让你更容易与他人交流，并得到别人的理解和接纳。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C76B1F07-66D2-4760-994E-5AC6FD997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564131"/>
              </p:ext>
            </p:extLst>
          </p:nvPr>
        </p:nvGraphicFramePr>
        <p:xfrm>
          <a:off x="683568" y="3284984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423957836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1478053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9013766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016251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08995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732088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紧张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羞愧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沮丧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害怕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嫉妒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骄傲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62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高兴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急迫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兴奋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迷惑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开心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厌倦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153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自信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劳累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受挫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恶心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狂喜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603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失望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快乐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伤感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恐慌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喜悦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信任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63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痛恨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焦躁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惊恐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生气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恐惧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愉快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69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伤心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内疚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愤恨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烦扰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沮丧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消沉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668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怀疑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谨慎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震惊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尴尬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脆弱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犹豫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851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599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D8F30-5D81-42D2-B283-40249E2C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有效的观念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F95655-912E-462A-8C63-5E655236D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我们都是透过有色过滤镜来观察生活</a:t>
            </a:r>
            <a:endParaRPr lang="en-US" altLang="zh-CN" dirty="0"/>
          </a:p>
          <a:p>
            <a:r>
              <a:rPr lang="zh-CN" altLang="en-US" dirty="0"/>
              <a:t>我们眼中的一切包含了我个人对它的理解和认识。</a:t>
            </a:r>
            <a:endParaRPr lang="en-US" altLang="zh-CN" dirty="0"/>
          </a:p>
          <a:p>
            <a:r>
              <a:rPr lang="zh-CN" altLang="en-US" dirty="0"/>
              <a:t>适用于我的并不一定适用于其他人</a:t>
            </a:r>
            <a:endParaRPr lang="en-US" altLang="zh-CN" dirty="0"/>
          </a:p>
          <a:p>
            <a:r>
              <a:rPr lang="zh-CN" altLang="en-US" dirty="0"/>
              <a:t>改变我们对他人的看法要比改变他人看法更容易</a:t>
            </a:r>
            <a:endParaRPr lang="en-US" altLang="zh-CN" dirty="0"/>
          </a:p>
          <a:p>
            <a:r>
              <a:rPr lang="zh-CN" altLang="en-US" dirty="0"/>
              <a:t>跳出自我的小世界，可以更好地观察和认识自己</a:t>
            </a:r>
            <a:endParaRPr lang="en-US" altLang="zh-CN" dirty="0"/>
          </a:p>
          <a:p>
            <a:r>
              <a:rPr lang="zh-CN" altLang="en-US" dirty="0"/>
              <a:t>观察而非评价，体验而非占有</a:t>
            </a:r>
          </a:p>
        </p:txBody>
      </p:sp>
    </p:spTree>
    <p:extLst>
      <p:ext uri="{BB962C8B-B14F-4D97-AF65-F5344CB8AC3E}">
        <p14:creationId xmlns:p14="http://schemas.microsoft.com/office/powerpoint/2010/main" val="18567392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b="1" dirty="0"/>
            </a:br>
            <a:r>
              <a:rPr lang="en-US" altLang="zh-CN" dirty="0"/>
              <a:t>01  </a:t>
            </a:r>
            <a:r>
              <a:rPr lang="zh-CN" altLang="en-US" dirty="0"/>
              <a:t>认识自我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dirty="0"/>
          </a:p>
          <a:p>
            <a:r>
              <a:rPr lang="zh-CN" altLang="en-US" dirty="0"/>
              <a:t>活动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分组：</a:t>
            </a:r>
            <a:endParaRPr lang="en-US" altLang="zh-CN" dirty="0"/>
          </a:p>
          <a:p>
            <a:r>
              <a:rPr lang="zh-CN" altLang="en-US" dirty="0"/>
              <a:t>自我介绍（名片）：名字、性格、角色、座右铭</a:t>
            </a:r>
            <a:endParaRPr lang="en-US" altLang="zh-CN" dirty="0"/>
          </a:p>
          <a:p>
            <a:endParaRPr lang="en-US" altLang="zh-CN" dirty="0"/>
          </a:p>
          <a:p>
            <a:pPr algn="ctr"/>
            <a:r>
              <a:rPr lang="zh-CN" altLang="en-US" dirty="0"/>
              <a:t>三</a:t>
            </a:r>
            <a:r>
              <a:rPr lang="zh-CN" altLang="zh-CN" dirty="0"/>
              <a:t>个特质（个性）</a:t>
            </a: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 </a:t>
            </a:r>
            <a:r>
              <a:rPr lang="zh-CN" altLang="zh-CN" dirty="0"/>
              <a:t>三个头衔名字（希望大家如何称呼你）三个角色</a:t>
            </a:r>
          </a:p>
          <a:p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pPr algn="ctr"/>
            <a:r>
              <a:rPr lang="zh-CN" altLang="zh-CN" dirty="0"/>
              <a:t>人生座右铭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13047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4000" dirty="0"/>
              <a:t>活动</a:t>
            </a:r>
            <a:r>
              <a:rPr lang="en-US" altLang="zh-CN" sz="4000" dirty="0"/>
              <a:t>2</a:t>
            </a:r>
            <a:r>
              <a:rPr lang="zh-CN" altLang="zh-CN" sz="4000" dirty="0"/>
              <a:t>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400" dirty="0"/>
              <a:t>轻音乐背景下，想想半年来，三个月以来，最近的生活，脑海中浮现出来的画面有什么？在硬卡纸，用彩色的蜡笔画出来。</a:t>
            </a:r>
          </a:p>
          <a:p>
            <a:r>
              <a:rPr lang="zh-CN" altLang="zh-CN" sz="2400" dirty="0"/>
              <a:t>带领大家分享。</a:t>
            </a:r>
            <a:endParaRPr lang="en-US" altLang="zh-CN" sz="2400" dirty="0"/>
          </a:p>
          <a:p>
            <a:r>
              <a:rPr lang="zh-CN" altLang="zh-CN" sz="2400" dirty="0"/>
              <a:t>自我生活有关的真正在意的是什么？</a:t>
            </a:r>
            <a:endParaRPr lang="en-US" altLang="zh-CN" sz="2400" dirty="0"/>
          </a:p>
          <a:p>
            <a:r>
              <a:rPr lang="zh-CN" altLang="zh-CN" sz="2400" dirty="0"/>
              <a:t>自我暴露和人际反馈。</a:t>
            </a:r>
          </a:p>
          <a:p>
            <a:endParaRPr lang="zh-CN" altLang="en-US" sz="24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84659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心理健康自我鉴定表</a:t>
            </a:r>
            <a:r>
              <a:rPr lang="en-US" altLang="zh-CN" dirty="0"/>
              <a:t>(-)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72067" y="2204864"/>
            <a:ext cx="7408333" cy="392129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 </a:t>
            </a:r>
            <a:r>
              <a:rPr lang="zh-CN" altLang="en-US" dirty="0"/>
              <a:t>心理健康良好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01</a:t>
            </a:r>
            <a:r>
              <a:rPr lang="zh-CN" altLang="en-US" dirty="0"/>
              <a:t>接纳自已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02</a:t>
            </a:r>
            <a:r>
              <a:rPr lang="zh-CN" altLang="en-US" dirty="0"/>
              <a:t>喜欢和尊重自己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03</a:t>
            </a:r>
            <a:r>
              <a:rPr lang="zh-CN" altLang="en-US" dirty="0"/>
              <a:t>自信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04</a:t>
            </a:r>
            <a:r>
              <a:rPr lang="zh-CN" altLang="en-US" dirty="0"/>
              <a:t>有安全感和自我肯定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05</a:t>
            </a:r>
            <a:r>
              <a:rPr lang="zh-CN" altLang="en-US" dirty="0"/>
              <a:t>真诚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06</a:t>
            </a:r>
            <a:r>
              <a:rPr lang="zh-CN" altLang="en-US" dirty="0"/>
              <a:t>乐观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07</a:t>
            </a:r>
            <a:r>
              <a:rPr lang="zh-CN" altLang="en-US" dirty="0"/>
              <a:t>清楚个人能力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08</a:t>
            </a:r>
            <a:r>
              <a:rPr lang="zh-CN" altLang="en-US" dirty="0"/>
              <a:t>对自己的成就感到自豪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09</a:t>
            </a:r>
            <a:r>
              <a:rPr lang="zh-CN" altLang="en-US" dirty="0"/>
              <a:t>能自我控制和自律</a:t>
            </a:r>
          </a:p>
        </p:txBody>
      </p:sp>
    </p:spTree>
    <p:extLst>
      <p:ext uri="{BB962C8B-B14F-4D97-AF65-F5344CB8AC3E}">
        <p14:creationId xmlns:p14="http://schemas.microsoft.com/office/powerpoint/2010/main" val="21890393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62219-9253-4F9F-A30A-779BB8114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心理健康不良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94376-935A-420A-8FCB-D9C6D7BA0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否定自己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不喜欢、不尊重和讨厌自己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自我怀疑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感到不安全和无法自我肯定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虚假、不诚实</a:t>
            </a:r>
            <a:endParaRPr lang="en-US" altLang="zh-CN" dirty="0"/>
          </a:p>
          <a:p>
            <a:r>
              <a:rPr lang="en-US" altLang="zh-CN" dirty="0"/>
              <a:t>6</a:t>
            </a:r>
            <a:r>
              <a:rPr lang="zh-CN" altLang="en-US" dirty="0"/>
              <a:t>悲观</a:t>
            </a:r>
            <a:endParaRPr lang="en-US" altLang="zh-CN" dirty="0"/>
          </a:p>
          <a:p>
            <a:r>
              <a:rPr lang="en-US" altLang="zh-CN" dirty="0"/>
              <a:t>7</a:t>
            </a:r>
            <a:r>
              <a:rPr lang="zh-CN" altLang="en-US" dirty="0"/>
              <a:t>不清楚个人能力</a:t>
            </a:r>
            <a:endParaRPr lang="en-US" altLang="zh-CN" dirty="0"/>
          </a:p>
          <a:p>
            <a:r>
              <a:rPr lang="en-US" altLang="zh-CN" dirty="0"/>
              <a:t>8</a:t>
            </a:r>
            <a:r>
              <a:rPr lang="zh-CN" altLang="en-US" dirty="0"/>
              <a:t>害怕成功、否定或抗拒成就</a:t>
            </a:r>
            <a:endParaRPr lang="en-US" altLang="zh-CN" dirty="0"/>
          </a:p>
          <a:p>
            <a:r>
              <a:rPr lang="en-US" altLang="zh-CN" dirty="0"/>
              <a:t>9</a:t>
            </a:r>
            <a:r>
              <a:rPr lang="zh-CN" altLang="en-US" dirty="0"/>
              <a:t>情绪化和易失控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38853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心理健康自我鉴定表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72067" y="1988840"/>
            <a:ext cx="7408333" cy="4137323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rgbClr val="0000CC"/>
                </a:solidFill>
              </a:rPr>
              <a:t>心理健康良好</a:t>
            </a:r>
          </a:p>
          <a:p>
            <a:pPr>
              <a:buNone/>
            </a:pPr>
            <a:r>
              <a:rPr lang="en-US" altLang="zh-CN" dirty="0"/>
              <a:t>10  </a:t>
            </a:r>
            <a:r>
              <a:rPr lang="zh-CN" altLang="en-US" dirty="0"/>
              <a:t>接纳个人限制</a:t>
            </a:r>
            <a:r>
              <a:rPr lang="en-US" altLang="zh-CN" dirty="0"/>
              <a:t>,  </a:t>
            </a:r>
            <a:r>
              <a:rPr lang="zh-CN" altLang="en-US" dirty="0"/>
              <a:t>不会因此感到不安、羞耻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和有罪咎感</a:t>
            </a:r>
          </a:p>
          <a:p>
            <a:pPr>
              <a:buNone/>
            </a:pPr>
            <a:r>
              <a:rPr lang="en-US" altLang="zh-CN" dirty="0"/>
              <a:t>11</a:t>
            </a:r>
            <a:r>
              <a:rPr lang="zh-CN" altLang="en-US" dirty="0"/>
              <a:t>主动和投入                              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12</a:t>
            </a:r>
            <a:r>
              <a:rPr lang="zh-CN" altLang="en-US" dirty="0"/>
              <a:t>问题中和他人中心</a:t>
            </a:r>
          </a:p>
          <a:p>
            <a:pPr>
              <a:buNone/>
            </a:pPr>
            <a:r>
              <a:rPr lang="en-US" altLang="zh-CN" dirty="0"/>
              <a:t>13</a:t>
            </a:r>
            <a:r>
              <a:rPr lang="zh-CN" altLang="en-US" dirty="0"/>
              <a:t>有同感</a:t>
            </a:r>
          </a:p>
          <a:p>
            <a:pPr>
              <a:buNone/>
            </a:pPr>
            <a:r>
              <a:rPr lang="en-US" altLang="zh-CN" dirty="0"/>
              <a:t>14</a:t>
            </a:r>
            <a:r>
              <a:rPr lang="zh-CN" altLang="en-US" dirty="0"/>
              <a:t>有信心</a:t>
            </a:r>
            <a:r>
              <a:rPr lang="en-US" altLang="zh-CN" dirty="0"/>
              <a:t>,</a:t>
            </a:r>
            <a:r>
              <a:rPr lang="zh-CN" altLang="en-US" dirty="0"/>
              <a:t>开放自己</a:t>
            </a:r>
          </a:p>
          <a:p>
            <a:pPr>
              <a:buNone/>
            </a:pPr>
            <a:r>
              <a:rPr lang="en-US" altLang="zh-CN" dirty="0"/>
              <a:t>15</a:t>
            </a:r>
            <a:r>
              <a:rPr lang="zh-CN" altLang="en-US" dirty="0"/>
              <a:t>有勇气表达自己</a:t>
            </a:r>
          </a:p>
          <a:p>
            <a:pPr>
              <a:buNone/>
            </a:pPr>
            <a:r>
              <a:rPr lang="en-US" altLang="zh-CN" dirty="0"/>
              <a:t>16</a:t>
            </a:r>
            <a:r>
              <a:rPr lang="zh-CN" altLang="en-US" dirty="0"/>
              <a:t>真情流露、自然和主动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28062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DED83F-5BA0-4577-A35F-8EA3D0E74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00CC"/>
                </a:solidFill>
              </a:rPr>
              <a:t>心理健康不良</a:t>
            </a:r>
            <a:br>
              <a:rPr lang="en-US" altLang="zh-CN" dirty="0">
                <a:solidFill>
                  <a:srgbClr val="0000CC"/>
                </a:solidFill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4A77A7-C2EF-432E-B82F-9713F546C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10</a:t>
            </a:r>
            <a:r>
              <a:rPr lang="zh-CN" altLang="en-US" dirty="0"/>
              <a:t>害怕被批评和被击败 </a:t>
            </a:r>
            <a:endParaRPr lang="en-US" altLang="zh-CN" dirty="0"/>
          </a:p>
          <a:p>
            <a:r>
              <a:rPr lang="en-US" altLang="zh-CN" dirty="0"/>
              <a:t>11</a:t>
            </a:r>
            <a:r>
              <a:rPr lang="zh-CN" altLang="en-US" dirty="0"/>
              <a:t>被动、退缩、对别人和自己疏离</a:t>
            </a:r>
            <a:endParaRPr lang="en-US" altLang="zh-CN" dirty="0"/>
          </a:p>
          <a:p>
            <a:r>
              <a:rPr lang="en-US" altLang="zh-CN" dirty="0"/>
              <a:t>12</a:t>
            </a:r>
            <a:r>
              <a:rPr lang="zh-CN" altLang="en-US" dirty="0"/>
              <a:t>自我中心</a:t>
            </a:r>
            <a:endParaRPr lang="en-US" altLang="zh-CN" dirty="0"/>
          </a:p>
          <a:p>
            <a:r>
              <a:rPr lang="en-US" altLang="zh-CN" dirty="0"/>
              <a:t>13</a:t>
            </a:r>
            <a:r>
              <a:rPr lang="zh-CN" altLang="en-US" dirty="0"/>
              <a:t>冷漠</a:t>
            </a:r>
            <a:endParaRPr lang="en-US" altLang="zh-CN" dirty="0"/>
          </a:p>
          <a:p>
            <a:r>
              <a:rPr lang="en-US" altLang="zh-CN" dirty="0"/>
              <a:t>14</a:t>
            </a:r>
            <a:r>
              <a:rPr lang="zh-CN" altLang="en-US" dirty="0"/>
              <a:t>缺乏自信、自卑、封闭自己</a:t>
            </a:r>
            <a:endParaRPr lang="en-US" altLang="zh-CN" dirty="0"/>
          </a:p>
          <a:p>
            <a:r>
              <a:rPr lang="en-US" altLang="zh-CN" dirty="0"/>
              <a:t>15</a:t>
            </a:r>
            <a:r>
              <a:rPr lang="zh-CN" altLang="en-US" dirty="0"/>
              <a:t>羞怯、不敢表达自己</a:t>
            </a:r>
            <a:endParaRPr lang="en-US" altLang="zh-CN" dirty="0"/>
          </a:p>
          <a:p>
            <a:r>
              <a:rPr lang="en-US" altLang="zh-CN" dirty="0"/>
              <a:t>16</a:t>
            </a:r>
            <a:r>
              <a:rPr lang="zh-CN" altLang="en-US" dirty="0"/>
              <a:t>情绪上自我压抑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22455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心理健康自我鉴定表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72067" y="1772816"/>
            <a:ext cx="7408333" cy="435334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心理健康良好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17</a:t>
            </a:r>
            <a:r>
              <a:rPr lang="zh-CN" altLang="en-US" dirty="0"/>
              <a:t>仁爱良善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18</a:t>
            </a:r>
            <a:r>
              <a:rPr lang="zh-CN" altLang="en-US" dirty="0"/>
              <a:t>关心爱护人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19</a:t>
            </a:r>
            <a:r>
              <a:rPr lang="zh-CN" altLang="en-US" dirty="0"/>
              <a:t>具弹性、机灵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20</a:t>
            </a:r>
            <a:r>
              <a:rPr lang="zh-CN" altLang="en-US" dirty="0"/>
              <a:t>低自我防卫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21</a:t>
            </a:r>
            <a:r>
              <a:rPr lang="zh-CN" altLang="en-US" dirty="0"/>
              <a:t>对自己有正确的期望        </a:t>
            </a:r>
            <a:endParaRPr lang="en-US" altLang="zh-CN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 </a:t>
            </a:r>
            <a:r>
              <a:rPr lang="en-US" altLang="zh-CN" dirty="0"/>
              <a:t>22</a:t>
            </a:r>
            <a:r>
              <a:rPr lang="zh-CN" altLang="en-US" dirty="0"/>
              <a:t>能接纳别人的回馈和愿意学习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23</a:t>
            </a:r>
            <a:r>
              <a:rPr lang="zh-CN" altLang="en-US" dirty="0"/>
              <a:t>乐意面对促进成长的新经验</a:t>
            </a:r>
          </a:p>
          <a:p>
            <a:pPr>
              <a:lnSpc>
                <a:spcPct val="9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33181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8593B-1BA7-4BA4-B80D-11A6696B0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心理健康自我鉴定表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3E76B3-6547-4507-A2D4-88CCAD84A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心理健康不良</a:t>
            </a:r>
            <a:endParaRPr lang="en-US" altLang="zh-CN" dirty="0"/>
          </a:p>
          <a:p>
            <a:r>
              <a:rPr lang="en-US" altLang="zh-CN" dirty="0"/>
              <a:t>17</a:t>
            </a:r>
            <a:r>
              <a:rPr lang="zh-CN" altLang="en-US" dirty="0"/>
              <a:t>攻击性和具有敌意</a:t>
            </a:r>
            <a:endParaRPr lang="en-US" altLang="zh-CN" dirty="0"/>
          </a:p>
          <a:p>
            <a:r>
              <a:rPr lang="en-US" altLang="zh-CN" dirty="0"/>
              <a:t>18</a:t>
            </a:r>
            <a:r>
              <a:rPr lang="zh-CN" altLang="en-US" dirty="0"/>
              <a:t>对人漠不关心</a:t>
            </a:r>
            <a:endParaRPr lang="en-US" altLang="zh-CN" dirty="0"/>
          </a:p>
          <a:p>
            <a:r>
              <a:rPr lang="en-US" altLang="zh-CN" dirty="0"/>
              <a:t>19</a:t>
            </a:r>
            <a:r>
              <a:rPr lang="zh-CN" altLang="en-US" dirty="0"/>
              <a:t>僵硬、一成不变</a:t>
            </a:r>
            <a:endParaRPr lang="en-US" altLang="zh-CN" dirty="0"/>
          </a:p>
          <a:p>
            <a:r>
              <a:rPr lang="en-US" altLang="zh-CN" dirty="0"/>
              <a:t>20</a:t>
            </a:r>
            <a:r>
              <a:rPr lang="zh-CN" altLang="en-US" dirty="0"/>
              <a:t>高自我防卫</a:t>
            </a:r>
            <a:endParaRPr lang="en-US" altLang="zh-CN" dirty="0"/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21</a:t>
            </a:r>
            <a:r>
              <a:rPr lang="zh-CN" altLang="en-US" dirty="0"/>
              <a:t>对自己的期望不切实际</a:t>
            </a:r>
            <a:r>
              <a:rPr lang="en-US" altLang="zh-CN" dirty="0"/>
              <a:t>                                     </a:t>
            </a:r>
            <a:r>
              <a:rPr lang="zh-CN" altLang="en-US" dirty="0"/>
              <a:t>低劣甚至没有期望</a:t>
            </a:r>
            <a:endParaRPr lang="en-US" altLang="zh-CN" dirty="0"/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22</a:t>
            </a:r>
            <a:r>
              <a:rPr lang="zh-CN" altLang="en-US" dirty="0"/>
              <a:t>对个问题钻牛角尖和不接纳他人的回馈</a:t>
            </a:r>
            <a:endParaRPr lang="en-US" altLang="zh-CN" dirty="0"/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23</a:t>
            </a:r>
            <a:r>
              <a:rPr lang="zh-CN" altLang="en-US" dirty="0"/>
              <a:t>抗拒新经验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    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53820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心理健康自我鉴定表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67833" y="1628800"/>
            <a:ext cx="7408333" cy="4497363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rgbClr val="0000CC"/>
                </a:solidFill>
              </a:rPr>
              <a:t>心理健康良好</a:t>
            </a:r>
          </a:p>
          <a:p>
            <a:pPr>
              <a:buNone/>
            </a:pPr>
            <a:r>
              <a:rPr lang="en-US" altLang="zh-CN" dirty="0"/>
              <a:t>24</a:t>
            </a:r>
            <a:r>
              <a:rPr lang="zh-CN" altLang="en-US" dirty="0"/>
              <a:t>愿意冒险和享受挑战</a:t>
            </a:r>
          </a:p>
          <a:p>
            <a:pPr>
              <a:buNone/>
            </a:pPr>
            <a:r>
              <a:rPr lang="en-US" altLang="zh-CN" dirty="0"/>
              <a:t>25</a:t>
            </a:r>
            <a:r>
              <a:rPr lang="zh-CN" altLang="en-US" dirty="0"/>
              <a:t>积极和从容自</a:t>
            </a:r>
          </a:p>
          <a:p>
            <a:pPr>
              <a:buNone/>
            </a:pPr>
            <a:r>
              <a:rPr lang="en-US" altLang="zh-CN" dirty="0"/>
              <a:t>26</a:t>
            </a:r>
            <a:r>
              <a:rPr lang="zh-CN" altLang="en-US" dirty="0"/>
              <a:t>愿意改变自己</a:t>
            </a:r>
          </a:p>
          <a:p>
            <a:pPr>
              <a:buNone/>
            </a:pPr>
            <a:r>
              <a:rPr lang="en-US" altLang="zh-CN" dirty="0"/>
              <a:t>27</a:t>
            </a:r>
            <a:r>
              <a:rPr lang="zh-CN" altLang="en-US" dirty="0"/>
              <a:t>表现自己的能力</a:t>
            </a:r>
            <a:r>
              <a:rPr lang="en-US" altLang="zh-CN" dirty="0"/>
              <a:t>,</a:t>
            </a:r>
            <a:r>
              <a:rPr lang="zh-CN" altLang="en-US" dirty="0"/>
              <a:t>同时承认</a:t>
            </a:r>
          </a:p>
          <a:p>
            <a:pPr>
              <a:buNone/>
            </a:pPr>
            <a:r>
              <a:rPr lang="zh-CN" altLang="en-US" dirty="0"/>
              <a:t>   个人的限制和能在失败中</a:t>
            </a:r>
          </a:p>
          <a:p>
            <a:pPr>
              <a:buNone/>
            </a:pPr>
            <a:r>
              <a:rPr lang="zh-CN" altLang="en-US" dirty="0"/>
              <a:t>    学习</a:t>
            </a:r>
          </a:p>
          <a:p>
            <a:pPr>
              <a:buNone/>
            </a:pPr>
            <a:r>
              <a:rPr lang="en-US" altLang="zh-CN" dirty="0"/>
              <a:t>28</a:t>
            </a:r>
            <a:r>
              <a:rPr lang="zh-CN" altLang="en-US" dirty="0"/>
              <a:t>对自己行为负责</a:t>
            </a:r>
          </a:p>
          <a:p>
            <a:pPr>
              <a:buNone/>
            </a:pPr>
            <a:r>
              <a:rPr lang="en-US" altLang="zh-CN" dirty="0"/>
              <a:t>29</a:t>
            </a:r>
            <a:r>
              <a:rPr lang="zh-CN" altLang="en-US" dirty="0"/>
              <a:t>能设定适当目标</a:t>
            </a:r>
          </a:p>
          <a:p>
            <a:pPr>
              <a:buNone/>
            </a:pPr>
            <a:r>
              <a:rPr lang="en-US" altLang="zh-CN" dirty="0"/>
              <a:t>30</a:t>
            </a:r>
            <a:r>
              <a:rPr lang="zh-CN" altLang="en-US" dirty="0"/>
              <a:t>独立自主                            依赖他人              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30028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4D4DA-A627-4B7C-8FE4-45CEB984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心理健康自我鉴定表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FF0288-80B6-44A3-B48F-962B3B230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</a:rPr>
              <a:t>心理健康不良</a:t>
            </a:r>
            <a:endParaRPr lang="en-US" altLang="zh-CN" dirty="0">
              <a:solidFill>
                <a:srgbClr val="0000CC"/>
              </a:solidFill>
            </a:endParaRPr>
          </a:p>
          <a:p>
            <a:r>
              <a:rPr lang="en-US" altLang="zh-CN" dirty="0"/>
              <a:t>24 </a:t>
            </a:r>
            <a:r>
              <a:rPr lang="zh-CN" altLang="en-US" dirty="0"/>
              <a:t>不愿意冒险和害怕失败</a:t>
            </a:r>
            <a:endParaRPr lang="en-US" altLang="zh-CN" dirty="0"/>
          </a:p>
          <a:p>
            <a:r>
              <a:rPr lang="en-US" altLang="zh-CN" dirty="0"/>
              <a:t>25</a:t>
            </a:r>
            <a:r>
              <a:rPr lang="zh-CN" altLang="en-US" dirty="0"/>
              <a:t>不愿意改变自己</a:t>
            </a:r>
            <a:endParaRPr lang="en-US" altLang="zh-CN" dirty="0"/>
          </a:p>
          <a:p>
            <a:r>
              <a:rPr lang="en-US" altLang="zh-CN" dirty="0"/>
              <a:t>26</a:t>
            </a:r>
            <a:r>
              <a:rPr lang="zh-CN" altLang="en-US" dirty="0"/>
              <a:t>消极和紧张</a:t>
            </a:r>
            <a:endParaRPr lang="en-US" altLang="zh-CN" dirty="0"/>
          </a:p>
          <a:p>
            <a:r>
              <a:rPr lang="en-US" altLang="zh-CN" dirty="0"/>
              <a:t>27</a:t>
            </a:r>
            <a:r>
              <a:rPr lang="zh-CN" altLang="en-US" dirty="0"/>
              <a:t>表现自己很脆弱和易受伤害</a:t>
            </a:r>
            <a:endParaRPr lang="en-US" altLang="zh-CN" dirty="0"/>
          </a:p>
          <a:p>
            <a:r>
              <a:rPr lang="en-US" altLang="zh-CN" dirty="0"/>
              <a:t>28</a:t>
            </a:r>
            <a:r>
              <a:rPr lang="zh-CN" altLang="en-US" dirty="0"/>
              <a:t>面对失败时亦欠理性</a:t>
            </a:r>
            <a:endParaRPr lang="en-US" altLang="zh-CN" dirty="0"/>
          </a:p>
          <a:p>
            <a:r>
              <a:rPr lang="en-US" altLang="zh-CN" dirty="0"/>
              <a:t>29</a:t>
            </a:r>
            <a:r>
              <a:rPr lang="zh-CN" altLang="en-US" dirty="0"/>
              <a:t>逃避责任、以无助和自责为借口</a:t>
            </a:r>
            <a:endParaRPr lang="en-US" altLang="zh-CN" dirty="0"/>
          </a:p>
          <a:p>
            <a:r>
              <a:rPr lang="en-US" altLang="zh-CN" dirty="0"/>
              <a:t>30</a:t>
            </a:r>
            <a:r>
              <a:rPr lang="zh-CN" altLang="en-US" dirty="0"/>
              <a:t>没有正确目标，依赖他人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>
              <a:solidFill>
                <a:srgbClr val="0000CC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06832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心理健康自我鉴定表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72067" y="1628800"/>
            <a:ext cx="7876397" cy="449736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zh-CN" altLang="en-US" dirty="0">
                <a:solidFill>
                  <a:srgbClr val="0000CC"/>
                </a:solidFill>
              </a:rPr>
              <a:t>心理健康良好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31</a:t>
            </a:r>
            <a:r>
              <a:rPr lang="zh-CN" altLang="en-US" dirty="0"/>
              <a:t>坚毅 </a:t>
            </a:r>
            <a:endParaRPr lang="en-US" altLang="zh-CN" dirty="0"/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32</a:t>
            </a:r>
            <a:r>
              <a:rPr lang="zh-CN" altLang="en-US" dirty="0"/>
              <a:t>满意自己</a:t>
            </a:r>
            <a:r>
              <a:rPr lang="en-US" altLang="zh-CN" dirty="0"/>
              <a:t>,</a:t>
            </a:r>
            <a:r>
              <a:rPr lang="zh-CN" altLang="en-US" dirty="0"/>
              <a:t>亦享受与他人的亲密关系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33</a:t>
            </a:r>
            <a:r>
              <a:rPr lang="zh-CN" altLang="en-US" dirty="0"/>
              <a:t>相信个人努力影响自己的人生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34</a:t>
            </a:r>
            <a:r>
              <a:rPr lang="zh-CN" altLang="en-US" dirty="0"/>
              <a:t>对生命的看法是”我很不错”和“我能掌握生命”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35</a:t>
            </a:r>
            <a:r>
              <a:rPr lang="zh-CN" altLang="en-US" dirty="0"/>
              <a:t>人生以现在、未来为定向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90614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000D4C-6C06-4319-8107-AB803664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心理健康自我鉴定表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53482-F10B-4A31-BA53-F1768CB31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</a:rPr>
              <a:t>心理健康不良</a:t>
            </a:r>
            <a:endParaRPr lang="en-US" altLang="zh-CN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31</a:t>
            </a:r>
            <a:r>
              <a:rPr lang="zh-CN" altLang="en-US" dirty="0"/>
              <a:t>做事容易半途而废甚至放自己的生命</a:t>
            </a:r>
            <a:endParaRPr lang="en-US" altLang="zh-CN" dirty="0"/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32</a:t>
            </a:r>
            <a:r>
              <a:rPr lang="zh-CN" altLang="en-US" dirty="0"/>
              <a:t>轻视自己和无法享受与他人的关系</a:t>
            </a:r>
            <a:endParaRPr lang="en-US" altLang="zh-CN" dirty="0"/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33</a:t>
            </a:r>
            <a:r>
              <a:rPr lang="zh-CN" altLang="en-US" dirty="0"/>
              <a:t>相信自己一生被环境所控制</a:t>
            </a:r>
            <a:endParaRPr lang="en-US" altLang="zh-CN" dirty="0"/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34</a:t>
            </a:r>
            <a:r>
              <a:rPr lang="zh-CN" altLang="en-US" dirty="0"/>
              <a:t>对生命的看法是”我很差劲”和”无法控制自己的人生”</a:t>
            </a:r>
            <a:endParaRPr lang="en-US" altLang="zh-CN" dirty="0"/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35</a:t>
            </a:r>
            <a:r>
              <a:rPr lang="zh-CN" altLang="en-US" dirty="0"/>
              <a:t>人生关于过往经验</a:t>
            </a:r>
            <a:r>
              <a:rPr lang="en-US" altLang="zh-CN" dirty="0"/>
              <a:t>(</a:t>
            </a:r>
            <a:r>
              <a:rPr lang="zh-CN" altLang="en-US" dirty="0"/>
              <a:t>往往选择负面                             事件</a:t>
            </a:r>
            <a:r>
              <a:rPr lang="en-US" altLang="zh-CN" dirty="0"/>
              <a:t>)</a:t>
            </a:r>
            <a:r>
              <a:rPr lang="zh-CN" altLang="en-US" dirty="0"/>
              <a:t>和未来期望呈恶性循环</a:t>
            </a:r>
          </a:p>
          <a:p>
            <a:pPr>
              <a:lnSpc>
                <a:spcPct val="80000"/>
              </a:lnSpc>
              <a:buNone/>
            </a:pPr>
            <a:endParaRPr lang="en-US" altLang="zh-CN" dirty="0"/>
          </a:p>
          <a:p>
            <a:pPr>
              <a:lnSpc>
                <a:spcPct val="80000"/>
              </a:lnSpc>
              <a:buNone/>
            </a:pPr>
            <a:endParaRPr lang="en-US" altLang="zh-CN" dirty="0"/>
          </a:p>
          <a:p>
            <a:pPr>
              <a:lnSpc>
                <a:spcPct val="80000"/>
              </a:lnSpc>
              <a:buNone/>
            </a:pPr>
            <a:endParaRPr lang="en-US" altLang="zh-CN" dirty="0"/>
          </a:p>
          <a:p>
            <a:pPr>
              <a:lnSpc>
                <a:spcPct val="80000"/>
              </a:lnSpc>
              <a:buNone/>
            </a:pPr>
            <a:endParaRPr lang="en-US" altLang="zh-CN" dirty="0"/>
          </a:p>
          <a:p>
            <a:pPr>
              <a:lnSpc>
                <a:spcPct val="80000"/>
              </a:lnSpc>
              <a:buNone/>
            </a:pPr>
            <a:endParaRPr lang="en-US" altLang="zh-CN" dirty="0"/>
          </a:p>
          <a:p>
            <a:pPr>
              <a:lnSpc>
                <a:spcPct val="80000"/>
              </a:lnSpc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24438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2EF05-C809-4CEB-819B-84F20EFE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03 </a:t>
            </a:r>
            <a:r>
              <a:rPr lang="zh-CN" altLang="en-US" dirty="0"/>
              <a:t>心理异常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6FAE29-F107-4706-AB6E-6964AF10F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心理异常或心理疾病：心理学界没有统一的定义。美国健康与人力服务部这样定义：心理异常或心理疾病是心理健康的负面，指思维、心境和行为的非正常状态，它与痛苦和功能损伤联系。</a:t>
            </a:r>
            <a:endParaRPr lang="en-US" altLang="zh-CN" dirty="0"/>
          </a:p>
          <a:p>
            <a:r>
              <a:rPr lang="en-US" altLang="zh-CN" dirty="0"/>
              <a:t>DSM-IV</a:t>
            </a:r>
            <a:r>
              <a:rPr lang="zh-CN" altLang="en-US" dirty="0"/>
              <a:t>心理异常与统计手册：产生于个体身上或与当前心理压力或无能力联系的或显著增加死亡、痛苦、无能力或自由的危险的，且有临床显著行为和心理症候群或行为方式的状态，为心理异常。</a:t>
            </a:r>
          </a:p>
        </p:txBody>
      </p:sp>
    </p:spTree>
    <p:extLst>
      <p:ext uri="{BB962C8B-B14F-4D97-AF65-F5344CB8AC3E}">
        <p14:creationId xmlns:p14="http://schemas.microsoft.com/office/powerpoint/2010/main" val="34532017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E425D-45E7-4EC2-87BC-1996A42E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心理异常的特性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0207E6-CCA4-41D0-B37A-D5DA59EF6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心理问题是个体性。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个体遇到特殊的压力性事件而导致心理异常。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压力性事件是个体当前不能独立克服的。</a:t>
            </a:r>
            <a:endParaRPr lang="en-US" altLang="zh-CN" dirty="0"/>
          </a:p>
          <a:p>
            <a:r>
              <a:rPr lang="en-US" altLang="zh-CN" dirty="0"/>
              <a:t>4 </a:t>
            </a:r>
            <a:r>
              <a:rPr lang="zh-CN" altLang="en-US" dirty="0"/>
              <a:t>由此产生的心理反应有潜在的严重后果。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个体的社会生活功能丧失。</a:t>
            </a:r>
          </a:p>
        </p:txBody>
      </p:sp>
    </p:spTree>
    <p:extLst>
      <p:ext uri="{BB962C8B-B14F-4D97-AF65-F5344CB8AC3E}">
        <p14:creationId xmlns:p14="http://schemas.microsoft.com/office/powerpoint/2010/main" val="26124526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8372C-8534-4469-8197-EE09DDC15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心理异常时的“心理特征”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05849A-FF7B-40B8-87B3-5CA4639F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痛苦感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心理</a:t>
            </a:r>
            <a:r>
              <a:rPr lang="en-US" altLang="zh-CN" dirty="0"/>
              <a:t>——</a:t>
            </a:r>
            <a:r>
              <a:rPr lang="zh-CN" altLang="en-US" dirty="0"/>
              <a:t>生理机能紊乱</a:t>
            </a:r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我向关注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异常心理固着</a:t>
            </a:r>
          </a:p>
        </p:txBody>
      </p:sp>
    </p:spTree>
    <p:extLst>
      <p:ext uri="{BB962C8B-B14F-4D97-AF65-F5344CB8AC3E}">
        <p14:creationId xmlns:p14="http://schemas.microsoft.com/office/powerpoint/2010/main" val="15401944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01E01-B22E-4FB6-979C-3A097CEC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心理健康标准依据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7F85F-0D8F-4468-B3DC-D12BE97BD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1</a:t>
            </a:r>
            <a:r>
              <a:rPr lang="zh-CN" altLang="en-US" dirty="0"/>
              <a:t>统计学标准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社会学标准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医学标准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实践标准：主观痛苦感与功能丧失</a:t>
            </a:r>
          </a:p>
        </p:txBody>
      </p:sp>
    </p:spTree>
    <p:extLst>
      <p:ext uri="{BB962C8B-B14F-4D97-AF65-F5344CB8AC3E}">
        <p14:creationId xmlns:p14="http://schemas.microsoft.com/office/powerpoint/2010/main" val="35688358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8569D-A958-4DCF-9EF4-289C794A6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讨论题：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3E4F69-974C-47DB-8924-5BF8427F9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心理健康标准依据反思：</a:t>
            </a:r>
            <a:endParaRPr lang="en-US" altLang="zh-CN" sz="3600" dirty="0"/>
          </a:p>
          <a:p>
            <a:r>
              <a:rPr lang="en-US" altLang="zh-CN" sz="3600" dirty="0"/>
              <a:t>1</a:t>
            </a:r>
            <a:r>
              <a:rPr lang="zh-CN" altLang="en-US" sz="3600" dirty="0"/>
              <a:t>常模参照中的问题；</a:t>
            </a:r>
            <a:endParaRPr lang="en-US" altLang="zh-CN" sz="3600" dirty="0"/>
          </a:p>
          <a:p>
            <a:r>
              <a:rPr lang="en-US" altLang="zh-CN" sz="3600" dirty="0"/>
              <a:t>2</a:t>
            </a:r>
            <a:r>
              <a:rPr lang="zh-CN" altLang="en-US" sz="3600" dirty="0"/>
              <a:t>心理健康标准与杰出人物推论</a:t>
            </a:r>
            <a:endParaRPr lang="en-US" altLang="zh-CN" sz="3600" dirty="0"/>
          </a:p>
          <a:p>
            <a:r>
              <a:rPr lang="zh-CN" altLang="en-US" sz="3600" dirty="0"/>
              <a:t>（珍珠本是河蚌病态的结果）</a:t>
            </a:r>
            <a:endParaRPr lang="en-US" altLang="zh-CN" sz="3600" dirty="0"/>
          </a:p>
          <a:p>
            <a:r>
              <a:rPr lang="en-US" altLang="zh-CN" sz="3600" dirty="0"/>
              <a:t>3</a:t>
            </a:r>
            <a:r>
              <a:rPr lang="zh-CN" altLang="en-US" sz="3600" dirty="0"/>
              <a:t>适应与健康发展</a:t>
            </a:r>
            <a:endParaRPr lang="en-US" altLang="zh-CN" sz="3600" dirty="0"/>
          </a:p>
          <a:p>
            <a:r>
              <a:rPr lang="en-US" altLang="zh-CN" sz="3600" dirty="0"/>
              <a:t>4</a:t>
            </a:r>
            <a:r>
              <a:rPr lang="zh-CN" altLang="en-US" sz="3600" dirty="0"/>
              <a:t>心理健康判断中的价值选择</a:t>
            </a:r>
            <a:endParaRPr lang="en-US" altLang="zh-CN" sz="3600" dirty="0"/>
          </a:p>
          <a:p>
            <a:r>
              <a:rPr lang="en-US" altLang="zh-CN" sz="3600" dirty="0"/>
              <a:t>5</a:t>
            </a:r>
            <a:r>
              <a:rPr lang="zh-CN" altLang="en-US" sz="3600" dirty="0"/>
              <a:t>心理健康与社会文化</a:t>
            </a:r>
          </a:p>
        </p:txBody>
      </p:sp>
    </p:spTree>
    <p:extLst>
      <p:ext uri="{BB962C8B-B14F-4D97-AF65-F5344CB8AC3E}">
        <p14:creationId xmlns:p14="http://schemas.microsoft.com/office/powerpoint/2010/main" val="6173092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心理物语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喜欢你的人给了你温暖和勇气。 你喜欢的人让你学会了爱和自持。 你不喜欢的人教会你宽容与尊重。 不喜欢你的人，让你自省与成长。 没有人是无缘无故出现在你的生命里的， 每一个人的出现都有原因，都值得感激。</a:t>
            </a:r>
          </a:p>
        </p:txBody>
      </p:sp>
    </p:spTree>
    <p:extLst>
      <p:ext uri="{BB962C8B-B14F-4D97-AF65-F5344CB8AC3E}">
        <p14:creationId xmlns:p14="http://schemas.microsoft.com/office/powerpoint/2010/main" val="30409658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心理物语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当我们站在多数人这一边时，我们最需要的品德是宽容；当我们站在小数人这一边时，我们最需要的品德是勇敢。</a:t>
            </a:r>
          </a:p>
        </p:txBody>
      </p:sp>
    </p:spTree>
    <p:extLst>
      <p:ext uri="{BB962C8B-B14F-4D97-AF65-F5344CB8AC3E}">
        <p14:creationId xmlns:p14="http://schemas.microsoft.com/office/powerpoint/2010/main" val="18129357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心理物语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从前，别人夸奖自己优秀，真认为自己很优秀；现在才发现，不是被夸奖的人真的优秀，而夸奖者优秀。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34527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4197</Words>
  <Application>Microsoft Office PowerPoint</Application>
  <PresentationFormat>全屏显示(4:3)</PresentationFormat>
  <Paragraphs>364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3" baseType="lpstr">
      <vt:lpstr>Arial</vt:lpstr>
      <vt:lpstr>Trebuchet MS</vt:lpstr>
      <vt:lpstr>Wingdings</vt:lpstr>
      <vt:lpstr>Wingdings 2</vt:lpstr>
      <vt:lpstr>华丽</vt:lpstr>
      <vt:lpstr>第二章 认识自我</vt:lpstr>
      <vt:lpstr>01 了解自己的健康状况 : 健康行为测试 </vt:lpstr>
      <vt:lpstr>  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  <vt:lpstr>健康行为测试结果</vt:lpstr>
      <vt:lpstr>消除对自己健康水平的模糊性</vt:lpstr>
      <vt:lpstr>02 ：了解自己的心理健康 心理健康测试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01 认识自我:自我觉察</vt:lpstr>
      <vt:lpstr>自我觉察</vt:lpstr>
      <vt:lpstr>自我觉察</vt:lpstr>
      <vt:lpstr>自我觉察的线索</vt:lpstr>
      <vt:lpstr>肢体动作</vt:lpstr>
      <vt:lpstr>情绪感觉</vt:lpstr>
      <vt:lpstr>想法观念</vt:lpstr>
      <vt:lpstr>价值观</vt:lpstr>
      <vt:lpstr>实验</vt:lpstr>
      <vt:lpstr>PowerPoint 演示文稿</vt:lpstr>
      <vt:lpstr>PowerPoint 演示文稿</vt:lpstr>
      <vt:lpstr>自我觉察的方向：[成为你自己]的特质</vt:lpstr>
      <vt:lpstr>PowerPoint 演示文稿</vt:lpstr>
      <vt:lpstr>PowerPoint 演示文稿</vt:lpstr>
      <vt:lpstr>PowerPoint 演示文稿</vt:lpstr>
      <vt:lpstr>PowerPoint 演示文稿</vt:lpstr>
      <vt:lpstr>感觉词</vt:lpstr>
      <vt:lpstr>有效的观念</vt:lpstr>
      <vt:lpstr> 01  认识自我</vt:lpstr>
      <vt:lpstr>活动2：</vt:lpstr>
      <vt:lpstr>心理健康自我鉴定表(-)</vt:lpstr>
      <vt:lpstr>心理健康不良</vt:lpstr>
      <vt:lpstr>心理健康自我鉴定表</vt:lpstr>
      <vt:lpstr>心理健康不良 </vt:lpstr>
      <vt:lpstr>心理健康自我鉴定表</vt:lpstr>
      <vt:lpstr>心理健康自我鉴定表</vt:lpstr>
      <vt:lpstr>心理健康自我鉴定表</vt:lpstr>
      <vt:lpstr>心理健康自我鉴定表</vt:lpstr>
      <vt:lpstr>心理健康自我鉴定表</vt:lpstr>
      <vt:lpstr>心理健康自我鉴定表</vt:lpstr>
      <vt:lpstr>03 心理异常</vt:lpstr>
      <vt:lpstr>心理异常的特性</vt:lpstr>
      <vt:lpstr>心理异常时的“心理特征”</vt:lpstr>
      <vt:lpstr>心理健康标准依据</vt:lpstr>
      <vt:lpstr>讨论题：</vt:lpstr>
      <vt:lpstr>心理物语</vt:lpstr>
      <vt:lpstr>心理物语</vt:lpstr>
      <vt:lpstr>心理物语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健康心理学</dc:title>
  <dc:creator>Doudou</dc:creator>
  <cp:lastModifiedBy>Doudou</cp:lastModifiedBy>
  <cp:revision>38</cp:revision>
  <dcterms:created xsi:type="dcterms:W3CDTF">2020-02-12T09:34:15Z</dcterms:created>
  <dcterms:modified xsi:type="dcterms:W3CDTF">2020-03-31T12:46:22Z</dcterms:modified>
</cp:coreProperties>
</file>