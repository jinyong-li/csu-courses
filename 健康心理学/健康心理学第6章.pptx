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427" r:id="rId2"/>
    <p:sldId id="428" r:id="rId3"/>
    <p:sldId id="513" r:id="rId4"/>
    <p:sldId id="429" r:id="rId5"/>
    <p:sldId id="430" r:id="rId6"/>
    <p:sldId id="431" r:id="rId7"/>
    <p:sldId id="432" r:id="rId8"/>
    <p:sldId id="433" r:id="rId9"/>
    <p:sldId id="434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  <p:sldId id="449" r:id="rId25"/>
    <p:sldId id="450" r:id="rId26"/>
    <p:sldId id="451" r:id="rId27"/>
    <p:sldId id="454" r:id="rId28"/>
    <p:sldId id="455" r:id="rId29"/>
    <p:sldId id="456" r:id="rId30"/>
    <p:sldId id="457" r:id="rId3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7069E51-F408-450C-B6F3-5472A5CF7A3D}" type="datetimeFigureOut">
              <a:rPr lang="zh-CN" altLang="en-US" smtClean="0"/>
              <a:pPr/>
              <a:t>2022/5/31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FF56B523-B71F-448E-8ABC-23F7A2FEB16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黑暗无边的抑郁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我们生活在一个抑郁的年代。现在抑郁的群体越来越多，患抑郁症的病人几乎是过去的</a:t>
            </a:r>
            <a:r>
              <a:rPr lang="en-US" altLang="zh-CN" dirty="0"/>
              <a:t>10</a:t>
            </a:r>
            <a:r>
              <a:rPr lang="zh-CN" altLang="zh-CN" dirty="0"/>
              <a:t>倍，而且这个数字还在不断上升。现在，患者的平均初发年龄比以前早了十岁，抑郁症的魔爪开始伸向儿童和</a:t>
            </a:r>
            <a:r>
              <a:rPr lang="zh-CN" altLang="en-US" dirty="0"/>
              <a:t>青</a:t>
            </a:r>
            <a:r>
              <a:rPr lang="zh-CN" altLang="zh-CN" dirty="0"/>
              <a:t>少年。现在的抑郁症已经成为了心理疾病中的流感。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C608B9-C988-392D-2B65-D1F128974C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966531"/>
            <a:ext cx="3844280" cy="256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4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抑郁的年代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zh-CN" dirty="0"/>
              <a:t>每个年代都有其特定的情绪。</a:t>
            </a:r>
            <a:endParaRPr lang="en-US" altLang="zh-CN" dirty="0"/>
          </a:p>
          <a:p>
            <a:r>
              <a:rPr lang="zh-CN" altLang="zh-CN" dirty="0"/>
              <a:t>我们这个年代是一个控制力、无助的年代。我们的价值体系多元化，传统价值分崩离析，人们焦虑、抑郁、恐惧、愤怒。个人的奋斗之路永远都是从绝望中找寻希望。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D60B9D-1049-893B-993D-F7BEFC508B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4077072"/>
            <a:ext cx="2382539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59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31485-A9CA-6DE1-94DD-EB3FC8BC5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什么是抑郁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F60575-D053-33E0-A180-BB61D3982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抑郁是眼睁睁看着绝望、挫败、失落一步步逼近，自己却无能为力时的情绪反应。</a:t>
            </a:r>
            <a:endParaRPr lang="en-US" altLang="zh-CN" dirty="0"/>
          </a:p>
          <a:p>
            <a:r>
              <a:rPr lang="zh-CN" altLang="en-US" dirty="0"/>
              <a:t>抑郁是一种复合情绪，是由生活中的失败，变故所引起的情绪反应，它包括了伤心、难过、焦虑、憎恨、失望、失落、低沉、痛苦、哀伤、绝望、悲哀等情绪。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D9F3BA-E80C-73CC-6DA1-E77569EB1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032576"/>
            <a:ext cx="3202260" cy="24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05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测测自己抑郁否？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以下测验可以测试你的抑郁程度，它被简称为</a:t>
            </a:r>
            <a:r>
              <a:rPr lang="en-US" altLang="zh-CN" dirty="0"/>
              <a:t>CES-D,</a:t>
            </a:r>
            <a:r>
              <a:rPr lang="zh-CN" altLang="zh-CN" dirty="0"/>
              <a:t>仔细阅读题目并选出最符合你最近一星期的选项。</a:t>
            </a:r>
          </a:p>
          <a:p>
            <a:r>
              <a:rPr lang="en-US" altLang="zh-CN" dirty="0"/>
              <a:t>0 </a:t>
            </a:r>
            <a:r>
              <a:rPr lang="zh-CN" altLang="zh-CN" dirty="0"/>
              <a:t>很少或没有过（少于</a:t>
            </a:r>
            <a:r>
              <a:rPr lang="en-US" altLang="zh-CN" dirty="0"/>
              <a:t>1</a:t>
            </a:r>
            <a:r>
              <a:rPr lang="zh-CN" altLang="zh-CN" dirty="0"/>
              <a:t>天）</a:t>
            </a:r>
          </a:p>
          <a:p>
            <a:r>
              <a:rPr lang="en-US" altLang="zh-CN" dirty="0"/>
              <a:t>1 </a:t>
            </a:r>
            <a:r>
              <a:rPr lang="zh-CN" altLang="zh-CN" dirty="0"/>
              <a:t>偶尔或很少（</a:t>
            </a:r>
            <a:r>
              <a:rPr lang="en-US" altLang="zh-CN" dirty="0"/>
              <a:t>1</a:t>
            </a:r>
            <a:r>
              <a:rPr lang="zh-CN" altLang="zh-CN" dirty="0"/>
              <a:t>－</a:t>
            </a:r>
            <a:r>
              <a:rPr lang="en-US" altLang="zh-CN" dirty="0"/>
              <a:t>2</a:t>
            </a:r>
            <a:r>
              <a:rPr lang="zh-CN" altLang="zh-CN" dirty="0"/>
              <a:t>天）</a:t>
            </a:r>
          </a:p>
          <a:p>
            <a:r>
              <a:rPr lang="en-US" altLang="zh-CN" dirty="0"/>
              <a:t>2 </a:t>
            </a:r>
            <a:r>
              <a:rPr lang="zh-CN" altLang="zh-CN" dirty="0"/>
              <a:t>有时或大约一半的时间（</a:t>
            </a:r>
            <a:r>
              <a:rPr lang="en-US" altLang="zh-CN" dirty="0"/>
              <a:t>3</a:t>
            </a:r>
            <a:r>
              <a:rPr lang="zh-CN" altLang="zh-CN" dirty="0"/>
              <a:t>－</a:t>
            </a:r>
            <a:r>
              <a:rPr lang="en-US" altLang="zh-CN" dirty="0"/>
              <a:t>4</a:t>
            </a:r>
            <a:r>
              <a:rPr lang="zh-CN" altLang="zh-CN" dirty="0"/>
              <a:t>天）</a:t>
            </a:r>
          </a:p>
          <a:p>
            <a:r>
              <a:rPr lang="en-US" altLang="zh-CN" dirty="0"/>
              <a:t>3 </a:t>
            </a:r>
            <a:r>
              <a:rPr lang="zh-CN" altLang="zh-CN" dirty="0"/>
              <a:t>很多时候或所有时候（</a:t>
            </a:r>
            <a:r>
              <a:rPr lang="en-US" altLang="zh-CN" dirty="0"/>
              <a:t>5</a:t>
            </a:r>
            <a:r>
              <a:rPr lang="zh-CN" altLang="zh-CN" dirty="0"/>
              <a:t>－</a:t>
            </a:r>
            <a:r>
              <a:rPr lang="en-US" altLang="zh-CN" dirty="0"/>
              <a:t>7</a:t>
            </a:r>
            <a:r>
              <a:rPr lang="zh-CN" altLang="en-US" dirty="0"/>
              <a:t>天</a:t>
            </a:r>
            <a:r>
              <a:rPr lang="zh-CN" altLang="zh-CN" dirty="0"/>
              <a:t>）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B4DEF7-09CF-7C16-9DED-7334A8C39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3842095"/>
            <a:ext cx="1865989" cy="281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7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抑郁水平测试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1 </a:t>
            </a:r>
            <a:r>
              <a:rPr lang="zh-CN" altLang="zh-CN" dirty="0"/>
              <a:t>以前不会担心的事现在开始令我忧心。</a:t>
            </a:r>
          </a:p>
          <a:p>
            <a:r>
              <a:rPr lang="en-US" altLang="zh-CN" dirty="0"/>
              <a:t>2 </a:t>
            </a:r>
            <a:r>
              <a:rPr lang="zh-CN" altLang="zh-CN" dirty="0"/>
              <a:t>我不想吃东西，胃口很差。</a:t>
            </a:r>
          </a:p>
          <a:p>
            <a:r>
              <a:rPr lang="en-US" altLang="zh-CN" dirty="0"/>
              <a:t>3 </a:t>
            </a:r>
            <a:r>
              <a:rPr lang="zh-CN" altLang="zh-CN" dirty="0"/>
              <a:t>即使家人和朋友的帮助，我也无法摆脱低落的情绪。</a:t>
            </a:r>
          </a:p>
          <a:p>
            <a:r>
              <a:rPr lang="en-US" altLang="zh-CN" dirty="0"/>
              <a:t>4</a:t>
            </a:r>
            <a:r>
              <a:rPr lang="zh-CN" altLang="zh-CN" dirty="0"/>
              <a:t>我觉得我没有别人那么好。</a:t>
            </a:r>
          </a:p>
          <a:p>
            <a:r>
              <a:rPr lang="en-US" altLang="zh-CN" dirty="0"/>
              <a:t>5 </a:t>
            </a:r>
            <a:r>
              <a:rPr lang="zh-CN" altLang="zh-CN" dirty="0"/>
              <a:t>我无法集中注意力去做正在做的事情。</a:t>
            </a:r>
          </a:p>
          <a:p>
            <a:r>
              <a:rPr lang="en-US" altLang="zh-CN" dirty="0"/>
              <a:t>6 </a:t>
            </a:r>
            <a:r>
              <a:rPr lang="zh-CN" altLang="zh-CN" dirty="0"/>
              <a:t>我感到沮丧。</a:t>
            </a:r>
          </a:p>
          <a:p>
            <a:r>
              <a:rPr lang="en-US" altLang="zh-CN" dirty="0"/>
              <a:t>7 </a:t>
            </a:r>
            <a:r>
              <a:rPr lang="zh-CN" altLang="zh-CN" dirty="0"/>
              <a:t>我觉得做每一件事情都很费劲。</a:t>
            </a:r>
          </a:p>
          <a:p>
            <a:r>
              <a:rPr lang="en-US" altLang="zh-CN" dirty="0"/>
              <a:t>8 </a:t>
            </a:r>
            <a:r>
              <a:rPr lang="zh-CN" altLang="zh-CN" dirty="0"/>
              <a:t>我觉得未来一点希望都没有。</a:t>
            </a:r>
          </a:p>
          <a:p>
            <a:r>
              <a:rPr lang="en-US" altLang="zh-CN" dirty="0"/>
              <a:t>9 </a:t>
            </a:r>
            <a:r>
              <a:rPr lang="zh-CN" altLang="zh-CN" dirty="0"/>
              <a:t>我觉得我的人生很失败。</a:t>
            </a:r>
          </a:p>
          <a:p>
            <a:r>
              <a:rPr lang="en-US" altLang="zh-CN" dirty="0"/>
              <a:t>10 </a:t>
            </a:r>
            <a:r>
              <a:rPr lang="zh-CN" altLang="zh-CN" dirty="0"/>
              <a:t>我感到害怕。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86B7AE-FF65-7BAC-2A52-8E903B6F5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725144"/>
            <a:ext cx="2232248" cy="173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3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抑郁水平测试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11</a:t>
            </a:r>
            <a:r>
              <a:rPr lang="zh-CN" altLang="zh-CN" dirty="0"/>
              <a:t>我晚上睡得很不好。</a:t>
            </a:r>
          </a:p>
          <a:p>
            <a:r>
              <a:rPr lang="en-US" altLang="zh-CN" dirty="0"/>
              <a:t>12 </a:t>
            </a:r>
            <a:r>
              <a:rPr lang="zh-CN" altLang="zh-CN" dirty="0"/>
              <a:t>我过得不快乐。</a:t>
            </a:r>
          </a:p>
          <a:p>
            <a:r>
              <a:rPr lang="en-US" altLang="zh-CN" dirty="0"/>
              <a:t>13 </a:t>
            </a:r>
            <a:r>
              <a:rPr lang="zh-CN" altLang="zh-CN" dirty="0"/>
              <a:t>我的话比平时少了。</a:t>
            </a:r>
          </a:p>
          <a:p>
            <a:r>
              <a:rPr lang="en-US" altLang="zh-CN" dirty="0"/>
              <a:t>14 </a:t>
            </a:r>
            <a:r>
              <a:rPr lang="zh-CN" altLang="zh-CN" dirty="0"/>
              <a:t>我感到寂寞孤独。</a:t>
            </a:r>
          </a:p>
          <a:p>
            <a:r>
              <a:rPr lang="en-US" altLang="zh-CN" dirty="0"/>
              <a:t>15 </a:t>
            </a:r>
            <a:r>
              <a:rPr lang="zh-CN" altLang="zh-CN" dirty="0"/>
              <a:t>人们对我不友善。</a:t>
            </a:r>
          </a:p>
          <a:p>
            <a:r>
              <a:rPr lang="en-US" altLang="zh-CN" dirty="0"/>
              <a:t>16 </a:t>
            </a:r>
            <a:r>
              <a:rPr lang="zh-CN" altLang="zh-CN" dirty="0"/>
              <a:t>我觉得人生很无趣。</a:t>
            </a:r>
          </a:p>
          <a:p>
            <a:r>
              <a:rPr lang="en-US" altLang="zh-CN" dirty="0"/>
              <a:t>17 </a:t>
            </a:r>
            <a:r>
              <a:rPr lang="zh-CN" altLang="zh-CN" dirty="0"/>
              <a:t>我有时会无缘无故的痛哭。</a:t>
            </a:r>
          </a:p>
          <a:p>
            <a:r>
              <a:rPr lang="en-US" altLang="zh-CN" dirty="0"/>
              <a:t>18 </a:t>
            </a:r>
            <a:r>
              <a:rPr lang="zh-CN" altLang="zh-CN" dirty="0"/>
              <a:t>我感到很悲哀。</a:t>
            </a:r>
          </a:p>
          <a:p>
            <a:r>
              <a:rPr lang="en-US" altLang="zh-CN" dirty="0"/>
              <a:t>19 </a:t>
            </a:r>
            <a:r>
              <a:rPr lang="zh-CN" altLang="zh-CN" dirty="0"/>
              <a:t>我觉得大家都不喜欢我。</a:t>
            </a:r>
          </a:p>
          <a:p>
            <a:r>
              <a:rPr lang="en-US" altLang="zh-CN" dirty="0"/>
              <a:t>20 </a:t>
            </a:r>
            <a:r>
              <a:rPr lang="zh-CN" altLang="zh-CN" dirty="0"/>
              <a:t>我无法开始做一件事。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BF8362-A6ED-81A5-CE67-2AABB85EC0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450688"/>
            <a:ext cx="2232248" cy="308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56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测试结果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把各项分数加起来就是总分。计算出来的分数就是你的抑郁值，分数越高，越抑郁。如果你在同一道题上选了两个答案，以分值高的那个为准。分数范围是</a:t>
            </a:r>
            <a:r>
              <a:rPr lang="en-US" altLang="zh-CN" dirty="0"/>
              <a:t>0</a:t>
            </a:r>
            <a:r>
              <a:rPr lang="zh-CN" altLang="zh-CN" dirty="0"/>
              <a:t>－</a:t>
            </a:r>
            <a:r>
              <a:rPr lang="en-US" altLang="zh-CN" dirty="0"/>
              <a:t>60</a:t>
            </a:r>
            <a:r>
              <a:rPr lang="zh-CN" altLang="zh-CN" dirty="0"/>
              <a:t>分。</a:t>
            </a:r>
            <a:endParaRPr lang="en-US" altLang="zh-CN" dirty="0"/>
          </a:p>
          <a:p>
            <a:r>
              <a:rPr lang="zh-CN" altLang="zh-CN" dirty="0"/>
              <a:t>这个测验不是用来诊断抑郁症的。它的目的是告诉你，你现在的抑郁水平。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3254D6-1009-6027-2D34-DC950BDF4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221088"/>
            <a:ext cx="4041755" cy="21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1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测试结果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如果你的分数是</a:t>
            </a:r>
            <a:r>
              <a:rPr lang="en-US" altLang="zh-CN" dirty="0"/>
              <a:t>0</a:t>
            </a:r>
            <a:r>
              <a:rPr lang="zh-CN" altLang="zh-CN" dirty="0"/>
              <a:t>－</a:t>
            </a:r>
            <a:r>
              <a:rPr lang="en-US" altLang="zh-CN" dirty="0"/>
              <a:t>9</a:t>
            </a:r>
            <a:r>
              <a:rPr lang="zh-CN" altLang="zh-CN" dirty="0"/>
              <a:t>分，那你同抑郁是完全绝缘的。</a:t>
            </a:r>
            <a:endParaRPr lang="en-US" altLang="zh-CN" dirty="0"/>
          </a:p>
          <a:p>
            <a:r>
              <a:rPr lang="zh-CN" altLang="zh-CN" dirty="0"/>
              <a:t>如果是</a:t>
            </a:r>
            <a:r>
              <a:rPr lang="en-US" altLang="zh-CN" dirty="0"/>
              <a:t>10</a:t>
            </a:r>
            <a:r>
              <a:rPr lang="zh-CN" altLang="zh-CN" dirty="0"/>
              <a:t>－</a:t>
            </a:r>
            <a:r>
              <a:rPr lang="en-US" altLang="zh-CN" dirty="0"/>
              <a:t>15</a:t>
            </a:r>
            <a:r>
              <a:rPr lang="zh-CN" altLang="zh-CN" dirty="0"/>
              <a:t>分，那你有点抑郁。</a:t>
            </a:r>
            <a:endParaRPr lang="en-US" altLang="zh-CN" dirty="0"/>
          </a:p>
          <a:p>
            <a:r>
              <a:rPr lang="en-US" altLang="zh-CN" dirty="0"/>
              <a:t>16</a:t>
            </a:r>
            <a:r>
              <a:rPr lang="zh-CN" altLang="zh-CN" dirty="0"/>
              <a:t>－</a:t>
            </a:r>
            <a:r>
              <a:rPr lang="en-US" altLang="zh-CN" dirty="0"/>
              <a:t>24</a:t>
            </a:r>
            <a:r>
              <a:rPr lang="zh-CN" altLang="zh-CN" dirty="0"/>
              <a:t>是中等水平的抑郁。</a:t>
            </a:r>
            <a:endParaRPr lang="en-US" altLang="zh-CN" dirty="0"/>
          </a:p>
          <a:p>
            <a:r>
              <a:rPr lang="zh-CN" altLang="zh-CN" dirty="0"/>
              <a:t>如果你的分数在</a:t>
            </a:r>
            <a:r>
              <a:rPr lang="en-US" altLang="zh-CN" dirty="0"/>
              <a:t>24</a:t>
            </a:r>
            <a:r>
              <a:rPr lang="zh-CN" altLang="zh-CN" dirty="0"/>
              <a:t>分上，那你简直是陷入抑郁的深渊了。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D61F81-8AC9-E171-C7B0-4C8D2D4E81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638534"/>
            <a:ext cx="1656184" cy="181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639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611560" y="379526"/>
            <a:ext cx="7239000" cy="1143000"/>
          </a:xfrm>
        </p:spPr>
        <p:txBody>
          <a:bodyPr/>
          <a:lstStyle/>
          <a:p>
            <a:r>
              <a:rPr lang="zh-CN" altLang="zh-CN" dirty="0"/>
              <a:t>抑郁知多少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这个测验包括了抑郁的四个症状：</a:t>
            </a:r>
          </a:p>
          <a:p>
            <a:r>
              <a:rPr lang="zh-CN" altLang="zh-CN" dirty="0"/>
              <a:t>第一，你在抑郁和不抑郁时的思维方式是不同的。抑郁时，你会自己较劲，对外界横加指责，对未来绝望迷茫。你看不到自己的未来，并把原因归于自己的资质。认为自己资质平平，所以毫无前途可言。一点点的挫折都会变成不可逾越的障碍。你觉得万事皆空，生无可恋。你永远都找出一大堆证据来证明你的成功其实还是失败之作。在抑郁时，悲观的解释风格会处于主导地位。而你也总是以阴暗的眼光来看待好的事情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586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抑郁</a:t>
            </a:r>
            <a:r>
              <a:rPr lang="zh-CN" altLang="zh-CN" b="1" dirty="0"/>
              <a:t>症状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第二个症状是消极情绪的产生。</a:t>
            </a:r>
            <a:r>
              <a:rPr lang="zh-CN" altLang="zh-CN" dirty="0"/>
              <a:t>抑郁时人会感到悲哀、消沉、绝望。你可能会嚎啕大哭，也可能欲哭无泪。生活失去了原有的活力，变得暗无天日。以前那些让人舒服惬意的活动也变得平淡无奇了。笑话不再好笑，而成了变相的讽刺。悲哀不是抑郁时的唯一情绪，焦虑和不理智也常伴其左右。当抑郁程度越来越深时，焦虑和憎恨渐渐消失，这时你会变得如同行尸走肉，脑中一片空白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586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抑郁</a:t>
            </a:r>
            <a:r>
              <a:rPr lang="zh-CN" altLang="zh-CN" b="1" dirty="0"/>
              <a:t>症状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第三个症状是行为方面的，抑郁的人会变得消极被动，优柔寡断、有自杀倾向。</a:t>
            </a:r>
            <a:r>
              <a:rPr lang="zh-CN" altLang="zh-CN" dirty="0"/>
              <a:t>抑郁的人只会去做一些墨守成规的事情，根本没有开拓进取之心。他们一遇到挫折就很容易放弃。抑郁的人在面临选择时也常常举棋不定、犹豫不决。其实有很抑郁的人都会考虑自杀，也会付诸行动。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38FF65F-62D3-ABE4-A1BB-1666EB20E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376169"/>
            <a:ext cx="3600400" cy="108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63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抑郁</a:t>
            </a:r>
            <a:r>
              <a:rPr lang="zh-CN" altLang="zh-CN" b="1" dirty="0"/>
              <a:t>症状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第四个症状是当你抑郁时，什么都会跟你作对，甚至是你的身体。</a:t>
            </a:r>
            <a:r>
              <a:rPr lang="zh-CN" altLang="zh-CN" dirty="0"/>
              <a:t>你越抑郁时，你越容易生病。你会发现自己食欲下降，吃不下饭。你的性趣也会大幅度减退。甚至连睡觉都变成了一种奢侈。你总是醒得很早，或在床上翻来覆去睡不着。最后，闹钟响起，你不得不开始你抑郁而疲惫的一天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0A874A-DF83-91F0-E80B-40D7A8BD6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4293096"/>
            <a:ext cx="3172334" cy="216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71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双极抑郁症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如果一个人有严重的抑郁倾向，那他不是患单极抑郁症就是患双极抑郁症。两者的区别在于是否包括了躁狂症。</a:t>
            </a:r>
          </a:p>
          <a:p>
            <a:r>
              <a:rPr lang="zh-CN" altLang="zh-CN" dirty="0"/>
              <a:t>躁狂症看起来是与抑郁症完全相反的心境。它的症状是异常亢奋、狂妄自大、不停地说话做事、夜不能寐、夸大的自尊。双极抑郁症通常含有躁狂症在里面，所以又称为躁郁症。单极抑郁症则不包含躁狂症。它们之间还有一个区别是双极抑郁症更具有遗传性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6488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双极抑郁症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躁狂症是一种疾病，是身体的失调，理应用药物来治疗。</a:t>
            </a:r>
            <a:endParaRPr lang="en-US" altLang="zh-CN" dirty="0"/>
          </a:p>
          <a:p>
            <a:r>
              <a:rPr lang="zh-CN" altLang="zh-CN" dirty="0"/>
              <a:t>事实上，单极抑郁症比双极抑郁症更加普遍，它患者数是双极抑郁症的</a:t>
            </a:r>
            <a:r>
              <a:rPr lang="en-US" altLang="zh-CN" dirty="0"/>
              <a:t>10</a:t>
            </a:r>
            <a:r>
              <a:rPr lang="zh-CN" altLang="zh-CN" dirty="0"/>
              <a:t>－</a:t>
            </a:r>
            <a:r>
              <a:rPr lang="en-US" altLang="zh-CN" dirty="0"/>
              <a:t>20</a:t>
            </a:r>
            <a:r>
              <a:rPr lang="zh-CN" altLang="zh-CN" dirty="0"/>
              <a:t>倍。单极抑郁症也是我们所熟知的一种疾病。滋养它的温床是未来那些不可避免的伤痛和失意。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C7975C-3B22-6CEE-3C80-5D04E3A6B4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4276476"/>
            <a:ext cx="3240360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69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双极抑郁症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单极抑郁症和正常抑郁症之间是否有关系，目前仍众说纷纭。我认为，它们本质上是一个东西，只是症状的数目和严重程度不同。</a:t>
            </a:r>
            <a:endParaRPr lang="en-US" altLang="zh-CN" dirty="0"/>
          </a:p>
          <a:p>
            <a:r>
              <a:rPr lang="zh-CN" altLang="zh-CN" b="1" dirty="0"/>
              <a:t>无论是单极抑郁症还是正常抑郁症，它们都 是思想、情绪、行为和身体的恶化。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7402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抑郁症中的性别分化：女性更抑郁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抑郁症正在我们生活周围迅速蔓延，而患者通常是女性居多。</a:t>
            </a:r>
          </a:p>
          <a:p>
            <a:r>
              <a:rPr lang="zh-CN" altLang="zh-CN" dirty="0"/>
              <a:t>性别、工资、工作条件、遗传，都不是造成女人更抑郁的原因。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8A60E6-9C6A-4180-21B1-B5F604125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429000"/>
            <a:ext cx="5616624" cy="2817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805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女性更抑郁的原因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原因可能有以下三个方面：</a:t>
            </a:r>
          </a:p>
          <a:p>
            <a:r>
              <a:rPr lang="zh-CN" altLang="zh-CN" dirty="0"/>
              <a:t>第一个是习得性无助理论。这个理论认为，在我们这个社会 ，女性的无助感更多。</a:t>
            </a:r>
            <a:endParaRPr lang="en-US" altLang="zh-CN" dirty="0"/>
          </a:p>
          <a:p>
            <a:r>
              <a:rPr lang="zh-CN" altLang="zh-CN" dirty="0"/>
              <a:t>第二个解释是反刍。这个理论认为当遭遇挫折时，男人抵抗，女人思索。</a:t>
            </a:r>
            <a:endParaRPr lang="en-US" altLang="zh-CN" dirty="0"/>
          </a:p>
          <a:p>
            <a:r>
              <a:rPr lang="zh-CN" altLang="zh-CN" dirty="0"/>
              <a:t>第三个解释是以瘦为美。女性总是被灌输瘦就是美的观念。而男性则很少有这种观念。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81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女性更抑郁的原因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习得性无助、反刍和以瘦为美的三个因素造成了男女患病比率高达</a:t>
            </a:r>
            <a:r>
              <a:rPr lang="en-US" altLang="zh-CN" dirty="0"/>
              <a:t>1</a:t>
            </a:r>
            <a:r>
              <a:rPr lang="zh-CN" altLang="zh-CN" dirty="0"/>
              <a:t>：</a:t>
            </a:r>
            <a:r>
              <a:rPr lang="en-US" altLang="zh-CN" dirty="0"/>
              <a:t>2.</a:t>
            </a:r>
            <a:r>
              <a:rPr lang="zh-CN" altLang="zh-CN" dirty="0"/>
              <a:t>但这一切都可以改变的。改变以瘦为美的观念需要改变社会风气。改变女性习得性无助和反刍则只需要改变治疗方法和教养方式。</a:t>
            </a:r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E23F4AD-3A89-2E2F-F1EB-04C8AECA02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645024"/>
            <a:ext cx="2680531" cy="262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08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应</a:t>
            </a:r>
            <a:r>
              <a:rPr lang="zh-CN" altLang="en-US" dirty="0"/>
              <a:t>对</a:t>
            </a:r>
            <a:r>
              <a:rPr lang="zh-CN" altLang="zh-CN" dirty="0"/>
              <a:t>抑郁的方法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主要的治疗方法有四种：</a:t>
            </a:r>
            <a:endParaRPr lang="en-US" altLang="zh-CN" dirty="0"/>
          </a:p>
          <a:p>
            <a:r>
              <a:rPr lang="zh-CN" altLang="zh-CN" dirty="0"/>
              <a:t>两种生物学的方法——药物和电休克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zh-CN" dirty="0"/>
              <a:t>两种心理学方法——认知疗法和人际关系治疗。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1C546B-0E69-7505-2071-1E47538119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861048"/>
            <a:ext cx="2993546" cy="199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12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抑郁</a:t>
            </a:r>
            <a:r>
              <a:rPr lang="zh-CN" altLang="en-US" dirty="0"/>
              <a:t>症的治疗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药物：三环类药物、单胺氧化酶抑制剂、</a:t>
            </a:r>
            <a:r>
              <a:rPr lang="en-US" altLang="zh-CN" dirty="0"/>
              <a:t>5</a:t>
            </a:r>
            <a:r>
              <a:rPr lang="zh-CN" altLang="zh-CN" dirty="0"/>
              <a:t>羟色胺再吸收抑制剂。十天到三周起效。疗效</a:t>
            </a:r>
            <a:r>
              <a:rPr lang="en-US" altLang="zh-CN" dirty="0"/>
              <a:t>65%</a:t>
            </a:r>
            <a:r>
              <a:rPr lang="zh-CN" altLang="zh-CN" dirty="0"/>
              <a:t>。有副作用，停药就复发。</a:t>
            </a:r>
          </a:p>
          <a:p>
            <a:r>
              <a:rPr lang="zh-CN" altLang="zh-CN" dirty="0"/>
              <a:t>电休克：电休克中的大的电流对人体是无害的。快速有效，疗效</a:t>
            </a:r>
            <a:r>
              <a:rPr lang="en-US" altLang="zh-CN" dirty="0"/>
              <a:t>75%</a:t>
            </a:r>
            <a:r>
              <a:rPr lang="zh-CN" altLang="zh-CN" dirty="0"/>
              <a:t>，只需要几天。副作用：记忆力减退、心血管改变和神智不清。来得快去得快，并不能防止抑郁症复发，只能缓解症状。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4829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/>
              <a:t>认知疗法：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认知疗法的目的是改变一个抑郁的人对失败、打击、失落和无助的有意识思维。认知疗法有五条原则：</a:t>
            </a:r>
          </a:p>
          <a:p>
            <a:r>
              <a:rPr lang="zh-CN" altLang="zh-CN" dirty="0"/>
              <a:t>第一，你得学会辨认自己的下意识想法。</a:t>
            </a:r>
            <a:endParaRPr lang="en-US" altLang="zh-CN" dirty="0"/>
          </a:p>
          <a:p>
            <a:r>
              <a:rPr lang="zh-CN" altLang="zh-CN" dirty="0"/>
              <a:t>第二，学会用相反的证据来反驳那些下意识想法。</a:t>
            </a:r>
          </a:p>
          <a:p>
            <a:r>
              <a:rPr lang="zh-CN" altLang="zh-CN" dirty="0"/>
              <a:t>第三，学会不同的解释方法，这叫做重新归因。这也是用来反驳下意识想法的。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7211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认知疗法：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第四，学会把自己从抑郁的想法中解救出来。反刍会让情况越来越糟糕，尤其是当一个人处于压力之下还得强颜欢笑时。最好的办法通常就是不去想它。你不但要学会控制思考的内容，还要学会控制思考的时间。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8CBF7E-2351-A31A-24B6-79462E583B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638042"/>
            <a:ext cx="2808312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713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认知疗法：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第五，学会质疑引起你抑郁的那些假设。这些假设束缚了你。</a:t>
            </a:r>
          </a:p>
          <a:p>
            <a:r>
              <a:rPr lang="en-US" altLang="zh-CN" dirty="0"/>
              <a:t> </a:t>
            </a:r>
            <a:r>
              <a:rPr lang="zh-CN" altLang="zh-CN" dirty="0"/>
              <a:t>没有爱我活不下去。</a:t>
            </a:r>
          </a:p>
          <a:p>
            <a:r>
              <a:rPr lang="zh-CN" altLang="zh-CN" dirty="0"/>
              <a:t>我是个失败者，因为我没能做到完美。</a:t>
            </a:r>
          </a:p>
          <a:p>
            <a:r>
              <a:rPr lang="zh-CN" altLang="zh-CN" dirty="0"/>
              <a:t>我是个失败者，因为我没有成为万人迷，</a:t>
            </a:r>
          </a:p>
          <a:p>
            <a:r>
              <a:rPr lang="zh-CN" altLang="zh-CN" dirty="0"/>
              <a:t>每个问题都有一个完美的解决方案，我得找到它。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648F98-3F76-CC1B-AF01-17108648FF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4782556"/>
            <a:ext cx="2736304" cy="182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78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认知疗法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认知疗法非常有效，治愈率</a:t>
            </a:r>
            <a:r>
              <a:rPr lang="en-US" altLang="zh-CN" dirty="0"/>
              <a:t>70%</a:t>
            </a:r>
            <a:r>
              <a:rPr lang="zh-CN" altLang="zh-CN" dirty="0"/>
              <a:t>。一个月后才开始见效，通常要治疗几个月，一周进行三次。此法比上两种效果要好，它教给你面临逆境时新的思维方式，这样可以减少你复发的几率，但仍不能降到为</a:t>
            </a:r>
            <a:r>
              <a:rPr lang="en-US" altLang="zh-CN" dirty="0"/>
              <a:t>0.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75B691-BBAA-0884-B1F1-E186CEACDC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3717032"/>
            <a:ext cx="237626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0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人际关系治疗</a:t>
            </a:r>
            <a:endParaRPr lang="zh-CN" altLang="zh-CN" dirty="0"/>
          </a:p>
          <a:p>
            <a:r>
              <a:rPr lang="zh-CN" altLang="zh-CN" dirty="0"/>
              <a:t>人际关系治疗的焦点在于社会关系，它的疗效与三环药物和认知疗法不相上下。患者一周接受一次即可，也不是一个长期的过程。</a:t>
            </a:r>
          </a:p>
          <a:p>
            <a:r>
              <a:rPr lang="zh-CN" altLang="zh-CN" dirty="0"/>
              <a:t>人际关系治疗以医学的眼光来看待抑郁症，认为抑郁症的发病原因很多，生物的和环境的因素都有。而这些原因中最重要的就是人际关系。所以，人际关系治疗要处理的问题就是人际交往问题。争吵、挫折、焦虑和失望是最核心的问题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1912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人际关系治疗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人际关系治疗把目光集中在病人生活的四个方面：悲伤、矛盾、角色转换和社交。</a:t>
            </a:r>
          </a:p>
          <a:p>
            <a:r>
              <a:rPr lang="zh-CN" altLang="zh-CN" dirty="0"/>
              <a:t>处理悲伤时，人际关系治疗关注的是异常的悲伤反应。处理矛盾时，人际关系治疗会试着找出矛盾的源头。需要调解吗？还能亡羊补牢吗？是一条死胡同吗？患者要学习的是沟通、协商和当机立断的技巧。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2CFCDE-86C0-468F-5664-699ECFACA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581128"/>
            <a:ext cx="3528392" cy="187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3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人际关系治疗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角色转化包括退休、离婚和自立门户。处理角色转换时，治疗师会帮助患者重新评估失去的角色，帮助患者抒发感情。治疗师要教会他们适应新角色所需要的技巧，并帮助他们建立起新的社会网络。处理社交问题时，治疗师会试图找到患者以前人际关系中旧有的模式，他们也会鼓励患者发泄情绪。他们会把患者社交方面的优势与劣势都找出来。当找到劣势时，他们就会让患者进行角色扮演，并鼓励他们增加自己的社交技巧。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6586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人际关系治疗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人际关系治疗的最大好处就是简短（几个月而已），而且很经济，它没什么副作用，疗效也很好，治愈率约为</a:t>
            </a:r>
            <a:r>
              <a:rPr lang="en-US" altLang="zh-CN" dirty="0"/>
              <a:t>70%</a:t>
            </a:r>
            <a:r>
              <a:rPr lang="zh-CN" altLang="zh-CN" dirty="0"/>
              <a:t>。这唯一的缺点是从业人员很少。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D5EB479-88E1-4C0C-BF95-C1D5E2B68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65" y="3680538"/>
            <a:ext cx="5415020" cy="277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14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轻微抑郁症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轻微的抑郁症是由悲观的思维习惯造成的。悲观主义者把失败和被拒绝归因到永久的（永远都会是这样的）、普遍的（“这会毁了一切的”）和人格化的原因上（“都是我的错”）。这些习惯性的信念通常不是真的，只是个人主观看法而已。认知疗法的核心是：这些思维习惯是可以彻底改变的，即使是重度抑郁者。而轻微的抑郁症通常不需要治疗就可以得到改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9656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乐观性思维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乐观性思维的主要技术就是反驳。</a:t>
            </a:r>
            <a:endParaRPr lang="en-US" altLang="zh-CN" dirty="0"/>
          </a:p>
          <a:p>
            <a:r>
              <a:rPr lang="zh-CN" altLang="zh-CN" dirty="0"/>
              <a:t>你要学会一些技巧来反驳你的这些悲观想法。一旦你学会了这种乐观的技术，你将终身受益。这不像节食减肥，过一段时间就会失效。在节食期间，你得拒绝你喜欢的食物，这很无趣。但是反驳你的那些悲观想法却很有趣。一旦学会了，你马上就能感受到它的魔力。一旦你开始运用自如，你就会一直用下去。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4108AE-9324-44D3-17FE-AB8C958051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28" y="4652051"/>
            <a:ext cx="187220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3629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2360</Words>
  <Application>Microsoft Office PowerPoint</Application>
  <PresentationFormat>全屏显示(4:3)</PresentationFormat>
  <Paragraphs>110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Trebuchet MS</vt:lpstr>
      <vt:lpstr>Wingdings</vt:lpstr>
      <vt:lpstr>Wingdings 2</vt:lpstr>
      <vt:lpstr>华丽</vt:lpstr>
      <vt:lpstr>黑暗无边的抑郁</vt:lpstr>
      <vt:lpstr>抑郁的年代</vt:lpstr>
      <vt:lpstr>什么是抑郁</vt:lpstr>
      <vt:lpstr>测测自己抑郁否？ </vt:lpstr>
      <vt:lpstr>抑郁水平测试</vt:lpstr>
      <vt:lpstr>抑郁水平测试</vt:lpstr>
      <vt:lpstr>测试结果</vt:lpstr>
      <vt:lpstr>测试结果</vt:lpstr>
      <vt:lpstr>抑郁知多少</vt:lpstr>
      <vt:lpstr>抑郁症状</vt:lpstr>
      <vt:lpstr>抑郁症状</vt:lpstr>
      <vt:lpstr>抑郁症状</vt:lpstr>
      <vt:lpstr>双极抑郁症</vt:lpstr>
      <vt:lpstr>双极抑郁症</vt:lpstr>
      <vt:lpstr>双极抑郁症</vt:lpstr>
      <vt:lpstr>抑郁症中的性别分化：女性更抑郁 </vt:lpstr>
      <vt:lpstr>女性更抑郁的原因</vt:lpstr>
      <vt:lpstr>女性更抑郁的原因</vt:lpstr>
      <vt:lpstr>应对抑郁的方法 </vt:lpstr>
      <vt:lpstr>抑郁症的治疗</vt:lpstr>
      <vt:lpstr>认知疗法： </vt:lpstr>
      <vt:lpstr>认知疗法：</vt:lpstr>
      <vt:lpstr>认知疗法：</vt:lpstr>
      <vt:lpstr>认知疗法</vt:lpstr>
      <vt:lpstr>PowerPoint 演示文稿</vt:lpstr>
      <vt:lpstr>人际关系治疗</vt:lpstr>
      <vt:lpstr>人际关系治疗</vt:lpstr>
      <vt:lpstr>人际关系治疗</vt:lpstr>
      <vt:lpstr>轻微抑郁症</vt:lpstr>
      <vt:lpstr>乐观性思维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健康心理学</dc:title>
  <dc:creator>Doudou</dc:creator>
  <cp:lastModifiedBy>Doudou</cp:lastModifiedBy>
  <cp:revision>18</cp:revision>
  <dcterms:created xsi:type="dcterms:W3CDTF">2020-02-12T09:34:15Z</dcterms:created>
  <dcterms:modified xsi:type="dcterms:W3CDTF">2022-05-31T08:55:14Z</dcterms:modified>
</cp:coreProperties>
</file>