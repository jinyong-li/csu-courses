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84" r:id="rId3"/>
    <p:sldId id="485" r:id="rId4"/>
    <p:sldId id="486" r:id="rId5"/>
    <p:sldId id="487" r:id="rId6"/>
    <p:sldId id="488" r:id="rId7"/>
    <p:sldId id="568" r:id="rId8"/>
    <p:sldId id="569" r:id="rId9"/>
    <p:sldId id="570" r:id="rId10"/>
    <p:sldId id="571" r:id="rId11"/>
    <p:sldId id="572" r:id="rId12"/>
    <p:sldId id="573" r:id="rId13"/>
    <p:sldId id="563" r:id="rId14"/>
    <p:sldId id="564" r:id="rId15"/>
    <p:sldId id="565" r:id="rId16"/>
    <p:sldId id="566" r:id="rId17"/>
    <p:sldId id="491" r:id="rId18"/>
    <p:sldId id="492" r:id="rId19"/>
    <p:sldId id="552" r:id="rId20"/>
    <p:sldId id="490" r:id="rId21"/>
    <p:sldId id="574" r:id="rId22"/>
    <p:sldId id="576" r:id="rId23"/>
    <p:sldId id="577" r:id="rId24"/>
    <p:sldId id="578" r:id="rId25"/>
    <p:sldId id="579" r:id="rId26"/>
    <p:sldId id="494" r:id="rId27"/>
    <p:sldId id="493" r:id="rId28"/>
    <p:sldId id="567" r:id="rId29"/>
    <p:sldId id="495" r:id="rId30"/>
    <p:sldId id="496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3A43E-6149-44DF-9012-A968EC879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4A1644-64FB-4D91-A489-3154576FB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E5C569-3A6E-420F-B2AF-881462FB1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493D33-7C6F-4130-95CE-92761833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B27BF-C7F0-4879-BD15-C00F98F4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11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B96FA-5397-4B86-893F-C8A7D23E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FB86D-AF04-4163-BAB1-AEB09CEB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AA5BBF-6402-4FB5-BA3B-3F8F67B91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1E798B-BD79-4387-8F6A-244AE202A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CC63F1-57CC-4137-A677-ACBB2B82C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8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6B6DB-DCC8-45AD-B02D-99345E50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1D5310-75AD-49CA-AE5A-832B099E7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A5238C-DF28-45EC-8114-CAE6C590F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804FE6-4335-4685-8520-0123F1DAC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711BE1-8C1C-4B87-A31B-AF32F46C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5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71071-22D1-40D5-AC2F-02166B7B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AD2F3-90A9-41F3-8D28-EB222EC0A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4E7A11-92E9-4E70-8067-631CB4D85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BE093F-CABC-4FFA-B623-CA4982C78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3A1304-75C3-4798-8BF8-0814E982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C77E5F-47FE-4D0E-BC5F-45CFEBBC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62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9DA49-4D07-4641-B9A8-8CF3AECF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52B045-DC68-4F9D-8B37-DE72D2F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E96093-CFB2-43C0-B643-32EE43B51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CB47D7-3E0F-4C92-9E41-E8A6FFA01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96F2C4-FC14-49F8-901D-B4EA91542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DD5050-7B15-4742-8499-E2E48101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0D79CB-945A-4CB0-B428-A9F7425A9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D2F0A0-3A92-464C-8C82-92DB6AA62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52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A4094-13F1-45D1-A193-0AB88209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A8FB4E-962C-4FCE-8A07-9D09423C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905888-B025-48E9-AD18-1CF5E98B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A42F6F-AA20-4EE2-8B1B-02C22FF2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87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EE699E-710C-4B8A-BBAA-347FFACD2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317192-1AC9-4E02-BEAF-A3E468EC9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62BA88-B088-4E5E-8695-C876F220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855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21769-4D6B-4103-A918-A03E9208C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1406BC-EBF6-467C-A965-64EFE5A5D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252092-1913-4728-A11B-D7D03E76E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503B20-A921-4F6C-B31D-AC5CAF83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2BEEA1-720C-4BAC-A50A-72BA9E901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9297FA-F391-4CA5-9C33-3BD15354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744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2DE07-9AB2-43AA-8455-C21C3526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3E3925-F40B-459D-9573-40C95EF5E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575079-344E-46AA-BBBA-03C3288F3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73ECEF-241A-4DFD-BCB0-064FC2D42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6C0A98-8448-4039-B9BF-0A9FE835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6ED5BB-96F6-4721-A26D-B9A906DB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39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EE872-E1F2-4339-A5C3-0B460DCE3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BC8384-3F82-499E-8A7F-1613B6BD0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58227-816D-4167-AF80-B1A8C8E1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B19E3D-31E3-4FEF-AC9D-9E0AFA21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23548-D28F-4ED6-A047-06671131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476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570212-CA6D-4F44-B21C-F7D464681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483B63-2F52-4E37-AB90-8B3C168CD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3E0E3F-2405-4905-A223-D3132460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E38050-3152-4ED9-AB7E-8E8587FB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05C66-166A-40DA-A9AF-53F625C6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993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900FD67-94A7-4A57-BCC1-C64EFF704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FD5B3D-E4BD-4E5A-BA7B-A4FDB19E7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EF73E7-E175-46B2-B486-005CD0EB1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15719-9B76-4B46-A9A1-7AEBF07C5867}" type="datetimeFigureOut">
              <a:rPr lang="zh-CN" altLang="en-US" smtClean="0"/>
              <a:t>2022/5/31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822C6-17D8-44AB-891D-7B10414C8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B678CA-3C61-417E-B453-B23E9A39F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8C460-984B-446F-893C-843E2CF251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85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BC29C4-411C-4232-B55D-2E27E7FA3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067" y="1122363"/>
            <a:ext cx="10016065" cy="2387600"/>
          </a:xfrm>
        </p:spPr>
        <p:txBody>
          <a:bodyPr/>
          <a:lstStyle/>
          <a:p>
            <a:r>
              <a:rPr lang="en-US" altLang="zh-CN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04 </a:t>
            </a:r>
            <a:r>
              <a:rPr lang="zh-CN" altLang="en-US" b="1" dirty="0"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爱情、婚姻、家庭与健康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8B18A3-E9CD-0E45-6A6F-FA84FB67D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47" y="3604429"/>
            <a:ext cx="10083478" cy="307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16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407833" y="1045105"/>
            <a:ext cx="5376333" cy="1009650"/>
          </a:xfrm>
        </p:spPr>
        <p:txBody>
          <a:bodyPr>
            <a:normAutofit/>
          </a:bodyPr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关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雎 </a:t>
            </a:r>
            <a:b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253066" y="2184399"/>
            <a:ext cx="10100733" cy="3992563"/>
          </a:xfrm>
        </p:spPr>
        <p:txBody>
          <a:bodyPr/>
          <a:lstStyle/>
          <a:p>
            <a:r>
              <a:rPr lang="zh-CN" altLang="zh-CN" dirty="0"/>
              <a:t>关关雎鸠，在河之洲。窈窕淑女，君子好逑。 </a:t>
            </a:r>
            <a:endParaRPr lang="en-US" altLang="zh-CN" dirty="0"/>
          </a:p>
          <a:p>
            <a:r>
              <a:rPr lang="zh-CN" altLang="zh-CN" dirty="0"/>
              <a:t>参差荇菜，左右流之。窈窕淑女，寤寐求之。 </a:t>
            </a:r>
            <a:endParaRPr lang="en-US" altLang="zh-CN" dirty="0"/>
          </a:p>
          <a:p>
            <a:r>
              <a:rPr lang="zh-CN" altLang="zh-CN" dirty="0"/>
              <a:t>求之不得，寤寐思服。悠哉悠哉，辗转反侧。 </a:t>
            </a:r>
            <a:endParaRPr lang="en-US" altLang="zh-CN" dirty="0"/>
          </a:p>
          <a:p>
            <a:r>
              <a:rPr lang="zh-CN" altLang="zh-CN" dirty="0"/>
              <a:t>参差荇菜，左右采之。窈窕淑女，琴瑟友之。</a:t>
            </a:r>
            <a:endParaRPr lang="en-US" altLang="zh-CN" dirty="0"/>
          </a:p>
          <a:p>
            <a:r>
              <a:rPr lang="zh-CN" altLang="zh-CN" dirty="0"/>
              <a:t> 参差荇菜，左右芼之。窈窕淑女，钟鼓乐之。</a:t>
            </a:r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644" y="2827867"/>
            <a:ext cx="3069356" cy="371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418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15533" y="439650"/>
            <a:ext cx="4174067" cy="1325563"/>
          </a:xfrm>
        </p:spPr>
        <p:txBody>
          <a:bodyPr>
            <a:normAutofit/>
          </a:bodyPr>
          <a:lstStyle/>
          <a:p>
            <a:pPr algn="ctr"/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子衿</a:t>
            </a:r>
            <a:r>
              <a:rPr lang="zh-CN" altLang="zh-CN" dirty="0"/>
              <a:t> 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023533" y="2235199"/>
            <a:ext cx="9330267" cy="3941763"/>
          </a:xfrm>
        </p:spPr>
        <p:txBody>
          <a:bodyPr/>
          <a:lstStyle/>
          <a:p>
            <a:r>
              <a:rPr lang="zh-CN" altLang="zh-CN" sz="2400" dirty="0"/>
              <a:t>青青子衿，悠悠我心。</a:t>
            </a:r>
            <a:endParaRPr lang="en-US" altLang="zh-CN" sz="2400" dirty="0"/>
          </a:p>
          <a:p>
            <a:r>
              <a:rPr lang="zh-CN" altLang="zh-CN" sz="2400" dirty="0"/>
              <a:t>纵我不往，子宁不嗣音</a:t>
            </a:r>
            <a:r>
              <a:rPr lang="en-US" altLang="zh-CN" sz="2400" dirty="0"/>
              <a:t>? </a:t>
            </a:r>
          </a:p>
          <a:p>
            <a:r>
              <a:rPr lang="zh-CN" altLang="zh-CN" sz="2400" dirty="0"/>
              <a:t>青青子佩，悠悠我思。</a:t>
            </a:r>
            <a:endParaRPr lang="en-US" altLang="zh-CN" sz="2400" dirty="0"/>
          </a:p>
          <a:p>
            <a:r>
              <a:rPr lang="zh-CN" altLang="zh-CN" sz="2400" dirty="0"/>
              <a:t>纵我不往，子宁不来</a:t>
            </a:r>
            <a:r>
              <a:rPr lang="en-US" altLang="zh-CN" sz="2400" dirty="0"/>
              <a:t>? </a:t>
            </a:r>
          </a:p>
          <a:p>
            <a:r>
              <a:rPr lang="zh-CN" altLang="zh-CN" sz="2400" dirty="0"/>
              <a:t>挑兮达兮，在城阙兮。</a:t>
            </a:r>
            <a:endParaRPr lang="en-US" altLang="zh-CN" sz="2400" dirty="0"/>
          </a:p>
          <a:p>
            <a:r>
              <a:rPr lang="zh-CN" altLang="zh-CN" sz="2400" dirty="0"/>
              <a:t>一日不见，如三月兮。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533" y="1515532"/>
            <a:ext cx="2820909" cy="405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073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击鼓</a:t>
            </a:r>
            <a:r>
              <a:rPr lang="zh-CN" altLang="zh-CN" sz="4000" dirty="0"/>
              <a:t> 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836332" y="1825625"/>
            <a:ext cx="85174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击鼓其镗，踊跃用兵。土国城漕，我独南行。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从孙子仲，平陈与宋。不我以归，忧心有忡。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爰居爰处？爰丧其马？于以求之？于林之下。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死生契阔，与子成说。执子之手，与子偕老。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于嗟阔兮，不我活兮。于嗟洵兮，不我信兮</a:t>
            </a:r>
            <a:r>
              <a:rPr lang="zh-CN" altLang="en-US" sz="2400" dirty="0"/>
              <a:t>。</a:t>
            </a: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4653136"/>
            <a:ext cx="7776864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788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爱情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59466" y="1849700"/>
            <a:ext cx="10033000" cy="4351338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爱情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男女之间相互倾慕、渴望对方成为自己终身伴侣的一种真挚、专一的感情。</a:t>
            </a:r>
          </a:p>
          <a:p>
            <a:r>
              <a:rPr lang="zh-CN" altLang="en-US" sz="2400" b="1" dirty="0"/>
              <a:t>恋爱：是指两性之间感情萌芽到爱情形成的过程。</a:t>
            </a:r>
          </a:p>
          <a:p>
            <a:r>
              <a:rPr lang="zh-CN" altLang="en-US" sz="2400" b="1" dirty="0"/>
              <a:t>爱情是恋爱的结果。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r>
              <a:rPr lang="en-US" altLang="zh-CN" sz="2400" dirty="0"/>
              <a:t>Love is love!</a:t>
            </a:r>
          </a:p>
          <a:p>
            <a:endParaRPr lang="zh-CN" altLang="en-US" dirty="0"/>
          </a:p>
        </p:txBody>
      </p:sp>
      <p:pic>
        <p:nvPicPr>
          <p:cNvPr id="35842" name="Picture 2" descr="F:\课件图片\花草4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901" y="3288769"/>
            <a:ext cx="3536580" cy="236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844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爱情的特征：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89666" y="2031999"/>
            <a:ext cx="9364133" cy="4144963"/>
          </a:xfrm>
        </p:spPr>
        <p:txBody>
          <a:bodyPr/>
          <a:lstStyle/>
          <a:p>
            <a:r>
              <a:rPr lang="en-US" altLang="zh-CN" sz="2000" dirty="0"/>
              <a:t>1</a:t>
            </a:r>
            <a:r>
              <a:rPr lang="zh-CN" altLang="zh-CN" sz="2000" dirty="0"/>
              <a:t>）异性恋</a:t>
            </a:r>
          </a:p>
          <a:p>
            <a:r>
              <a:rPr lang="en-US" altLang="zh-CN" sz="2000" dirty="0"/>
              <a:t>2</a:t>
            </a:r>
            <a:r>
              <a:rPr lang="zh-CN" altLang="zh-CN" sz="2000" dirty="0"/>
              <a:t>）双向性</a:t>
            </a:r>
          </a:p>
          <a:p>
            <a:r>
              <a:rPr lang="en-US" altLang="zh-CN" sz="2000" dirty="0"/>
              <a:t>3</a:t>
            </a:r>
            <a:r>
              <a:rPr lang="zh-CN" altLang="zh-CN" sz="2000" dirty="0"/>
              <a:t>）倾慕性</a:t>
            </a:r>
          </a:p>
          <a:p>
            <a:r>
              <a:rPr lang="en-US" altLang="zh-CN" sz="2000" dirty="0"/>
              <a:t>4</a:t>
            </a:r>
            <a:r>
              <a:rPr lang="zh-CN" altLang="zh-CN" sz="2000" dirty="0"/>
              <a:t>）真诚情感</a:t>
            </a:r>
          </a:p>
          <a:p>
            <a:r>
              <a:rPr lang="en-US" altLang="zh-CN" sz="2000" dirty="0"/>
              <a:t>5</a:t>
            </a:r>
            <a:r>
              <a:rPr lang="zh-CN" altLang="zh-CN" sz="2000" dirty="0"/>
              <a:t>）婚姻指向性</a:t>
            </a:r>
          </a:p>
          <a:p>
            <a:endParaRPr lang="zh-CN" alt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945" y="2435010"/>
            <a:ext cx="3457865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020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爱情简史：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文化价值：</a:t>
            </a:r>
            <a:r>
              <a:rPr lang="zh-CN" altLang="en-US" sz="2400" dirty="0"/>
              <a:t>爱情是值得拥有的还是可有可无的情感体验？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性欲：</a:t>
            </a:r>
            <a:r>
              <a:rPr lang="zh-CN" altLang="en-US" sz="2400" dirty="0"/>
              <a:t>爱情应该有性行为还是与性无关？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性取向：</a:t>
            </a:r>
            <a:r>
              <a:rPr lang="zh-CN" altLang="en-US" sz="2400" dirty="0"/>
              <a:t>异性之间和同性之间都能相爱吗？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婚姻状况：</a:t>
            </a:r>
            <a:r>
              <a:rPr lang="zh-CN" altLang="en-US" sz="2400" dirty="0"/>
              <a:t>爱情只专属于婚姻，还是可以保留给第三者？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486600-ED7A-1AFE-2448-3E04A466B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777" y="4121269"/>
            <a:ext cx="3750356" cy="24996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爱情观点：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16666" y="1825625"/>
            <a:ext cx="9237133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爱情是一种疯狂；</a:t>
            </a:r>
            <a:endParaRPr lang="en-US" altLang="zh-CN" sz="2400" dirty="0"/>
          </a:p>
          <a:p>
            <a:r>
              <a:rPr lang="zh-CN" altLang="en-US" sz="2400" dirty="0"/>
              <a:t>爱情与婚姻几乎没有关系；</a:t>
            </a:r>
            <a:endParaRPr lang="en-US" altLang="zh-CN" sz="2400" dirty="0"/>
          </a:p>
          <a:p>
            <a:r>
              <a:rPr lang="zh-CN" altLang="en-US" sz="2400" dirty="0"/>
              <a:t>最完美的爱情发生于同性之间隔</a:t>
            </a:r>
            <a:endParaRPr lang="en-US" altLang="zh-CN" sz="2400" dirty="0"/>
          </a:p>
          <a:p>
            <a:r>
              <a:rPr lang="zh-CN" altLang="en-US" sz="2400" dirty="0"/>
              <a:t>爱情并不需要有性接触；</a:t>
            </a:r>
            <a:endParaRPr lang="en-US" altLang="zh-CN" sz="2400" dirty="0"/>
          </a:p>
          <a:p>
            <a:r>
              <a:rPr lang="zh-CN" altLang="en-US" sz="2400" dirty="0"/>
              <a:t>爱情是高贵的精神追求；</a:t>
            </a:r>
            <a:endParaRPr lang="en-US" altLang="zh-CN" sz="2400" dirty="0"/>
          </a:p>
          <a:p>
            <a:r>
              <a:rPr lang="zh-CN" altLang="en-US" sz="2400" dirty="0"/>
              <a:t>爱情注定要破灭；</a:t>
            </a:r>
            <a:endParaRPr lang="en-US" altLang="zh-CN" sz="2400" dirty="0"/>
          </a:p>
          <a:p>
            <a:r>
              <a:rPr lang="zh-CN" altLang="en-US" sz="2400" dirty="0"/>
              <a:t>爱情可以是幸福美满的；</a:t>
            </a:r>
            <a:endParaRPr lang="en-US" altLang="zh-CN" sz="2400" dirty="0"/>
          </a:p>
          <a:p>
            <a:r>
              <a:rPr lang="zh-CN" altLang="en-US" sz="2400" dirty="0"/>
              <a:t>爱情和婚姻相伴相随；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1C0BA46-D9A5-8A2E-4459-B765F39D2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253" y="1825625"/>
            <a:ext cx="3841080" cy="3601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爱情的成分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02932" y="1825625"/>
            <a:ext cx="9050867" cy="435133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亲密：热情、理解、沟通、支持与分享等</a:t>
            </a:r>
            <a:endParaRPr lang="en-US" altLang="zh-CN" dirty="0"/>
          </a:p>
          <a:p>
            <a:r>
              <a:rPr lang="zh-CN" altLang="en-US" dirty="0"/>
              <a:t>激情：性的唤醒和欲望，包括强烈情感</a:t>
            </a:r>
            <a:endParaRPr lang="en-US" altLang="zh-CN" dirty="0"/>
          </a:p>
          <a:p>
            <a:r>
              <a:rPr lang="zh-CN" altLang="en-US" dirty="0"/>
              <a:t>忠诚：投身于爱情与维护爱情的决心。（认知）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r>
              <a:rPr lang="zh-CN" alt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                                        </a:t>
            </a:r>
            <a:endParaRPr lang="en-US" altLang="zh-C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r>
              <a:rPr lang="en-US" altLang="zh-CN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           </a:t>
            </a:r>
            <a:r>
              <a:rPr lang="zh-CN" alt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激情                             亲密</a:t>
            </a:r>
            <a:endParaRPr lang="en-US" altLang="zh-C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endParaRPr lang="en-US" altLang="zh-C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endParaRPr lang="en-US" altLang="zh-C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r>
              <a:rPr lang="zh-CN" alt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                               </a:t>
            </a:r>
            <a:endParaRPr lang="en-US" altLang="zh-C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r>
              <a:rPr lang="zh-CN" altLang="en-US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                                忠诚</a:t>
            </a:r>
          </a:p>
        </p:txBody>
      </p:sp>
      <p:sp>
        <p:nvSpPr>
          <p:cNvPr id="4" name="等腰三角形 3"/>
          <p:cNvSpPr/>
          <p:nvPr/>
        </p:nvSpPr>
        <p:spPr>
          <a:xfrm>
            <a:off x="3935760" y="3356992"/>
            <a:ext cx="3240360" cy="201622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37266" y="1825625"/>
            <a:ext cx="9516533" cy="4351338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sz="2400" dirty="0"/>
              <a:t>爱情的成分的不同组合形成不同的爱情类型。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无爱：</a:t>
            </a:r>
            <a:r>
              <a:rPr lang="zh-CN" altLang="en-US" sz="2400" dirty="0"/>
              <a:t>亲密、激情和忠诚都缺失；（爱情不存在，友情也不存在）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喜欢：</a:t>
            </a:r>
            <a:r>
              <a:rPr lang="zh-CN" altLang="en-US" sz="2400" dirty="0"/>
              <a:t>亲密程度高而激情和忠诚度低（存在友情，有亲近与温情，但没有激情）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迷恋：</a:t>
            </a:r>
            <a:r>
              <a:rPr lang="zh-CN" altLang="en-US" sz="2400" dirty="0"/>
              <a:t>缺乏亲密或忠诚，却有着强烈的激情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空爱：</a:t>
            </a:r>
            <a:r>
              <a:rPr lang="zh-CN" altLang="en-US" sz="2400" dirty="0"/>
              <a:t>没有亲密或激情的忠诚</a:t>
            </a:r>
            <a:endParaRPr lang="en-US" altLang="zh-CN" sz="2400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1CE432-D94E-F6C5-9614-A0CB2AB8E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667" y="68198"/>
            <a:ext cx="3158067" cy="17574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7866" y="1981199"/>
            <a:ext cx="9795933" cy="4195763"/>
          </a:xfrm>
        </p:spPr>
        <p:txBody>
          <a:bodyPr/>
          <a:lstStyle/>
          <a:p>
            <a:r>
              <a:rPr lang="zh-CN" altLang="en-US" sz="2400" dirty="0">
                <a:solidFill>
                  <a:srgbClr val="C00000"/>
                </a:solidFill>
              </a:rPr>
              <a:t>浪漫之爱：</a:t>
            </a:r>
            <a:r>
              <a:rPr lang="zh-CN" altLang="en-US" sz="2400" dirty="0"/>
              <a:t>有强烈的亲密和激情，是喜欢与迷恋的组合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相伴之爱：</a:t>
            </a:r>
            <a:r>
              <a:rPr lang="zh-CN" altLang="en-US" sz="2400" dirty="0"/>
              <a:t>亲密与忠诚的结合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愚昧之爱：</a:t>
            </a:r>
            <a:r>
              <a:rPr lang="zh-CN" altLang="en-US" sz="2400" dirty="0"/>
              <a:t>缺失亲密的激情与忠诚</a:t>
            </a:r>
            <a:endParaRPr lang="en-US" altLang="zh-CN" sz="240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完美之爱：</a:t>
            </a:r>
            <a:r>
              <a:rPr lang="zh-CN" altLang="en-US" sz="2400" dirty="0"/>
              <a:t>亲密、激情与忠诚结合</a:t>
            </a:r>
            <a:endParaRPr lang="en-US" altLang="zh-CN" sz="2400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144" y="3570323"/>
            <a:ext cx="2448272" cy="1921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爱情三角理论：爱情关系的类型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063552" y="2276872"/>
          <a:ext cx="7239000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亲密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激情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忠诚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无爱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喜欢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迷恋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空爱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浪漫之爱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相伴之爱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低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愚昧之爱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完美之爱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5BD19BBE-E1D2-4D83-0B04-956AAEF77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368" y="3907368"/>
            <a:ext cx="2053166" cy="20531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活动：爱情拍卖会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27200" y="1930399"/>
            <a:ext cx="9626599" cy="4246563"/>
          </a:xfrm>
        </p:spPr>
        <p:txBody>
          <a:bodyPr>
            <a:normAutofit/>
          </a:bodyPr>
          <a:lstStyle/>
          <a:p>
            <a:r>
              <a:rPr lang="zh-CN" altLang="zh-CN" sz="2400" dirty="0"/>
              <a:t>每个人</a:t>
            </a:r>
            <a:r>
              <a:rPr lang="en-US" altLang="zh-CN" sz="2400" dirty="0"/>
              <a:t>1000</a:t>
            </a:r>
            <a:r>
              <a:rPr lang="zh-CN" altLang="zh-CN" sz="2400" dirty="0"/>
              <a:t>万，</a:t>
            </a:r>
            <a:r>
              <a:rPr lang="en-US" altLang="zh-CN" sz="2400" dirty="0"/>
              <a:t>5</a:t>
            </a:r>
            <a:r>
              <a:rPr lang="zh-CN" altLang="zh-CN" sz="2400" dirty="0"/>
              <a:t>万起价。</a:t>
            </a:r>
            <a:endParaRPr lang="en-US" altLang="zh-CN" sz="2400" dirty="0"/>
          </a:p>
          <a:p>
            <a:r>
              <a:rPr lang="zh-CN" altLang="zh-CN" sz="2400" dirty="0"/>
              <a:t>半个小时，</a:t>
            </a:r>
            <a:r>
              <a:rPr lang="en-US" altLang="zh-CN" sz="2400" dirty="0"/>
              <a:t>20</a:t>
            </a:r>
            <a:r>
              <a:rPr lang="zh-CN" altLang="zh-CN" sz="2400" dirty="0"/>
              <a:t>样拍卖。</a:t>
            </a:r>
            <a:endParaRPr lang="en-US" altLang="zh-CN" sz="2400" dirty="0"/>
          </a:p>
          <a:p>
            <a:r>
              <a:rPr lang="zh-CN" altLang="zh-CN" sz="2400" dirty="0"/>
              <a:t>找人做记录。</a:t>
            </a:r>
          </a:p>
          <a:p>
            <a:r>
              <a:rPr lang="zh-CN" altLang="zh-CN" sz="2400" dirty="0"/>
              <a:t>想象自己</a:t>
            </a:r>
            <a:r>
              <a:rPr lang="en-US" altLang="zh-CN" sz="2400" dirty="0"/>
              <a:t>18</a:t>
            </a:r>
            <a:r>
              <a:rPr lang="zh-CN" altLang="zh-CN" sz="2400" dirty="0"/>
              <a:t>岁。</a:t>
            </a:r>
          </a:p>
        </p:txBody>
      </p:sp>
      <p:pic>
        <p:nvPicPr>
          <p:cNvPr id="4" name="Picture 3" descr="F:\课件图片\花草16.jpg">
            <a:extLst>
              <a:ext uri="{FF2B5EF4-FFF2-40B4-BE49-F238E27FC236}">
                <a16:creationId xmlns:a16="http://schemas.microsoft.com/office/drawing/2014/main" id="{FD245408-F00E-3D69-6127-79E1AED3B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414" y="3429000"/>
            <a:ext cx="3888432" cy="165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爱情拍卖会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981200" y="1700808"/>
          <a:ext cx="7139136" cy="4283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2088"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外貌</a:t>
                      </a:r>
                      <a:r>
                        <a:rPr kumimoji="0"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内涵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责任</a:t>
                      </a:r>
                      <a:r>
                        <a:rPr kumimoji="0"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体贴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理想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忠诚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门当户对</a:t>
                      </a:r>
                      <a:r>
                        <a:rPr kumimoji="0"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性感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良好沟通</a:t>
                      </a:r>
                      <a:r>
                        <a:rPr kumimoji="0"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价值观</a:t>
                      </a:r>
                      <a:r>
                        <a:rPr kumimoji="0"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心心相印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孝顺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才华</a:t>
                      </a:r>
                      <a:r>
                        <a:rPr kumimoji="0"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年轻</a:t>
                      </a:r>
                      <a:r>
                        <a:rPr kumimoji="0"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听话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人品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幽默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真诚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好工作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成绩好 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高帅</a:t>
                      </a:r>
                      <a:endParaRPr kumimoji="0" lang="en-US" altLang="zh-C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白美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匹配目标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爱孩子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包容力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学历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健康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善良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性格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志趣相投</a:t>
                      </a:r>
                      <a:r>
                        <a:rPr kumimoji="0"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信任感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豪宅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名车 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浪漫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甜蜜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激情 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矜持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身材 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专一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厨艺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zh-CN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图形 4" descr="法槌">
            <a:extLst>
              <a:ext uri="{FF2B5EF4-FFF2-40B4-BE49-F238E27FC236}">
                <a16:creationId xmlns:a16="http://schemas.microsoft.com/office/drawing/2014/main" id="{7C21C942-76E1-A299-E69F-88DB021FC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8867" y="570706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总  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0466" y="1295401"/>
            <a:ext cx="8813799" cy="5681132"/>
          </a:xfrm>
        </p:spPr>
        <p:txBody>
          <a:bodyPr>
            <a:normAutofit fontScale="40000" lnSpcReduction="20000"/>
          </a:bodyPr>
          <a:lstStyle/>
          <a:p>
            <a:r>
              <a:rPr lang="zh-CN" altLang="zh-CN" sz="5600" dirty="0"/>
              <a:t>半个小时</a:t>
            </a:r>
          </a:p>
          <a:p>
            <a:r>
              <a:rPr lang="en-US" altLang="zh-CN" sz="5600" dirty="0"/>
              <a:t>REVIEW</a:t>
            </a:r>
            <a:endParaRPr lang="zh-CN" altLang="zh-CN" sz="5600" dirty="0"/>
          </a:p>
          <a:p>
            <a:r>
              <a:rPr lang="zh-CN" altLang="zh-CN" sz="5600" dirty="0"/>
              <a:t>拍卖过程中，性格特点，策略，花钱特点</a:t>
            </a:r>
          </a:p>
          <a:p>
            <a:r>
              <a:rPr lang="zh-CN" altLang="zh-CN" sz="5600" dirty="0"/>
              <a:t>哪个花很多的钱</a:t>
            </a:r>
          </a:p>
          <a:p>
            <a:r>
              <a:rPr lang="zh-CN" altLang="zh-CN" sz="5600" dirty="0"/>
              <a:t>谁买的最多</a:t>
            </a:r>
          </a:p>
          <a:p>
            <a:r>
              <a:rPr lang="zh-CN" altLang="zh-CN" sz="5600" dirty="0"/>
              <a:t>谁买的最少</a:t>
            </a:r>
          </a:p>
          <a:p>
            <a:r>
              <a:rPr lang="zh-CN" altLang="zh-CN" sz="5600" dirty="0"/>
              <a:t>买的最贵的是什么</a:t>
            </a:r>
          </a:p>
          <a:p>
            <a:r>
              <a:rPr lang="zh-CN" altLang="zh-CN" sz="5600" dirty="0"/>
              <a:t>买的东西是你喜欢的吗</a:t>
            </a:r>
          </a:p>
          <a:p>
            <a:r>
              <a:rPr lang="zh-CN" altLang="zh-CN" sz="5600" dirty="0"/>
              <a:t>有没有遗憾</a:t>
            </a:r>
          </a:p>
          <a:p>
            <a:r>
              <a:rPr lang="en-US" altLang="zh-CN" sz="5600" dirty="0"/>
              <a:t>IN</a:t>
            </a:r>
            <a:endParaRPr lang="zh-CN" altLang="zh-CN" sz="5600" dirty="0"/>
          </a:p>
          <a:p>
            <a:r>
              <a:rPr lang="zh-CN" altLang="zh-CN" sz="5600" dirty="0"/>
              <a:t>哪一项包含了很多东西，你买到的 ，哪个最重要？</a:t>
            </a:r>
          </a:p>
          <a:p>
            <a:r>
              <a:rPr lang="en-US" altLang="zh-CN" sz="5600" dirty="0"/>
              <a:t>OUT</a:t>
            </a:r>
            <a:endParaRPr lang="zh-CN" altLang="zh-CN" sz="5600" dirty="0"/>
          </a:p>
          <a:p>
            <a:r>
              <a:rPr lang="zh-CN" altLang="zh-CN" sz="5600" dirty="0"/>
              <a:t>你喜欢的人身上有这些品质吗？</a:t>
            </a:r>
          </a:p>
          <a:p>
            <a:r>
              <a:rPr lang="en-US" altLang="zh-CN" sz="5600" dirty="0"/>
              <a:t>TAKE</a:t>
            </a:r>
            <a:endParaRPr lang="zh-CN" altLang="zh-CN" sz="5600" dirty="0"/>
          </a:p>
          <a:p>
            <a:r>
              <a:rPr lang="zh-CN" altLang="zh-CN" sz="5600" dirty="0"/>
              <a:t>这个活动对你的启发是什么？（积极正向的）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A71384-1AAF-6265-6F77-00108EFE2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466" y="4062602"/>
            <a:ext cx="2709334" cy="2430273"/>
          </a:xfrm>
          <a:prstGeom prst="rect">
            <a:avLst/>
          </a:prstGeom>
        </p:spPr>
      </p:pic>
      <p:pic>
        <p:nvPicPr>
          <p:cNvPr id="7" name="图形 6" descr="法槌">
            <a:extLst>
              <a:ext uri="{FF2B5EF4-FFF2-40B4-BE49-F238E27FC236}">
                <a16:creationId xmlns:a16="http://schemas.microsoft.com/office/drawing/2014/main" id="{BEB1E970-859D-781A-DFDA-F6406BC94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7134" y="150504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3611" y="383374"/>
            <a:ext cx="7239000" cy="1143000"/>
          </a:xfrm>
        </p:spPr>
        <p:txBody>
          <a:bodyPr>
            <a:normAutofit/>
          </a:bodyPr>
          <a:lstStyle/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记录表：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498133"/>
              </p:ext>
            </p:extLst>
          </p:nvPr>
        </p:nvGraphicFramePr>
        <p:xfrm>
          <a:off x="2603612" y="1744134"/>
          <a:ext cx="6696744" cy="3508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78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成员</a:t>
                      </a:r>
                      <a:endParaRPr lang="en-US" altLang="zh-CN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dirty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品质</a:t>
                      </a:r>
                      <a:endParaRPr lang="zh-CN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成员</a:t>
                      </a:r>
                      <a:r>
                        <a:rPr lang="en-US" altLang="zh-CN" dirty="0"/>
                        <a:t>1</a:t>
                      </a:r>
                      <a:endParaRPr lang="zh-CN" altLang="zh-CN" dirty="0"/>
                    </a:p>
                    <a:p>
                      <a:pPr algn="ctr"/>
                      <a:r>
                        <a:rPr lang="zh-CN" altLang="en-US" dirty="0"/>
                        <a:t>（花费）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成员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（花费）</a:t>
                      </a:r>
                      <a:endParaRPr lang="zh-CN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成员</a:t>
                      </a:r>
                      <a:r>
                        <a:rPr lang="en-US" altLang="zh-CN" dirty="0"/>
                        <a:t>3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（花费）</a:t>
                      </a:r>
                      <a:endParaRPr lang="zh-CN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成员</a:t>
                      </a:r>
                      <a:r>
                        <a:rPr lang="en-US" altLang="zh-CN" dirty="0"/>
                        <a:t>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（花费）</a:t>
                      </a:r>
                      <a:endParaRPr lang="zh-CN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成员</a:t>
                      </a:r>
                      <a:r>
                        <a:rPr lang="en-US" altLang="zh-CN" dirty="0"/>
                        <a:t>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（花费）</a:t>
                      </a:r>
                      <a:endParaRPr lang="zh-CN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62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86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86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86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86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6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62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>
            <a:cxnSpLocks/>
          </p:cNvCxnSpPr>
          <p:nvPr/>
        </p:nvCxnSpPr>
        <p:spPr>
          <a:xfrm>
            <a:off x="2667390" y="1993528"/>
            <a:ext cx="676944" cy="5126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99067" y="42439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909237" y="1972877"/>
            <a:ext cx="5444563" cy="4351338"/>
          </a:xfrm>
        </p:spPr>
        <p:txBody>
          <a:bodyPr/>
          <a:lstStyle/>
          <a:p>
            <a:endParaRPr lang="en-US" altLang="zh-CN" sz="2400" dirty="0"/>
          </a:p>
          <a:p>
            <a:r>
              <a:rPr lang="zh-CN" altLang="en-US" dirty="0"/>
              <a:t>爱情与金钱、美貌、才华、性格、德性、家世、教育、地位等因素的关系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案例：撒谎（欺骗）与爱情</a:t>
            </a:r>
          </a:p>
          <a:p>
            <a:endParaRPr lang="zh-CN" altLang="en-US" dirty="0"/>
          </a:p>
        </p:txBody>
      </p:sp>
      <p:pic>
        <p:nvPicPr>
          <p:cNvPr id="39938" name="Picture 2" descr="F:\课件图片\18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67" y="1985505"/>
            <a:ext cx="4665998" cy="322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222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爱情物语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5666" y="1910291"/>
            <a:ext cx="9482667" cy="4351338"/>
          </a:xfrm>
        </p:spPr>
        <p:txBody>
          <a:bodyPr/>
          <a:lstStyle/>
          <a:p>
            <a:r>
              <a:rPr lang="en-US" altLang="zh-CN" sz="3200" dirty="0"/>
              <a:t>1</a:t>
            </a:r>
            <a:r>
              <a:rPr lang="zh-CN" altLang="en-US" sz="3200" dirty="0"/>
              <a:t>　</a:t>
            </a:r>
            <a:r>
              <a:rPr lang="zh-CN" altLang="zh-CN" sz="3200" dirty="0"/>
              <a:t>相信有美好爱情的存在，但不要相信爱情会天长天久</a:t>
            </a:r>
            <a:r>
              <a:rPr lang="zh-CN" altLang="en-US" sz="3200" dirty="0"/>
              <a:t>。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2</a:t>
            </a:r>
            <a:r>
              <a:rPr lang="zh-CN" altLang="en-US" sz="3200" dirty="0"/>
              <a:t>　蛤蟆是可以吃天鹅肉的。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3</a:t>
            </a:r>
            <a:r>
              <a:rPr lang="zh-CN" altLang="en-US" sz="3200" dirty="0"/>
              <a:t>　枝上柳绵吹又少，天涯何处无芳草。</a:t>
            </a:r>
            <a:endParaRPr lang="en-US" altLang="zh-CN" sz="3200" dirty="0"/>
          </a:p>
          <a:p>
            <a:endParaRPr lang="zh-CN" altLang="en-US" sz="4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A8136A-1B3D-21A9-7B96-0ECF8E81C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950" y="4318664"/>
            <a:ext cx="2976234" cy="182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4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爱情秘籍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43879" y="1930400"/>
            <a:ext cx="3722388" cy="4246563"/>
          </a:xfrm>
        </p:spPr>
        <p:txBody>
          <a:bodyPr>
            <a:norm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1 </a:t>
            </a:r>
            <a:r>
              <a:rPr lang="zh-CN" altLang="en-US" sz="2400" dirty="0"/>
              <a:t>坚持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 </a:t>
            </a:r>
            <a:r>
              <a:rPr lang="zh-CN" altLang="en-US" sz="2400" dirty="0"/>
              <a:t>不要脸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3 </a:t>
            </a:r>
            <a:r>
              <a:rPr lang="zh-CN" altLang="en-US" sz="2400" dirty="0"/>
              <a:t>坚持不要脸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061" y="1841211"/>
            <a:ext cx="3722388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2331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47519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婚姻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08200" y="2243241"/>
            <a:ext cx="3987800" cy="3942189"/>
          </a:xfrm>
        </p:spPr>
        <p:txBody>
          <a:bodyPr/>
          <a:lstStyle/>
          <a:p>
            <a:r>
              <a:rPr lang="en-US" altLang="zh-CN" b="1" dirty="0"/>
              <a:t>1 </a:t>
            </a:r>
            <a:r>
              <a:rPr lang="zh-CN" altLang="en-US" b="1" dirty="0"/>
              <a:t>情感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2 </a:t>
            </a:r>
            <a:r>
              <a:rPr lang="zh-CN" altLang="en-US" b="1" dirty="0"/>
              <a:t>经济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3</a:t>
            </a:r>
            <a:r>
              <a:rPr lang="zh-CN" altLang="en-US" b="1" dirty="0"/>
              <a:t>生育与抚养子女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736" y="2243241"/>
            <a:ext cx="3528392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9401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29133-5E14-7D82-273A-EAEA6B48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现代社会对婚姻的传统功能的挑战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AB0F10-CF55-3DD1-FAD9-303D97A75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466" y="1825625"/>
            <a:ext cx="9694333" cy="4351338"/>
          </a:xfrm>
        </p:spPr>
        <p:txBody>
          <a:bodyPr/>
          <a:lstStyle/>
          <a:p>
            <a:r>
              <a:rPr lang="en-US" altLang="zh-CN" sz="2400" b="1" dirty="0"/>
              <a:t>1 </a:t>
            </a:r>
            <a:r>
              <a:rPr lang="zh-CN" altLang="en-US" sz="2400" b="1" dirty="0"/>
              <a:t>情感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2 </a:t>
            </a:r>
            <a:r>
              <a:rPr lang="zh-CN" altLang="en-US" sz="2400" b="1" dirty="0"/>
              <a:t>经济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3</a:t>
            </a:r>
            <a:r>
              <a:rPr lang="zh-CN" altLang="en-US" sz="2400" b="1" dirty="0"/>
              <a:t>生育与抚养子女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B2F510-C310-69B6-5FDF-2E0E24A65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285" y="3293533"/>
            <a:ext cx="3771902" cy="251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41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0C70F-4ADB-0F41-3F04-D2A348E9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人际关系依赖理论中的婚姻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4E5CAC-CDB5-A65A-2BCA-7E81406B7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2000" y="1825625"/>
            <a:ext cx="3987800" cy="4351338"/>
          </a:xfrm>
        </p:spPr>
        <p:txBody>
          <a:bodyPr>
            <a:normAutofit/>
          </a:bodyPr>
          <a:lstStyle/>
          <a:p>
            <a:r>
              <a:rPr lang="zh-CN" altLang="en-US" sz="2600" dirty="0"/>
              <a:t>指标：</a:t>
            </a:r>
            <a:endParaRPr lang="en-US" altLang="zh-CN" sz="2600" dirty="0"/>
          </a:p>
          <a:p>
            <a:r>
              <a:rPr lang="en-US" altLang="zh-CN" sz="2600" dirty="0"/>
              <a:t>1 </a:t>
            </a:r>
            <a:r>
              <a:rPr lang="zh-CN" altLang="en-US" sz="2600" dirty="0"/>
              <a:t>婚姻的奖赏</a:t>
            </a:r>
            <a:endParaRPr lang="en-US" altLang="zh-CN" sz="2600" dirty="0"/>
          </a:p>
          <a:p>
            <a:r>
              <a:rPr lang="en-US" altLang="zh-CN" sz="2600" dirty="0"/>
              <a:t>2 </a:t>
            </a:r>
            <a:r>
              <a:rPr lang="zh-CN" altLang="en-US" sz="2600" dirty="0"/>
              <a:t>婚姻的代价</a:t>
            </a:r>
            <a:endParaRPr lang="en-US" altLang="zh-CN" sz="2600" dirty="0"/>
          </a:p>
          <a:p>
            <a:r>
              <a:rPr lang="en-US" altLang="zh-CN" sz="2600" dirty="0"/>
              <a:t>3 </a:t>
            </a:r>
            <a:r>
              <a:rPr lang="zh-CN" altLang="en-US" sz="2600" dirty="0"/>
              <a:t>结果</a:t>
            </a:r>
            <a:r>
              <a:rPr lang="en-US" altLang="zh-CN" sz="2600" dirty="0"/>
              <a:t>=</a:t>
            </a:r>
            <a:r>
              <a:rPr lang="zh-CN" altLang="en-US" sz="2600" dirty="0"/>
              <a:t>奖赏</a:t>
            </a:r>
            <a:r>
              <a:rPr lang="en-US" altLang="zh-CN" sz="2600" dirty="0"/>
              <a:t>-</a:t>
            </a:r>
            <a:r>
              <a:rPr lang="zh-CN" altLang="en-US" sz="2600" dirty="0"/>
              <a:t>代价</a:t>
            </a:r>
            <a:endParaRPr lang="en-US" altLang="zh-CN" sz="2600" dirty="0"/>
          </a:p>
          <a:p>
            <a:r>
              <a:rPr lang="en-US" altLang="zh-CN" sz="2600" dirty="0"/>
              <a:t>4 </a:t>
            </a:r>
            <a:r>
              <a:rPr lang="zh-CN" altLang="en-US" sz="2600" dirty="0"/>
              <a:t>满意度</a:t>
            </a:r>
            <a:r>
              <a:rPr lang="en-US" altLang="zh-CN" sz="2600" dirty="0"/>
              <a:t>=</a:t>
            </a:r>
            <a:r>
              <a:rPr lang="zh-CN" altLang="en-US" sz="2600" dirty="0"/>
              <a:t>结果</a:t>
            </a:r>
            <a:r>
              <a:rPr lang="en-US" altLang="zh-CN" sz="2600" dirty="0"/>
              <a:t>-CL</a:t>
            </a:r>
          </a:p>
          <a:p>
            <a:r>
              <a:rPr lang="en-US" altLang="zh-CN" sz="2600" dirty="0"/>
              <a:t>5 </a:t>
            </a:r>
            <a:r>
              <a:rPr lang="zh-CN" altLang="en-US" sz="2600" dirty="0"/>
              <a:t>依赖度</a:t>
            </a:r>
            <a:r>
              <a:rPr lang="en-US" altLang="zh-CN" sz="2600" dirty="0"/>
              <a:t>=</a:t>
            </a:r>
            <a:r>
              <a:rPr lang="zh-CN" altLang="en-US" sz="2600" dirty="0"/>
              <a:t>结果</a:t>
            </a:r>
            <a:r>
              <a:rPr lang="en-US" altLang="zh-CN" sz="2600" dirty="0"/>
              <a:t>- </a:t>
            </a:r>
            <a:r>
              <a:rPr lang="en-US" altLang="zh-CN" sz="2600" dirty="0" err="1"/>
              <a:t>CL</a:t>
            </a:r>
            <a:r>
              <a:rPr lang="en-US" altLang="zh-CN" sz="1100" dirty="0" err="1"/>
              <a:t>alt</a:t>
            </a:r>
            <a:endParaRPr lang="zh-CN" altLang="en-US" sz="1100" dirty="0"/>
          </a:p>
          <a:p>
            <a:endParaRPr lang="zh-CN" altLang="en-US" sz="24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4ED592-0E8E-2038-54F2-39D7AD584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0066" y="1825625"/>
            <a:ext cx="4893733" cy="4351338"/>
          </a:xfrm>
        </p:spPr>
        <p:txBody>
          <a:bodyPr>
            <a:normAutofit/>
          </a:bodyPr>
          <a:lstStyle/>
          <a:p>
            <a:r>
              <a:rPr lang="zh-CN" altLang="en-US" sz="2600" dirty="0"/>
              <a:t>评价标准：</a:t>
            </a:r>
            <a:endParaRPr lang="en-US" altLang="zh-CN" sz="2600" dirty="0"/>
          </a:p>
          <a:p>
            <a:endParaRPr lang="en-US" altLang="zh-CN" sz="2600" dirty="0"/>
          </a:p>
          <a:p>
            <a:r>
              <a:rPr lang="en-US" altLang="zh-CN" sz="2600" dirty="0"/>
              <a:t>1 </a:t>
            </a:r>
            <a:r>
              <a:rPr lang="zh-CN" altLang="en-US" sz="2600" dirty="0"/>
              <a:t>婚姻期待值（</a:t>
            </a:r>
            <a:r>
              <a:rPr lang="en-US" altLang="zh-CN" sz="2600" dirty="0"/>
              <a:t>CL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r>
              <a:rPr lang="en-US" altLang="zh-CN" sz="2600" dirty="0"/>
              <a:t>2 </a:t>
            </a:r>
            <a:r>
              <a:rPr lang="zh-CN" altLang="en-US" sz="2600" dirty="0"/>
              <a:t>可替代选择（</a:t>
            </a:r>
            <a:r>
              <a:rPr lang="en-US" altLang="zh-CN" sz="2600" dirty="0" err="1"/>
              <a:t>CL</a:t>
            </a:r>
            <a:r>
              <a:rPr lang="en-US" altLang="zh-CN" sz="1100" dirty="0" err="1"/>
              <a:t>alt</a:t>
            </a:r>
            <a:r>
              <a:rPr lang="zh-CN" altLang="en-US" sz="2600" dirty="0"/>
              <a:t>）</a:t>
            </a:r>
            <a:endParaRPr lang="en-US" altLang="zh-CN" sz="2600" dirty="0"/>
          </a:p>
          <a:p>
            <a:endParaRPr lang="en-US" altLang="zh-CN" sz="1100" dirty="0"/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770477F-D79F-8977-9B36-214830E85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270" y="4001294"/>
            <a:ext cx="3327163" cy="243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6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99AD3-9630-EC6C-C1FB-03E4B2B6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992" y="577438"/>
            <a:ext cx="10515600" cy="112178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婚姻的类型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24BC3-9B85-5A17-0470-AF0EB96C8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7922" y="1876441"/>
            <a:ext cx="3166533" cy="50661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1800" b="1" dirty="0"/>
              <a:t>A1</a:t>
            </a:r>
            <a:r>
              <a:rPr lang="zh-CN" altLang="en-US" sz="1800" b="1" dirty="0"/>
              <a:t>：幸福而稳定的关系</a:t>
            </a:r>
            <a:endParaRPr lang="en-US" altLang="zh-CN" sz="1800" b="1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C9D0AE-AF29-B693-E70C-5F01E2BE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1508" y="1853173"/>
            <a:ext cx="3319494" cy="3222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1900" b="1" dirty="0"/>
              <a:t>A2</a:t>
            </a:r>
            <a:r>
              <a:rPr lang="zh-CN" altLang="en-US" sz="1900" b="1" dirty="0"/>
              <a:t>：幸福而稳定的关系</a:t>
            </a:r>
            <a:endParaRPr lang="en-US" altLang="zh-CN" sz="1900" b="1" dirty="0"/>
          </a:p>
          <a:p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EFA1C2B-9A11-66A0-6C53-D36402DE7D34}"/>
              </a:ext>
            </a:extLst>
          </p:cNvPr>
          <p:cNvCxnSpPr>
            <a:cxnSpLocks/>
          </p:cNvCxnSpPr>
          <p:nvPr/>
        </p:nvCxnSpPr>
        <p:spPr>
          <a:xfrm>
            <a:off x="3080514" y="3013453"/>
            <a:ext cx="35147" cy="261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C582C36-DB5C-0B72-AAE7-49E5CA888A38}"/>
              </a:ext>
            </a:extLst>
          </p:cNvPr>
          <p:cNvCxnSpPr>
            <a:cxnSpLocks/>
          </p:cNvCxnSpPr>
          <p:nvPr/>
        </p:nvCxnSpPr>
        <p:spPr>
          <a:xfrm>
            <a:off x="2815179" y="3013453"/>
            <a:ext cx="4523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690AC7E-230D-CD98-2479-C3079D8263B3}"/>
              </a:ext>
            </a:extLst>
          </p:cNvPr>
          <p:cNvCxnSpPr>
            <a:cxnSpLocks/>
          </p:cNvCxnSpPr>
          <p:nvPr/>
        </p:nvCxnSpPr>
        <p:spPr>
          <a:xfrm>
            <a:off x="2815179" y="3662954"/>
            <a:ext cx="527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9F83B45A-642E-A127-CB1C-EE972B87E3C5}"/>
              </a:ext>
            </a:extLst>
          </p:cNvPr>
          <p:cNvSpPr/>
          <p:nvPr/>
        </p:nvSpPr>
        <p:spPr>
          <a:xfrm>
            <a:off x="2770633" y="4141828"/>
            <a:ext cx="562150" cy="98229"/>
          </a:xfrm>
          <a:custGeom>
            <a:avLst/>
            <a:gdLst>
              <a:gd name="connsiteX0" fmla="*/ 0 w 319871"/>
              <a:gd name="connsiteY0" fmla="*/ 41564 h 114227"/>
              <a:gd name="connsiteX1" fmla="*/ 55418 w 319871"/>
              <a:gd name="connsiteY1" fmla="*/ 110836 h 114227"/>
              <a:gd name="connsiteX2" fmla="*/ 166254 w 319871"/>
              <a:gd name="connsiteY2" fmla="*/ 41564 h 114227"/>
              <a:gd name="connsiteX3" fmla="*/ 193963 w 319871"/>
              <a:gd name="connsiteY3" fmla="*/ 110836 h 114227"/>
              <a:gd name="connsiteX4" fmla="*/ 304800 w 319871"/>
              <a:gd name="connsiteY4" fmla="*/ 0 h 114227"/>
              <a:gd name="connsiteX5" fmla="*/ 318654 w 319871"/>
              <a:gd name="connsiteY5" fmla="*/ 110836 h 114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871" h="114227">
                <a:moveTo>
                  <a:pt x="0" y="41564"/>
                </a:moveTo>
                <a:cubicBezTo>
                  <a:pt x="18473" y="64655"/>
                  <a:pt x="28969" y="97612"/>
                  <a:pt x="55418" y="110836"/>
                </a:cubicBezTo>
                <a:cubicBezTo>
                  <a:pt x="95800" y="131027"/>
                  <a:pt x="152774" y="55044"/>
                  <a:pt x="166254" y="41564"/>
                </a:cubicBezTo>
                <a:cubicBezTo>
                  <a:pt x="175490" y="64655"/>
                  <a:pt x="170142" y="117982"/>
                  <a:pt x="193963" y="110836"/>
                </a:cubicBezTo>
                <a:cubicBezTo>
                  <a:pt x="244008" y="95822"/>
                  <a:pt x="304800" y="0"/>
                  <a:pt x="304800" y="0"/>
                </a:cubicBezTo>
                <a:cubicBezTo>
                  <a:pt x="325956" y="63470"/>
                  <a:pt x="318654" y="26960"/>
                  <a:pt x="318654" y="11083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F17A501-FB25-E09B-39E3-DD9E00CF0112}"/>
              </a:ext>
            </a:extLst>
          </p:cNvPr>
          <p:cNvSpPr txBox="1"/>
          <p:nvPr/>
        </p:nvSpPr>
        <p:spPr>
          <a:xfrm>
            <a:off x="3403095" y="350092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当前结果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0584A5-2C86-A32E-0ED9-001B81D21A3E}"/>
              </a:ext>
            </a:extLst>
          </p:cNvPr>
          <p:cNvSpPr txBox="1"/>
          <p:nvPr/>
        </p:nvSpPr>
        <p:spPr>
          <a:xfrm>
            <a:off x="3381186" y="3998033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CL</a:t>
            </a:r>
            <a:r>
              <a:rPr lang="en-US" altLang="zh-CN" sz="1100" dirty="0" err="1"/>
              <a:t>alt</a:t>
            </a:r>
            <a:endParaRPr lang="zh-CN" altLang="en-US" sz="11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E3376E-63A5-2AB3-ECA7-FAF7EB3E8AD6}"/>
              </a:ext>
            </a:extLst>
          </p:cNvPr>
          <p:cNvSpPr txBox="1"/>
          <p:nvPr/>
        </p:nvSpPr>
        <p:spPr>
          <a:xfrm>
            <a:off x="3451857" y="444602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</a:t>
            </a:r>
            <a:endParaRPr lang="zh-CN" altLang="en-US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2BB8FD-5101-7F60-C86B-42DF56B9C3E0}"/>
              </a:ext>
            </a:extLst>
          </p:cNvPr>
          <p:cNvCxnSpPr>
            <a:cxnSpLocks/>
          </p:cNvCxnSpPr>
          <p:nvPr/>
        </p:nvCxnSpPr>
        <p:spPr>
          <a:xfrm>
            <a:off x="2815179" y="5632688"/>
            <a:ext cx="5660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5A52888-A111-6BEE-9013-877901D4D172}"/>
              </a:ext>
            </a:extLst>
          </p:cNvPr>
          <p:cNvSpPr txBox="1"/>
          <p:nvPr/>
        </p:nvSpPr>
        <p:spPr>
          <a:xfrm>
            <a:off x="2815179" y="261483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A1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91D2CC9-7A5C-10C1-10D8-DD6D6F7F7F8C}"/>
              </a:ext>
            </a:extLst>
          </p:cNvPr>
          <p:cNvSpPr txBox="1"/>
          <p:nvPr/>
        </p:nvSpPr>
        <p:spPr>
          <a:xfrm>
            <a:off x="912384" y="28287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b="1" dirty="0"/>
              <a:t>更好</a:t>
            </a:r>
            <a:endParaRPr lang="en-US" altLang="zh-CN" b="1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75504DD-8D13-A617-D21F-35BF5617B629}"/>
              </a:ext>
            </a:extLst>
          </p:cNvPr>
          <p:cNvCxnSpPr>
            <a:endCxn id="32" idx="2"/>
          </p:cNvCxnSpPr>
          <p:nvPr/>
        </p:nvCxnSpPr>
        <p:spPr>
          <a:xfrm flipV="1">
            <a:off x="1235549" y="3198119"/>
            <a:ext cx="1" cy="411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40461FB-0F31-2DF4-5004-FC03D0DD18AB}"/>
              </a:ext>
            </a:extLst>
          </p:cNvPr>
          <p:cNvSpPr txBox="1"/>
          <p:nvPr/>
        </p:nvSpPr>
        <p:spPr>
          <a:xfrm>
            <a:off x="1072181" y="3596822"/>
            <a:ext cx="415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CN" altLang="en-US" sz="1200" b="1" dirty="0"/>
              <a:t>关系结果质量</a:t>
            </a:r>
            <a:endParaRPr lang="en-US" altLang="zh-CN" sz="1200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3CE8912-09CF-C12C-4DCD-39DF1D243722}"/>
              </a:ext>
            </a:extLst>
          </p:cNvPr>
          <p:cNvSpPr txBox="1"/>
          <p:nvPr/>
        </p:nvSpPr>
        <p:spPr>
          <a:xfrm>
            <a:off x="933163" y="52304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b="1" dirty="0"/>
              <a:t>更糟</a:t>
            </a:r>
            <a:endParaRPr lang="en-US" altLang="zh-CN" b="1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A05E015-1EF3-E5A9-F2BC-5BFAAF9CCA07}"/>
              </a:ext>
            </a:extLst>
          </p:cNvPr>
          <p:cNvCxnSpPr>
            <a:cxnSpLocks/>
          </p:cNvCxnSpPr>
          <p:nvPr/>
        </p:nvCxnSpPr>
        <p:spPr>
          <a:xfrm>
            <a:off x="1256329" y="4797151"/>
            <a:ext cx="0" cy="433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F2263037-70BD-B6F6-D9CC-238F294EA4BD}"/>
              </a:ext>
            </a:extLst>
          </p:cNvPr>
          <p:cNvCxnSpPr>
            <a:cxnSpLocks/>
          </p:cNvCxnSpPr>
          <p:nvPr/>
        </p:nvCxnSpPr>
        <p:spPr>
          <a:xfrm>
            <a:off x="2776167" y="4642115"/>
            <a:ext cx="143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F814CDCD-B1C1-469B-B57F-9E9759F05DCE}"/>
              </a:ext>
            </a:extLst>
          </p:cNvPr>
          <p:cNvCxnSpPr>
            <a:cxnSpLocks/>
          </p:cNvCxnSpPr>
          <p:nvPr/>
        </p:nvCxnSpPr>
        <p:spPr>
          <a:xfrm flipV="1">
            <a:off x="2979824" y="4642115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17D4086F-D182-A869-D22B-066D1ECEA570}"/>
              </a:ext>
            </a:extLst>
          </p:cNvPr>
          <p:cNvCxnSpPr>
            <a:cxnSpLocks/>
          </p:cNvCxnSpPr>
          <p:nvPr/>
        </p:nvCxnSpPr>
        <p:spPr>
          <a:xfrm flipV="1">
            <a:off x="3185218" y="4642115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07EB6C87-E0D2-08EC-5FF4-29A472D4529E}"/>
              </a:ext>
            </a:extLst>
          </p:cNvPr>
          <p:cNvCxnSpPr>
            <a:cxnSpLocks/>
          </p:cNvCxnSpPr>
          <p:nvPr/>
        </p:nvCxnSpPr>
        <p:spPr>
          <a:xfrm>
            <a:off x="6176756" y="2979863"/>
            <a:ext cx="35147" cy="261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C8D5DFB4-A173-3C31-D479-F2290797CC2B}"/>
              </a:ext>
            </a:extLst>
          </p:cNvPr>
          <p:cNvCxnSpPr>
            <a:cxnSpLocks/>
          </p:cNvCxnSpPr>
          <p:nvPr/>
        </p:nvCxnSpPr>
        <p:spPr>
          <a:xfrm>
            <a:off x="5911421" y="2979863"/>
            <a:ext cx="4523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851DCB67-C503-F678-F76A-C45E7C5234E5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5911421" y="3629364"/>
            <a:ext cx="527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861458A4-457C-6C84-974C-23ED875CC2B2}"/>
              </a:ext>
            </a:extLst>
          </p:cNvPr>
          <p:cNvSpPr/>
          <p:nvPr/>
        </p:nvSpPr>
        <p:spPr>
          <a:xfrm>
            <a:off x="5874082" y="4546542"/>
            <a:ext cx="562150" cy="98229"/>
          </a:xfrm>
          <a:custGeom>
            <a:avLst/>
            <a:gdLst>
              <a:gd name="connsiteX0" fmla="*/ 0 w 319871"/>
              <a:gd name="connsiteY0" fmla="*/ 41564 h 114227"/>
              <a:gd name="connsiteX1" fmla="*/ 55418 w 319871"/>
              <a:gd name="connsiteY1" fmla="*/ 110836 h 114227"/>
              <a:gd name="connsiteX2" fmla="*/ 166254 w 319871"/>
              <a:gd name="connsiteY2" fmla="*/ 41564 h 114227"/>
              <a:gd name="connsiteX3" fmla="*/ 193963 w 319871"/>
              <a:gd name="connsiteY3" fmla="*/ 110836 h 114227"/>
              <a:gd name="connsiteX4" fmla="*/ 304800 w 319871"/>
              <a:gd name="connsiteY4" fmla="*/ 0 h 114227"/>
              <a:gd name="connsiteX5" fmla="*/ 318654 w 319871"/>
              <a:gd name="connsiteY5" fmla="*/ 110836 h 114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871" h="114227">
                <a:moveTo>
                  <a:pt x="0" y="41564"/>
                </a:moveTo>
                <a:cubicBezTo>
                  <a:pt x="18473" y="64655"/>
                  <a:pt x="28969" y="97612"/>
                  <a:pt x="55418" y="110836"/>
                </a:cubicBezTo>
                <a:cubicBezTo>
                  <a:pt x="95800" y="131027"/>
                  <a:pt x="152774" y="55044"/>
                  <a:pt x="166254" y="41564"/>
                </a:cubicBezTo>
                <a:cubicBezTo>
                  <a:pt x="175490" y="64655"/>
                  <a:pt x="170142" y="117982"/>
                  <a:pt x="193963" y="110836"/>
                </a:cubicBezTo>
                <a:cubicBezTo>
                  <a:pt x="244008" y="95822"/>
                  <a:pt x="304800" y="0"/>
                  <a:pt x="304800" y="0"/>
                </a:cubicBezTo>
                <a:cubicBezTo>
                  <a:pt x="325956" y="63470"/>
                  <a:pt x="318654" y="26960"/>
                  <a:pt x="318654" y="11083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A51A7B0-5CA8-7949-6EF3-9B5B1F209AAA}"/>
              </a:ext>
            </a:extLst>
          </p:cNvPr>
          <p:cNvSpPr txBox="1"/>
          <p:nvPr/>
        </p:nvSpPr>
        <p:spPr>
          <a:xfrm>
            <a:off x="6438840" y="34446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当前结果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AE6958B-33C1-CEFE-22E3-70F3A48E4191}"/>
              </a:ext>
            </a:extLst>
          </p:cNvPr>
          <p:cNvSpPr txBox="1"/>
          <p:nvPr/>
        </p:nvSpPr>
        <p:spPr>
          <a:xfrm>
            <a:off x="6568607" y="445895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CL</a:t>
            </a:r>
            <a:r>
              <a:rPr lang="en-US" altLang="zh-CN" sz="1100" dirty="0" err="1"/>
              <a:t>alt</a:t>
            </a:r>
            <a:endParaRPr lang="zh-CN" altLang="en-US" sz="11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34881B3-38FC-0ACE-D0D8-FA75314A174E}"/>
              </a:ext>
            </a:extLst>
          </p:cNvPr>
          <p:cNvSpPr txBox="1"/>
          <p:nvPr/>
        </p:nvSpPr>
        <p:spPr>
          <a:xfrm>
            <a:off x="6540041" y="395716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</a:t>
            </a:r>
            <a:endParaRPr lang="zh-CN" altLang="en-US" dirty="0"/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B003937C-FB50-167D-F916-049B8B373992}"/>
              </a:ext>
            </a:extLst>
          </p:cNvPr>
          <p:cNvCxnSpPr>
            <a:cxnSpLocks/>
          </p:cNvCxnSpPr>
          <p:nvPr/>
        </p:nvCxnSpPr>
        <p:spPr>
          <a:xfrm>
            <a:off x="5911421" y="5599098"/>
            <a:ext cx="5660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4651375-A10A-8CD4-1A71-6901066917F7}"/>
              </a:ext>
            </a:extLst>
          </p:cNvPr>
          <p:cNvSpPr txBox="1"/>
          <p:nvPr/>
        </p:nvSpPr>
        <p:spPr>
          <a:xfrm>
            <a:off x="5911421" y="257253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A2</a:t>
            </a:r>
            <a:endParaRPr lang="zh-CN" altLang="en-US" dirty="0"/>
          </a:p>
        </p:txBody>
      </p: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3063B1F0-9945-D5B0-9630-023C4B41CB8E}"/>
              </a:ext>
            </a:extLst>
          </p:cNvPr>
          <p:cNvCxnSpPr>
            <a:cxnSpLocks/>
          </p:cNvCxnSpPr>
          <p:nvPr/>
        </p:nvCxnSpPr>
        <p:spPr>
          <a:xfrm>
            <a:off x="5908798" y="4129341"/>
            <a:ext cx="143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EBA97A8E-57E7-706C-921B-0AE9F58B5E97}"/>
              </a:ext>
            </a:extLst>
          </p:cNvPr>
          <p:cNvCxnSpPr>
            <a:cxnSpLocks/>
          </p:cNvCxnSpPr>
          <p:nvPr/>
        </p:nvCxnSpPr>
        <p:spPr>
          <a:xfrm flipV="1">
            <a:off x="6112455" y="4129341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F8B24516-BA65-3DCC-D213-942972D8DD16}"/>
              </a:ext>
            </a:extLst>
          </p:cNvPr>
          <p:cNvCxnSpPr>
            <a:cxnSpLocks/>
          </p:cNvCxnSpPr>
          <p:nvPr/>
        </p:nvCxnSpPr>
        <p:spPr>
          <a:xfrm flipV="1">
            <a:off x="6317849" y="4129341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内容占位符 2">
            <a:extLst>
              <a:ext uri="{FF2B5EF4-FFF2-40B4-BE49-F238E27FC236}">
                <a16:creationId xmlns:a16="http://schemas.microsoft.com/office/drawing/2014/main" id="{E4832504-5338-4605-A781-35F45A6BAB7F}"/>
              </a:ext>
            </a:extLst>
          </p:cNvPr>
          <p:cNvSpPr txBox="1">
            <a:spLocks/>
          </p:cNvSpPr>
          <p:nvPr/>
        </p:nvSpPr>
        <p:spPr>
          <a:xfrm>
            <a:off x="8187267" y="1825829"/>
            <a:ext cx="3166533" cy="506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1" dirty="0"/>
              <a:t>B</a:t>
            </a:r>
            <a:r>
              <a:rPr lang="zh-CN" altLang="en-US" sz="1800" b="1" dirty="0"/>
              <a:t>：不幸福但稳定的关系</a:t>
            </a:r>
            <a:endParaRPr lang="en-US" altLang="zh-CN" sz="1800" b="1" dirty="0"/>
          </a:p>
        </p:txBody>
      </p: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011AE740-8731-C966-BD83-37DC3DF5D7C7}"/>
              </a:ext>
            </a:extLst>
          </p:cNvPr>
          <p:cNvCxnSpPr>
            <a:cxnSpLocks/>
          </p:cNvCxnSpPr>
          <p:nvPr/>
        </p:nvCxnSpPr>
        <p:spPr>
          <a:xfrm>
            <a:off x="9346658" y="2979863"/>
            <a:ext cx="35147" cy="261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FEE6E030-1407-9C6F-626D-25F97E5AA450}"/>
              </a:ext>
            </a:extLst>
          </p:cNvPr>
          <p:cNvCxnSpPr>
            <a:cxnSpLocks/>
          </p:cNvCxnSpPr>
          <p:nvPr/>
        </p:nvCxnSpPr>
        <p:spPr>
          <a:xfrm>
            <a:off x="9081323" y="2979863"/>
            <a:ext cx="4523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54D09966-3536-B326-18EB-DCAA834769D2}"/>
              </a:ext>
            </a:extLst>
          </p:cNvPr>
          <p:cNvCxnSpPr>
            <a:cxnSpLocks/>
          </p:cNvCxnSpPr>
          <p:nvPr/>
        </p:nvCxnSpPr>
        <p:spPr>
          <a:xfrm>
            <a:off x="9061079" y="3998033"/>
            <a:ext cx="527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C1E37F59-2268-BA6B-20D1-088A17F80257}"/>
              </a:ext>
            </a:extLst>
          </p:cNvPr>
          <p:cNvSpPr/>
          <p:nvPr/>
        </p:nvSpPr>
        <p:spPr>
          <a:xfrm>
            <a:off x="9046592" y="4468884"/>
            <a:ext cx="562150" cy="98229"/>
          </a:xfrm>
          <a:custGeom>
            <a:avLst/>
            <a:gdLst>
              <a:gd name="connsiteX0" fmla="*/ 0 w 319871"/>
              <a:gd name="connsiteY0" fmla="*/ 41564 h 114227"/>
              <a:gd name="connsiteX1" fmla="*/ 55418 w 319871"/>
              <a:gd name="connsiteY1" fmla="*/ 110836 h 114227"/>
              <a:gd name="connsiteX2" fmla="*/ 166254 w 319871"/>
              <a:gd name="connsiteY2" fmla="*/ 41564 h 114227"/>
              <a:gd name="connsiteX3" fmla="*/ 193963 w 319871"/>
              <a:gd name="connsiteY3" fmla="*/ 110836 h 114227"/>
              <a:gd name="connsiteX4" fmla="*/ 304800 w 319871"/>
              <a:gd name="connsiteY4" fmla="*/ 0 h 114227"/>
              <a:gd name="connsiteX5" fmla="*/ 318654 w 319871"/>
              <a:gd name="connsiteY5" fmla="*/ 110836 h 114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871" h="114227">
                <a:moveTo>
                  <a:pt x="0" y="41564"/>
                </a:moveTo>
                <a:cubicBezTo>
                  <a:pt x="18473" y="64655"/>
                  <a:pt x="28969" y="97612"/>
                  <a:pt x="55418" y="110836"/>
                </a:cubicBezTo>
                <a:cubicBezTo>
                  <a:pt x="95800" y="131027"/>
                  <a:pt x="152774" y="55044"/>
                  <a:pt x="166254" y="41564"/>
                </a:cubicBezTo>
                <a:cubicBezTo>
                  <a:pt x="175490" y="64655"/>
                  <a:pt x="170142" y="117982"/>
                  <a:pt x="193963" y="110836"/>
                </a:cubicBezTo>
                <a:cubicBezTo>
                  <a:pt x="244008" y="95822"/>
                  <a:pt x="304800" y="0"/>
                  <a:pt x="304800" y="0"/>
                </a:cubicBezTo>
                <a:cubicBezTo>
                  <a:pt x="325956" y="63470"/>
                  <a:pt x="318654" y="26960"/>
                  <a:pt x="318654" y="11083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8F3C898E-D29A-DCE3-D337-4A171E2E0545}"/>
              </a:ext>
            </a:extLst>
          </p:cNvPr>
          <p:cNvSpPr txBox="1"/>
          <p:nvPr/>
        </p:nvSpPr>
        <p:spPr>
          <a:xfrm>
            <a:off x="9607170" y="38702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当前结果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91609763-45A0-2C6E-D613-85D841653E73}"/>
              </a:ext>
            </a:extLst>
          </p:cNvPr>
          <p:cNvSpPr txBox="1"/>
          <p:nvPr/>
        </p:nvSpPr>
        <p:spPr>
          <a:xfrm>
            <a:off x="9737331" y="4316863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CL</a:t>
            </a:r>
            <a:r>
              <a:rPr lang="en-US" altLang="zh-CN" sz="1100" dirty="0" err="1"/>
              <a:t>alt</a:t>
            </a:r>
            <a:endParaRPr lang="zh-CN" altLang="en-US" sz="11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94F8B230-D4E4-F061-5711-DE80451F5F19}"/>
              </a:ext>
            </a:extLst>
          </p:cNvPr>
          <p:cNvSpPr txBox="1"/>
          <p:nvPr/>
        </p:nvSpPr>
        <p:spPr>
          <a:xfrm>
            <a:off x="9638793" y="33946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</a:t>
            </a:r>
            <a:endParaRPr lang="zh-CN" altLang="en-US" dirty="0"/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82217833-7196-1C55-9095-760E254728A0}"/>
              </a:ext>
            </a:extLst>
          </p:cNvPr>
          <p:cNvCxnSpPr>
            <a:cxnSpLocks/>
          </p:cNvCxnSpPr>
          <p:nvPr/>
        </p:nvCxnSpPr>
        <p:spPr>
          <a:xfrm>
            <a:off x="9081323" y="5599098"/>
            <a:ext cx="5660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39D6FB8-B8A4-6A20-66A1-E96DD2E0EAE2}"/>
              </a:ext>
            </a:extLst>
          </p:cNvPr>
          <p:cNvSpPr txBox="1"/>
          <p:nvPr/>
        </p:nvSpPr>
        <p:spPr>
          <a:xfrm>
            <a:off x="9081323" y="257253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C31E7AAE-B8B2-E744-6AC9-805B1F11F63D}"/>
              </a:ext>
            </a:extLst>
          </p:cNvPr>
          <p:cNvCxnSpPr>
            <a:cxnSpLocks/>
          </p:cNvCxnSpPr>
          <p:nvPr/>
        </p:nvCxnSpPr>
        <p:spPr>
          <a:xfrm>
            <a:off x="9048671" y="3535129"/>
            <a:ext cx="143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C37BC501-5CF5-D4CC-A511-C2C1CB91236A}"/>
              </a:ext>
            </a:extLst>
          </p:cNvPr>
          <p:cNvCxnSpPr>
            <a:cxnSpLocks/>
          </p:cNvCxnSpPr>
          <p:nvPr/>
        </p:nvCxnSpPr>
        <p:spPr>
          <a:xfrm flipV="1">
            <a:off x="9252328" y="3535129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F4298613-6E02-FC48-2A9B-C93416274D40}"/>
              </a:ext>
            </a:extLst>
          </p:cNvPr>
          <p:cNvCxnSpPr>
            <a:cxnSpLocks/>
          </p:cNvCxnSpPr>
          <p:nvPr/>
        </p:nvCxnSpPr>
        <p:spPr>
          <a:xfrm flipV="1">
            <a:off x="9457722" y="3535129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图片 138">
            <a:extLst>
              <a:ext uri="{FF2B5EF4-FFF2-40B4-BE49-F238E27FC236}">
                <a16:creationId xmlns:a16="http://schemas.microsoft.com/office/drawing/2014/main" id="{88061E7B-0A16-9304-CAD3-689E806FD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95" y="92927"/>
            <a:ext cx="8103105" cy="143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8825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99AD3-9630-EC6C-C1FB-03E4B2B6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992" y="577438"/>
            <a:ext cx="10515600" cy="112178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婚姻的类型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24BC3-9B85-5A17-0470-AF0EB96C8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7922" y="1876441"/>
            <a:ext cx="3166533" cy="506614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1800" b="1" dirty="0"/>
              <a:t>C</a:t>
            </a:r>
            <a:r>
              <a:rPr lang="zh-CN" altLang="en-US" sz="1800" b="1" dirty="0"/>
              <a:t>：幸福但不稳定的关系</a:t>
            </a:r>
            <a:endParaRPr lang="en-US" altLang="zh-CN" sz="1800" b="1" dirty="0"/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C9D0AE-AF29-B693-E70C-5F01E2BE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1508" y="1853173"/>
            <a:ext cx="3319494" cy="3222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1900" b="1" dirty="0"/>
              <a:t>D1</a:t>
            </a:r>
            <a:r>
              <a:rPr lang="zh-CN" altLang="en-US" sz="1900" b="1" dirty="0"/>
              <a:t>：不幸福也不稳定的关系</a:t>
            </a:r>
            <a:endParaRPr lang="en-US" altLang="zh-CN" sz="1900" b="1" dirty="0"/>
          </a:p>
          <a:p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EFA1C2B-9A11-66A0-6C53-D36402DE7D34}"/>
              </a:ext>
            </a:extLst>
          </p:cNvPr>
          <p:cNvCxnSpPr>
            <a:cxnSpLocks/>
          </p:cNvCxnSpPr>
          <p:nvPr/>
        </p:nvCxnSpPr>
        <p:spPr>
          <a:xfrm>
            <a:off x="3080514" y="3013453"/>
            <a:ext cx="35147" cy="261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C582C36-DB5C-0B72-AAE7-49E5CA888A38}"/>
              </a:ext>
            </a:extLst>
          </p:cNvPr>
          <p:cNvCxnSpPr>
            <a:cxnSpLocks/>
          </p:cNvCxnSpPr>
          <p:nvPr/>
        </p:nvCxnSpPr>
        <p:spPr>
          <a:xfrm>
            <a:off x="2815179" y="3013453"/>
            <a:ext cx="4523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690AC7E-230D-CD98-2479-C3079D8263B3}"/>
              </a:ext>
            </a:extLst>
          </p:cNvPr>
          <p:cNvCxnSpPr>
            <a:cxnSpLocks/>
          </p:cNvCxnSpPr>
          <p:nvPr/>
        </p:nvCxnSpPr>
        <p:spPr>
          <a:xfrm>
            <a:off x="2792085" y="4182699"/>
            <a:ext cx="527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9F83B45A-642E-A127-CB1C-EE972B87E3C5}"/>
              </a:ext>
            </a:extLst>
          </p:cNvPr>
          <p:cNvSpPr/>
          <p:nvPr/>
        </p:nvSpPr>
        <p:spPr>
          <a:xfrm>
            <a:off x="2738518" y="3615165"/>
            <a:ext cx="562150" cy="98229"/>
          </a:xfrm>
          <a:custGeom>
            <a:avLst/>
            <a:gdLst>
              <a:gd name="connsiteX0" fmla="*/ 0 w 319871"/>
              <a:gd name="connsiteY0" fmla="*/ 41564 h 114227"/>
              <a:gd name="connsiteX1" fmla="*/ 55418 w 319871"/>
              <a:gd name="connsiteY1" fmla="*/ 110836 h 114227"/>
              <a:gd name="connsiteX2" fmla="*/ 166254 w 319871"/>
              <a:gd name="connsiteY2" fmla="*/ 41564 h 114227"/>
              <a:gd name="connsiteX3" fmla="*/ 193963 w 319871"/>
              <a:gd name="connsiteY3" fmla="*/ 110836 h 114227"/>
              <a:gd name="connsiteX4" fmla="*/ 304800 w 319871"/>
              <a:gd name="connsiteY4" fmla="*/ 0 h 114227"/>
              <a:gd name="connsiteX5" fmla="*/ 318654 w 319871"/>
              <a:gd name="connsiteY5" fmla="*/ 110836 h 114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871" h="114227">
                <a:moveTo>
                  <a:pt x="0" y="41564"/>
                </a:moveTo>
                <a:cubicBezTo>
                  <a:pt x="18473" y="64655"/>
                  <a:pt x="28969" y="97612"/>
                  <a:pt x="55418" y="110836"/>
                </a:cubicBezTo>
                <a:cubicBezTo>
                  <a:pt x="95800" y="131027"/>
                  <a:pt x="152774" y="55044"/>
                  <a:pt x="166254" y="41564"/>
                </a:cubicBezTo>
                <a:cubicBezTo>
                  <a:pt x="175490" y="64655"/>
                  <a:pt x="170142" y="117982"/>
                  <a:pt x="193963" y="110836"/>
                </a:cubicBezTo>
                <a:cubicBezTo>
                  <a:pt x="244008" y="95822"/>
                  <a:pt x="304800" y="0"/>
                  <a:pt x="304800" y="0"/>
                </a:cubicBezTo>
                <a:cubicBezTo>
                  <a:pt x="325956" y="63470"/>
                  <a:pt x="318654" y="26960"/>
                  <a:pt x="318654" y="11083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F17A501-FB25-E09B-39E3-DD9E00CF0112}"/>
              </a:ext>
            </a:extLst>
          </p:cNvPr>
          <p:cNvSpPr txBox="1"/>
          <p:nvPr/>
        </p:nvSpPr>
        <p:spPr>
          <a:xfrm>
            <a:off x="3374799" y="39837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当前结果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0584A5-2C86-A32E-0ED9-001B81D21A3E}"/>
              </a:ext>
            </a:extLst>
          </p:cNvPr>
          <p:cNvSpPr txBox="1"/>
          <p:nvPr/>
        </p:nvSpPr>
        <p:spPr>
          <a:xfrm>
            <a:off x="3356258" y="3479613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CL</a:t>
            </a:r>
            <a:r>
              <a:rPr lang="en-US" altLang="zh-CN" sz="1100" dirty="0" err="1"/>
              <a:t>alt</a:t>
            </a:r>
            <a:endParaRPr lang="zh-CN" altLang="en-US" sz="11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1E3376E-63A5-2AB3-ECA7-FAF7EB3E8AD6}"/>
              </a:ext>
            </a:extLst>
          </p:cNvPr>
          <p:cNvSpPr txBox="1"/>
          <p:nvPr/>
        </p:nvSpPr>
        <p:spPr>
          <a:xfrm>
            <a:off x="3429826" y="444004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</a:t>
            </a:r>
            <a:endParaRPr lang="zh-CN" altLang="en-US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22BB8FD-5101-7F60-C86B-42DF56B9C3E0}"/>
              </a:ext>
            </a:extLst>
          </p:cNvPr>
          <p:cNvCxnSpPr>
            <a:cxnSpLocks/>
          </p:cNvCxnSpPr>
          <p:nvPr/>
        </p:nvCxnSpPr>
        <p:spPr>
          <a:xfrm>
            <a:off x="2815179" y="5632688"/>
            <a:ext cx="5660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5A52888-A111-6BEE-9013-877901D4D172}"/>
              </a:ext>
            </a:extLst>
          </p:cNvPr>
          <p:cNvSpPr txBox="1"/>
          <p:nvPr/>
        </p:nvSpPr>
        <p:spPr>
          <a:xfrm>
            <a:off x="2815179" y="261483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91D2CC9-7A5C-10C1-10D8-DD6D6F7F7F8C}"/>
              </a:ext>
            </a:extLst>
          </p:cNvPr>
          <p:cNvSpPr txBox="1"/>
          <p:nvPr/>
        </p:nvSpPr>
        <p:spPr>
          <a:xfrm>
            <a:off x="912384" y="282878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b="1" dirty="0"/>
              <a:t>更好</a:t>
            </a:r>
            <a:endParaRPr lang="en-US" altLang="zh-CN" b="1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75504DD-8D13-A617-D21F-35BF5617B629}"/>
              </a:ext>
            </a:extLst>
          </p:cNvPr>
          <p:cNvCxnSpPr>
            <a:endCxn id="32" idx="2"/>
          </p:cNvCxnSpPr>
          <p:nvPr/>
        </p:nvCxnSpPr>
        <p:spPr>
          <a:xfrm flipV="1">
            <a:off x="1235549" y="3198119"/>
            <a:ext cx="1" cy="411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40461FB-0F31-2DF4-5004-FC03D0DD18AB}"/>
              </a:ext>
            </a:extLst>
          </p:cNvPr>
          <p:cNvSpPr txBox="1"/>
          <p:nvPr/>
        </p:nvSpPr>
        <p:spPr>
          <a:xfrm>
            <a:off x="1072181" y="3596822"/>
            <a:ext cx="415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CN" altLang="en-US" sz="1200" b="1" dirty="0"/>
              <a:t>关系结果质量</a:t>
            </a:r>
            <a:endParaRPr lang="en-US" altLang="zh-CN" sz="1200" b="1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3CE8912-09CF-C12C-4DCD-39DF1D243722}"/>
              </a:ext>
            </a:extLst>
          </p:cNvPr>
          <p:cNvSpPr txBox="1"/>
          <p:nvPr/>
        </p:nvSpPr>
        <p:spPr>
          <a:xfrm>
            <a:off x="933163" y="52304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b="1" dirty="0"/>
              <a:t>更糟</a:t>
            </a:r>
            <a:endParaRPr lang="en-US" altLang="zh-CN" b="1" dirty="0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A05E015-1EF3-E5A9-F2BC-5BFAAF9CCA07}"/>
              </a:ext>
            </a:extLst>
          </p:cNvPr>
          <p:cNvCxnSpPr>
            <a:cxnSpLocks/>
          </p:cNvCxnSpPr>
          <p:nvPr/>
        </p:nvCxnSpPr>
        <p:spPr>
          <a:xfrm>
            <a:off x="1256329" y="4797151"/>
            <a:ext cx="0" cy="433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F2263037-70BD-B6F6-D9CC-238F294EA4BD}"/>
              </a:ext>
            </a:extLst>
          </p:cNvPr>
          <p:cNvCxnSpPr>
            <a:cxnSpLocks/>
          </p:cNvCxnSpPr>
          <p:nvPr/>
        </p:nvCxnSpPr>
        <p:spPr>
          <a:xfrm>
            <a:off x="2776167" y="4642115"/>
            <a:ext cx="143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F814CDCD-B1C1-469B-B57F-9E9759F05DCE}"/>
              </a:ext>
            </a:extLst>
          </p:cNvPr>
          <p:cNvCxnSpPr>
            <a:cxnSpLocks/>
          </p:cNvCxnSpPr>
          <p:nvPr/>
        </p:nvCxnSpPr>
        <p:spPr>
          <a:xfrm flipV="1">
            <a:off x="2979824" y="4642115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17D4086F-D182-A869-D22B-066D1ECEA570}"/>
              </a:ext>
            </a:extLst>
          </p:cNvPr>
          <p:cNvCxnSpPr>
            <a:cxnSpLocks/>
          </p:cNvCxnSpPr>
          <p:nvPr/>
        </p:nvCxnSpPr>
        <p:spPr>
          <a:xfrm flipV="1">
            <a:off x="3185218" y="4642115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07EB6C87-E0D2-08EC-5FF4-29A472D4529E}"/>
              </a:ext>
            </a:extLst>
          </p:cNvPr>
          <p:cNvCxnSpPr>
            <a:cxnSpLocks/>
          </p:cNvCxnSpPr>
          <p:nvPr/>
        </p:nvCxnSpPr>
        <p:spPr>
          <a:xfrm>
            <a:off x="6176756" y="2979863"/>
            <a:ext cx="35147" cy="261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C8D5DFB4-A173-3C31-D479-F2290797CC2B}"/>
              </a:ext>
            </a:extLst>
          </p:cNvPr>
          <p:cNvCxnSpPr>
            <a:cxnSpLocks/>
          </p:cNvCxnSpPr>
          <p:nvPr/>
        </p:nvCxnSpPr>
        <p:spPr>
          <a:xfrm>
            <a:off x="5911421" y="2979863"/>
            <a:ext cx="4523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851DCB67-C503-F678-F76A-C45E7C5234E5}"/>
              </a:ext>
            </a:extLst>
          </p:cNvPr>
          <p:cNvCxnSpPr>
            <a:cxnSpLocks/>
          </p:cNvCxnSpPr>
          <p:nvPr/>
        </p:nvCxnSpPr>
        <p:spPr>
          <a:xfrm>
            <a:off x="5930619" y="4818768"/>
            <a:ext cx="527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861458A4-457C-6C84-974C-23ED875CC2B2}"/>
              </a:ext>
            </a:extLst>
          </p:cNvPr>
          <p:cNvSpPr/>
          <p:nvPr/>
        </p:nvSpPr>
        <p:spPr>
          <a:xfrm>
            <a:off x="5913045" y="3634392"/>
            <a:ext cx="562150" cy="98229"/>
          </a:xfrm>
          <a:custGeom>
            <a:avLst/>
            <a:gdLst>
              <a:gd name="connsiteX0" fmla="*/ 0 w 319871"/>
              <a:gd name="connsiteY0" fmla="*/ 41564 h 114227"/>
              <a:gd name="connsiteX1" fmla="*/ 55418 w 319871"/>
              <a:gd name="connsiteY1" fmla="*/ 110836 h 114227"/>
              <a:gd name="connsiteX2" fmla="*/ 166254 w 319871"/>
              <a:gd name="connsiteY2" fmla="*/ 41564 h 114227"/>
              <a:gd name="connsiteX3" fmla="*/ 193963 w 319871"/>
              <a:gd name="connsiteY3" fmla="*/ 110836 h 114227"/>
              <a:gd name="connsiteX4" fmla="*/ 304800 w 319871"/>
              <a:gd name="connsiteY4" fmla="*/ 0 h 114227"/>
              <a:gd name="connsiteX5" fmla="*/ 318654 w 319871"/>
              <a:gd name="connsiteY5" fmla="*/ 110836 h 114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871" h="114227">
                <a:moveTo>
                  <a:pt x="0" y="41564"/>
                </a:moveTo>
                <a:cubicBezTo>
                  <a:pt x="18473" y="64655"/>
                  <a:pt x="28969" y="97612"/>
                  <a:pt x="55418" y="110836"/>
                </a:cubicBezTo>
                <a:cubicBezTo>
                  <a:pt x="95800" y="131027"/>
                  <a:pt x="152774" y="55044"/>
                  <a:pt x="166254" y="41564"/>
                </a:cubicBezTo>
                <a:cubicBezTo>
                  <a:pt x="175490" y="64655"/>
                  <a:pt x="170142" y="117982"/>
                  <a:pt x="193963" y="110836"/>
                </a:cubicBezTo>
                <a:cubicBezTo>
                  <a:pt x="244008" y="95822"/>
                  <a:pt x="304800" y="0"/>
                  <a:pt x="304800" y="0"/>
                </a:cubicBezTo>
                <a:cubicBezTo>
                  <a:pt x="325956" y="63470"/>
                  <a:pt x="318654" y="26960"/>
                  <a:pt x="318654" y="11083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5A51A7B0-5CA8-7949-6EF3-9B5B1F209AAA}"/>
              </a:ext>
            </a:extLst>
          </p:cNvPr>
          <p:cNvSpPr txBox="1"/>
          <p:nvPr/>
        </p:nvSpPr>
        <p:spPr>
          <a:xfrm>
            <a:off x="6511252" y="46247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当前结果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AE6958B-33C1-CEFE-22E3-70F3A48E4191}"/>
              </a:ext>
            </a:extLst>
          </p:cNvPr>
          <p:cNvSpPr txBox="1"/>
          <p:nvPr/>
        </p:nvSpPr>
        <p:spPr>
          <a:xfrm>
            <a:off x="6607570" y="3546804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CL</a:t>
            </a:r>
            <a:r>
              <a:rPr lang="en-US" altLang="zh-CN" sz="1100" dirty="0" err="1"/>
              <a:t>alt</a:t>
            </a:r>
            <a:endParaRPr lang="zh-CN" altLang="en-US" sz="11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34881B3-38FC-0ACE-D0D8-FA75314A174E}"/>
              </a:ext>
            </a:extLst>
          </p:cNvPr>
          <p:cNvSpPr txBox="1"/>
          <p:nvPr/>
        </p:nvSpPr>
        <p:spPr>
          <a:xfrm>
            <a:off x="6540380" y="402757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</a:t>
            </a:r>
            <a:endParaRPr lang="zh-CN" altLang="en-US" dirty="0"/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B003937C-FB50-167D-F916-049B8B373992}"/>
              </a:ext>
            </a:extLst>
          </p:cNvPr>
          <p:cNvCxnSpPr>
            <a:cxnSpLocks/>
          </p:cNvCxnSpPr>
          <p:nvPr/>
        </p:nvCxnSpPr>
        <p:spPr>
          <a:xfrm>
            <a:off x="5911421" y="5599098"/>
            <a:ext cx="5660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34651375-A10A-8CD4-1A71-6901066917F7}"/>
              </a:ext>
            </a:extLst>
          </p:cNvPr>
          <p:cNvSpPr txBox="1"/>
          <p:nvPr/>
        </p:nvSpPr>
        <p:spPr>
          <a:xfrm>
            <a:off x="5911421" y="257253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D1</a:t>
            </a:r>
            <a:endParaRPr lang="zh-CN" altLang="en-US" dirty="0"/>
          </a:p>
        </p:txBody>
      </p: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3063B1F0-9945-D5B0-9630-023C4B41CB8E}"/>
              </a:ext>
            </a:extLst>
          </p:cNvPr>
          <p:cNvCxnSpPr>
            <a:cxnSpLocks/>
          </p:cNvCxnSpPr>
          <p:nvPr/>
        </p:nvCxnSpPr>
        <p:spPr>
          <a:xfrm>
            <a:off x="5950258" y="4213618"/>
            <a:ext cx="143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EBA97A8E-57E7-706C-921B-0AE9F58B5E97}"/>
              </a:ext>
            </a:extLst>
          </p:cNvPr>
          <p:cNvCxnSpPr>
            <a:cxnSpLocks/>
          </p:cNvCxnSpPr>
          <p:nvPr/>
        </p:nvCxnSpPr>
        <p:spPr>
          <a:xfrm flipV="1">
            <a:off x="6153915" y="4213618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F8B24516-BA65-3DCC-D213-942972D8DD16}"/>
              </a:ext>
            </a:extLst>
          </p:cNvPr>
          <p:cNvCxnSpPr>
            <a:cxnSpLocks/>
          </p:cNvCxnSpPr>
          <p:nvPr/>
        </p:nvCxnSpPr>
        <p:spPr>
          <a:xfrm flipV="1">
            <a:off x="6359309" y="4213618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内容占位符 2">
            <a:extLst>
              <a:ext uri="{FF2B5EF4-FFF2-40B4-BE49-F238E27FC236}">
                <a16:creationId xmlns:a16="http://schemas.microsoft.com/office/drawing/2014/main" id="{E4832504-5338-4605-A781-35F45A6BAB7F}"/>
              </a:ext>
            </a:extLst>
          </p:cNvPr>
          <p:cNvSpPr txBox="1">
            <a:spLocks/>
          </p:cNvSpPr>
          <p:nvPr/>
        </p:nvSpPr>
        <p:spPr>
          <a:xfrm>
            <a:off x="8187267" y="1825829"/>
            <a:ext cx="3166533" cy="5066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1" dirty="0"/>
              <a:t>D2</a:t>
            </a:r>
            <a:r>
              <a:rPr lang="zh-CN" altLang="en-US" sz="1800" b="1" dirty="0"/>
              <a:t>：不幸福也不稳定的关系</a:t>
            </a:r>
            <a:endParaRPr lang="en-US" altLang="zh-CN" sz="1800" b="1" dirty="0"/>
          </a:p>
        </p:txBody>
      </p: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011AE740-8731-C966-BD83-37DC3DF5D7C7}"/>
              </a:ext>
            </a:extLst>
          </p:cNvPr>
          <p:cNvCxnSpPr>
            <a:cxnSpLocks/>
          </p:cNvCxnSpPr>
          <p:nvPr/>
        </p:nvCxnSpPr>
        <p:spPr>
          <a:xfrm>
            <a:off x="9346658" y="2979863"/>
            <a:ext cx="35147" cy="261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FEE6E030-1407-9C6F-626D-25F97E5AA450}"/>
              </a:ext>
            </a:extLst>
          </p:cNvPr>
          <p:cNvCxnSpPr>
            <a:cxnSpLocks/>
          </p:cNvCxnSpPr>
          <p:nvPr/>
        </p:nvCxnSpPr>
        <p:spPr>
          <a:xfrm>
            <a:off x="9081323" y="2979863"/>
            <a:ext cx="4523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54D09966-3536-B326-18EB-DCAA834769D2}"/>
              </a:ext>
            </a:extLst>
          </p:cNvPr>
          <p:cNvCxnSpPr>
            <a:cxnSpLocks/>
            <a:endCxn id="130" idx="1"/>
          </p:cNvCxnSpPr>
          <p:nvPr/>
        </p:nvCxnSpPr>
        <p:spPr>
          <a:xfrm>
            <a:off x="9054665" y="4801900"/>
            <a:ext cx="527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C1E37F59-2268-BA6B-20D1-088A17F80257}"/>
              </a:ext>
            </a:extLst>
          </p:cNvPr>
          <p:cNvSpPr/>
          <p:nvPr/>
        </p:nvSpPr>
        <p:spPr>
          <a:xfrm>
            <a:off x="9034027" y="4147871"/>
            <a:ext cx="562150" cy="98229"/>
          </a:xfrm>
          <a:custGeom>
            <a:avLst/>
            <a:gdLst>
              <a:gd name="connsiteX0" fmla="*/ 0 w 319871"/>
              <a:gd name="connsiteY0" fmla="*/ 41564 h 114227"/>
              <a:gd name="connsiteX1" fmla="*/ 55418 w 319871"/>
              <a:gd name="connsiteY1" fmla="*/ 110836 h 114227"/>
              <a:gd name="connsiteX2" fmla="*/ 166254 w 319871"/>
              <a:gd name="connsiteY2" fmla="*/ 41564 h 114227"/>
              <a:gd name="connsiteX3" fmla="*/ 193963 w 319871"/>
              <a:gd name="connsiteY3" fmla="*/ 110836 h 114227"/>
              <a:gd name="connsiteX4" fmla="*/ 304800 w 319871"/>
              <a:gd name="connsiteY4" fmla="*/ 0 h 114227"/>
              <a:gd name="connsiteX5" fmla="*/ 318654 w 319871"/>
              <a:gd name="connsiteY5" fmla="*/ 110836 h 114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871" h="114227">
                <a:moveTo>
                  <a:pt x="0" y="41564"/>
                </a:moveTo>
                <a:cubicBezTo>
                  <a:pt x="18473" y="64655"/>
                  <a:pt x="28969" y="97612"/>
                  <a:pt x="55418" y="110836"/>
                </a:cubicBezTo>
                <a:cubicBezTo>
                  <a:pt x="95800" y="131027"/>
                  <a:pt x="152774" y="55044"/>
                  <a:pt x="166254" y="41564"/>
                </a:cubicBezTo>
                <a:cubicBezTo>
                  <a:pt x="175490" y="64655"/>
                  <a:pt x="170142" y="117982"/>
                  <a:pt x="193963" y="110836"/>
                </a:cubicBezTo>
                <a:cubicBezTo>
                  <a:pt x="244008" y="95822"/>
                  <a:pt x="304800" y="0"/>
                  <a:pt x="304800" y="0"/>
                </a:cubicBezTo>
                <a:cubicBezTo>
                  <a:pt x="325956" y="63470"/>
                  <a:pt x="318654" y="26960"/>
                  <a:pt x="318654" y="11083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8F3C898E-D29A-DCE3-D337-4A171E2E0545}"/>
              </a:ext>
            </a:extLst>
          </p:cNvPr>
          <p:cNvSpPr txBox="1"/>
          <p:nvPr/>
        </p:nvSpPr>
        <p:spPr>
          <a:xfrm>
            <a:off x="9582084" y="46172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当前结果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91609763-45A0-2C6E-D613-85D841653E73}"/>
              </a:ext>
            </a:extLst>
          </p:cNvPr>
          <p:cNvSpPr txBox="1"/>
          <p:nvPr/>
        </p:nvSpPr>
        <p:spPr>
          <a:xfrm>
            <a:off x="9690507" y="400408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CL</a:t>
            </a:r>
            <a:r>
              <a:rPr lang="en-US" altLang="zh-CN" sz="1100" dirty="0" err="1"/>
              <a:t>alt</a:t>
            </a:r>
            <a:endParaRPr lang="zh-CN" altLang="en-US" sz="1100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94F8B230-D4E4-F061-5711-DE80451F5F19}"/>
              </a:ext>
            </a:extLst>
          </p:cNvPr>
          <p:cNvSpPr txBox="1"/>
          <p:nvPr/>
        </p:nvSpPr>
        <p:spPr>
          <a:xfrm>
            <a:off x="9638793" y="33946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CL</a:t>
            </a:r>
            <a:endParaRPr lang="zh-CN" altLang="en-US" dirty="0"/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82217833-7196-1C55-9095-760E254728A0}"/>
              </a:ext>
            </a:extLst>
          </p:cNvPr>
          <p:cNvCxnSpPr>
            <a:cxnSpLocks/>
          </p:cNvCxnSpPr>
          <p:nvPr/>
        </p:nvCxnSpPr>
        <p:spPr>
          <a:xfrm>
            <a:off x="9081323" y="5599098"/>
            <a:ext cx="5660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39D6FB8-B8A4-6A20-66A1-E96DD2E0EAE2}"/>
              </a:ext>
            </a:extLst>
          </p:cNvPr>
          <p:cNvSpPr txBox="1"/>
          <p:nvPr/>
        </p:nvSpPr>
        <p:spPr>
          <a:xfrm>
            <a:off x="9081323" y="257253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D2</a:t>
            </a:r>
            <a:endParaRPr lang="zh-CN" altLang="en-US" dirty="0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C31E7AAE-B8B2-E744-6AC9-805B1F11F63D}"/>
              </a:ext>
            </a:extLst>
          </p:cNvPr>
          <p:cNvCxnSpPr>
            <a:cxnSpLocks/>
          </p:cNvCxnSpPr>
          <p:nvPr/>
        </p:nvCxnSpPr>
        <p:spPr>
          <a:xfrm>
            <a:off x="9048671" y="3535129"/>
            <a:ext cx="143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C37BC501-5CF5-D4CC-A511-C2C1CB91236A}"/>
              </a:ext>
            </a:extLst>
          </p:cNvPr>
          <p:cNvCxnSpPr>
            <a:cxnSpLocks/>
          </p:cNvCxnSpPr>
          <p:nvPr/>
        </p:nvCxnSpPr>
        <p:spPr>
          <a:xfrm flipV="1">
            <a:off x="9252328" y="3535129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F4298613-6E02-FC48-2A9B-C93416274D40}"/>
              </a:ext>
            </a:extLst>
          </p:cNvPr>
          <p:cNvCxnSpPr>
            <a:cxnSpLocks/>
          </p:cNvCxnSpPr>
          <p:nvPr/>
        </p:nvCxnSpPr>
        <p:spPr>
          <a:xfrm flipV="1">
            <a:off x="9457722" y="3535129"/>
            <a:ext cx="151943" cy="3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A5D3E45E-80C5-94CA-FBF1-BE4F83AC7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97" y="5078024"/>
            <a:ext cx="1664835" cy="1573269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7C5DEE0D-A017-11FE-196C-65E128F77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514" y="234930"/>
            <a:ext cx="8738953" cy="138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1337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4F10C-C83F-DE0B-F069-8CB169EA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势均力敌的婚姻才最长久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2653BE-2B62-551A-AF92-D63877324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1B9845-3318-D327-2295-EC3DED6C7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900" y="2923116"/>
            <a:ext cx="55626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224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574800" y="1825625"/>
            <a:ext cx="9779000" cy="4351338"/>
          </a:xfrm>
        </p:spPr>
        <p:txBody>
          <a:bodyPr/>
          <a:lstStyle/>
          <a:p>
            <a:pPr lvl="1"/>
            <a:r>
              <a:rPr lang="zh-CN" altLang="en-US" sz="3200" dirty="0"/>
              <a:t>婚姻是否需要门当户对？</a:t>
            </a:r>
          </a:p>
          <a:p>
            <a:endParaRPr lang="zh-CN" altLang="en-US" dirty="0"/>
          </a:p>
        </p:txBody>
      </p:sp>
      <p:pic>
        <p:nvPicPr>
          <p:cNvPr id="43010" name="Picture 2" descr="F:\课件图片\吵架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669" y="2514103"/>
            <a:ext cx="4032448" cy="407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312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500592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婚姻、家庭与健康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642533" y="2308225"/>
            <a:ext cx="9304868" cy="4351338"/>
          </a:xfrm>
        </p:spPr>
        <p:txBody>
          <a:bodyPr/>
          <a:lstStyle/>
          <a:p>
            <a:r>
              <a:rPr lang="zh-CN" altLang="en-US" sz="2400" b="1" dirty="0"/>
              <a:t>婚姻与家庭是爱情发展的新阶段。</a:t>
            </a:r>
          </a:p>
          <a:p>
            <a:r>
              <a:rPr lang="zh-CN" altLang="en-US" sz="2400" b="1" dirty="0"/>
              <a:t>取向一致的人生观、价值观，是爱情、婚姻生活幸福的基础，平等、理解、宽容信任是爱情、婚姻生活幸福的必然要求。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r>
              <a:rPr lang="zh-CN" altLang="en-US" sz="2400" dirty="0"/>
              <a:t>爱情与婚姻具有本质区别，爱情基于自愿伦理，而婚姻基于责任伦理。</a:t>
            </a:r>
            <a:endParaRPr lang="en-US" altLang="zh-CN" sz="2400" dirty="0"/>
          </a:p>
          <a:p>
            <a:r>
              <a:rPr lang="zh-CN" altLang="en-US" sz="2400" dirty="0"/>
              <a:t>梁文道：</a:t>
            </a:r>
            <a:r>
              <a:rPr lang="zh-CN" altLang="en-US" sz="2400" dirty="0">
                <a:solidFill>
                  <a:srgbClr val="FF0000"/>
                </a:solidFill>
              </a:rPr>
              <a:t>爱情是迎向他者的冒险。</a:t>
            </a:r>
          </a:p>
          <a:p>
            <a:endParaRPr lang="zh-CN" alt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389" y="4297536"/>
            <a:ext cx="4176464" cy="1940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7108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与时间赛跑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一张纸对折，左右两边</a:t>
            </a:r>
          </a:p>
          <a:p>
            <a:r>
              <a:rPr lang="zh-CN" altLang="zh-CN" sz="2400" dirty="0"/>
              <a:t>左边，画一个园，把最近一周的时间分配画出来，具体到几个小时。吃饭睡觉，工作，学习，家务，和家人在一起，娱乐等</a:t>
            </a:r>
          </a:p>
          <a:p>
            <a:r>
              <a:rPr lang="zh-CN" altLang="zh-CN" sz="2400" dirty="0"/>
              <a:t>右边画，你理想的时间分配。</a:t>
            </a:r>
          </a:p>
          <a:p>
            <a:r>
              <a:rPr lang="en-US" altLang="zh-CN" sz="2400" dirty="0"/>
              <a:t>REVIEW</a:t>
            </a:r>
            <a:endParaRPr lang="zh-CN" altLang="zh-CN" sz="2400" dirty="0"/>
          </a:p>
          <a:p>
            <a:r>
              <a:rPr lang="zh-CN" altLang="zh-CN" sz="2400" dirty="0"/>
              <a:t>轮流向右传看</a:t>
            </a:r>
          </a:p>
          <a:p>
            <a:r>
              <a:rPr lang="zh-CN" altLang="zh-CN" sz="2400" dirty="0"/>
              <a:t>每个人介绍自己的画。用十句话“我</a:t>
            </a:r>
            <a:r>
              <a:rPr lang="en-US" altLang="zh-CN" sz="2400" dirty="0"/>
              <a:t>   </a:t>
            </a:r>
            <a:r>
              <a:rPr lang="zh-CN" altLang="zh-CN" sz="2400" dirty="0"/>
              <a:t>”</a:t>
            </a:r>
          </a:p>
          <a:p>
            <a:r>
              <a:rPr lang="zh-CN" altLang="zh-CN" sz="2400" dirty="0"/>
              <a:t>洗牌，每个人随机抽取一张，用一个词描绘你看到的画面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2EAB7C-90C0-5F3D-B407-48C5E7D82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4356" y="2699250"/>
            <a:ext cx="2500177" cy="321630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生涯水晶球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89667" y="1825625"/>
            <a:ext cx="9364132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10</a:t>
            </a:r>
            <a:r>
              <a:rPr lang="zh-CN" altLang="zh-CN" sz="2400" dirty="0"/>
              <a:t>年后的自己，肯定有所不同。</a:t>
            </a:r>
            <a:r>
              <a:rPr lang="en-US" altLang="zh-CN" sz="2400" dirty="0"/>
              <a:t>10</a:t>
            </a:r>
            <a:r>
              <a:rPr lang="zh-CN" altLang="zh-CN" sz="2400" dirty="0"/>
              <a:t>后，一天上班的生活象什么？沙漠，草原。生涯愿景。用彩色画笔作画。</a:t>
            </a:r>
          </a:p>
          <a:p>
            <a:r>
              <a:rPr lang="en-US" altLang="zh-CN" sz="2400" dirty="0"/>
              <a:t>REVIEW</a:t>
            </a:r>
            <a:endParaRPr lang="zh-CN" altLang="zh-CN" sz="2400" dirty="0"/>
          </a:p>
          <a:p>
            <a:r>
              <a:rPr lang="zh-CN" altLang="zh-CN" sz="2400" dirty="0"/>
              <a:t>用十个“我</a:t>
            </a:r>
            <a:r>
              <a:rPr lang="en-US" altLang="zh-CN" sz="2400" dirty="0"/>
              <a:t>  </a:t>
            </a:r>
            <a:r>
              <a:rPr lang="zh-CN" altLang="zh-CN" sz="2400" dirty="0"/>
              <a:t>”分享你画的画</a:t>
            </a:r>
          </a:p>
          <a:p>
            <a:r>
              <a:rPr lang="zh-CN" altLang="zh-CN" sz="2400" dirty="0"/>
              <a:t>洗牌，每个人抽出一张画，用一个词描述你的感受</a:t>
            </a:r>
          </a:p>
          <a:p>
            <a:r>
              <a:rPr lang="en-US" altLang="zh-CN" sz="2400" dirty="0"/>
              <a:t>IN</a:t>
            </a:r>
            <a:endParaRPr lang="zh-CN" altLang="zh-CN" sz="2400" dirty="0"/>
          </a:p>
          <a:p>
            <a:r>
              <a:rPr lang="en-US" altLang="zh-CN" sz="2400" dirty="0"/>
              <a:t>OUT</a:t>
            </a:r>
            <a:endParaRPr lang="zh-CN" altLang="zh-CN" sz="2400" dirty="0"/>
          </a:p>
          <a:p>
            <a:r>
              <a:rPr lang="en-US" altLang="zh-CN" sz="2400" dirty="0"/>
              <a:t>TAKE</a:t>
            </a:r>
            <a:endParaRPr lang="zh-CN" altLang="zh-CN" sz="2400" dirty="0"/>
          </a:p>
          <a:p>
            <a:r>
              <a:rPr lang="zh-CN" altLang="zh-CN" sz="2400" dirty="0"/>
              <a:t>这个活动给你的启发是什么？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FA0670-6006-3BEE-D4FC-86850C495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533" y="3956416"/>
            <a:ext cx="4047067" cy="235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418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活动：告别祝福</a:t>
            </a:r>
            <a:endParaRPr lang="zh-CN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5515" y="1421161"/>
            <a:ext cx="5400600" cy="5198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281EBB3-2A9E-743E-FB09-FA0457E7B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15" y="2510198"/>
            <a:ext cx="2452044" cy="35024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B2140F-B595-EC14-9344-AA28B4380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288" y="2156603"/>
            <a:ext cx="3237789" cy="385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33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1355</Words>
  <Application>Microsoft Office PowerPoint</Application>
  <PresentationFormat>宽屏</PresentationFormat>
  <Paragraphs>288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等线 Light</vt:lpstr>
      <vt:lpstr>方正粗黑宋简体</vt:lpstr>
      <vt:lpstr>黑体</vt:lpstr>
      <vt:lpstr>Arial</vt:lpstr>
      <vt:lpstr>Office 主题​​</vt:lpstr>
      <vt:lpstr>04 爱情、婚姻、家庭与健康</vt:lpstr>
      <vt:lpstr>关    雎  </vt:lpstr>
      <vt:lpstr>子衿 </vt:lpstr>
      <vt:lpstr>击鼓 </vt:lpstr>
      <vt:lpstr>爱情:</vt:lpstr>
      <vt:lpstr>爱情的特征：</vt:lpstr>
      <vt:lpstr>爱情简史：</vt:lpstr>
      <vt:lpstr>爱情观点：</vt:lpstr>
      <vt:lpstr>爱情的成分</vt:lpstr>
      <vt:lpstr>爱情类型</vt:lpstr>
      <vt:lpstr>爱情类型</vt:lpstr>
      <vt:lpstr>爱情三角理论：爱情关系的类型</vt:lpstr>
      <vt:lpstr>活动：爱情拍卖会</vt:lpstr>
      <vt:lpstr>爱情拍卖会</vt:lpstr>
      <vt:lpstr>总  结</vt:lpstr>
      <vt:lpstr>记录表：</vt:lpstr>
      <vt:lpstr>讨论</vt:lpstr>
      <vt:lpstr>爱情物语</vt:lpstr>
      <vt:lpstr>爱情秘籍</vt:lpstr>
      <vt:lpstr>婚姻的功能：</vt:lpstr>
      <vt:lpstr>现代社会对婚姻的传统功能的挑战</vt:lpstr>
      <vt:lpstr>人际关系依赖理论中的婚姻</vt:lpstr>
      <vt:lpstr>婚姻的类型</vt:lpstr>
      <vt:lpstr>婚姻的类型</vt:lpstr>
      <vt:lpstr>势均力敌的婚姻才最长久</vt:lpstr>
      <vt:lpstr>讨论</vt:lpstr>
      <vt:lpstr>婚姻、家庭与健康</vt:lpstr>
      <vt:lpstr>与时间赛跑</vt:lpstr>
      <vt:lpstr>生涯水晶球</vt:lpstr>
      <vt:lpstr>活动：告别祝福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Doudou</dc:creator>
  <cp:lastModifiedBy>Doudou</cp:lastModifiedBy>
  <cp:revision>8</cp:revision>
  <dcterms:created xsi:type="dcterms:W3CDTF">2020-05-28T10:37:05Z</dcterms:created>
  <dcterms:modified xsi:type="dcterms:W3CDTF">2022-05-31T08:08:05Z</dcterms:modified>
</cp:coreProperties>
</file>